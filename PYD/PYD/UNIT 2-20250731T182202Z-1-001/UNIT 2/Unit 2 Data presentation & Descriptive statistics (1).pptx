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93"/>
  </p:notesMasterIdLst>
  <p:sldIdLst>
    <p:sldId id="256" r:id="rId2"/>
    <p:sldId id="306" r:id="rId3"/>
    <p:sldId id="307" r:id="rId4"/>
    <p:sldId id="302" r:id="rId5"/>
    <p:sldId id="305" r:id="rId6"/>
    <p:sldId id="303" r:id="rId7"/>
    <p:sldId id="304" r:id="rId8"/>
    <p:sldId id="301" r:id="rId9"/>
    <p:sldId id="308" r:id="rId10"/>
    <p:sldId id="294" r:id="rId11"/>
    <p:sldId id="295" r:id="rId12"/>
    <p:sldId id="501" r:id="rId13"/>
    <p:sldId id="502" r:id="rId14"/>
    <p:sldId id="503" r:id="rId15"/>
    <p:sldId id="504" r:id="rId16"/>
    <p:sldId id="505" r:id="rId17"/>
    <p:sldId id="413" r:id="rId18"/>
    <p:sldId id="422" r:id="rId19"/>
    <p:sldId id="423" r:id="rId20"/>
    <p:sldId id="424" r:id="rId21"/>
    <p:sldId id="433" r:id="rId22"/>
    <p:sldId id="434" r:id="rId23"/>
    <p:sldId id="425" r:id="rId24"/>
    <p:sldId id="426" r:id="rId25"/>
    <p:sldId id="435" r:id="rId26"/>
    <p:sldId id="427" r:id="rId27"/>
    <p:sldId id="428" r:id="rId28"/>
    <p:sldId id="429" r:id="rId29"/>
    <p:sldId id="430" r:id="rId30"/>
    <p:sldId id="432" r:id="rId31"/>
    <p:sldId id="431" r:id="rId32"/>
    <p:sldId id="263" r:id="rId33"/>
    <p:sldId id="285" r:id="rId34"/>
    <p:sldId id="506" r:id="rId35"/>
    <p:sldId id="507" r:id="rId36"/>
    <p:sldId id="264" r:id="rId37"/>
    <p:sldId id="322" r:id="rId38"/>
    <p:sldId id="323" r:id="rId39"/>
    <p:sldId id="438" r:id="rId40"/>
    <p:sldId id="439" r:id="rId41"/>
    <p:sldId id="440" r:id="rId42"/>
    <p:sldId id="335" r:id="rId43"/>
    <p:sldId id="336" r:id="rId44"/>
    <p:sldId id="337" r:id="rId45"/>
    <p:sldId id="343" r:id="rId46"/>
    <p:sldId id="344" r:id="rId47"/>
    <p:sldId id="345" r:id="rId48"/>
    <p:sldId id="444" r:id="rId49"/>
    <p:sldId id="346" r:id="rId50"/>
    <p:sldId id="350" r:id="rId51"/>
    <p:sldId id="351" r:id="rId52"/>
    <p:sldId id="352" r:id="rId53"/>
    <p:sldId id="356" r:id="rId54"/>
    <p:sldId id="357" r:id="rId55"/>
    <p:sldId id="361" r:id="rId56"/>
    <p:sldId id="371" r:id="rId57"/>
    <p:sldId id="372" r:id="rId58"/>
    <p:sldId id="373" r:id="rId59"/>
    <p:sldId id="374" r:id="rId60"/>
    <p:sldId id="375" r:id="rId61"/>
    <p:sldId id="376" r:id="rId62"/>
    <p:sldId id="377" r:id="rId63"/>
    <p:sldId id="378" r:id="rId64"/>
    <p:sldId id="379" r:id="rId65"/>
    <p:sldId id="380" r:id="rId66"/>
    <p:sldId id="381" r:id="rId67"/>
    <p:sldId id="382" r:id="rId68"/>
    <p:sldId id="383" r:id="rId69"/>
    <p:sldId id="384" r:id="rId70"/>
    <p:sldId id="385" r:id="rId71"/>
    <p:sldId id="386" r:id="rId72"/>
    <p:sldId id="387" r:id="rId73"/>
    <p:sldId id="445" r:id="rId74"/>
    <p:sldId id="388" r:id="rId75"/>
    <p:sldId id="389" r:id="rId76"/>
    <p:sldId id="391" r:id="rId77"/>
    <p:sldId id="392" r:id="rId78"/>
    <p:sldId id="500" r:id="rId79"/>
    <p:sldId id="393" r:id="rId80"/>
    <p:sldId id="394" r:id="rId81"/>
    <p:sldId id="499" r:id="rId82"/>
    <p:sldId id="395" r:id="rId83"/>
    <p:sldId id="396" r:id="rId84"/>
    <p:sldId id="397" r:id="rId85"/>
    <p:sldId id="398" r:id="rId86"/>
    <p:sldId id="399" r:id="rId87"/>
    <p:sldId id="400" r:id="rId88"/>
    <p:sldId id="401" r:id="rId89"/>
    <p:sldId id="402" r:id="rId90"/>
    <p:sldId id="403" r:id="rId91"/>
    <p:sldId id="448" r:id="rId9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24" autoAdjust="0"/>
  </p:normalViewPr>
  <p:slideViewPr>
    <p:cSldViewPr>
      <p:cViewPr varScale="1">
        <p:scale>
          <a:sx n="67" d="100"/>
          <a:sy n="67" d="100"/>
        </p:scale>
        <p:origin x="138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BCD41C-E102-4A8F-B0AF-466C420069FF}" type="datetimeFigureOut">
              <a:rPr lang="en-US" smtClean="0"/>
              <a:pPr/>
              <a:t>7/29/2024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5ECCDC-E13E-4F11-9E51-365157B7C10F}" type="slidenum">
              <a:rPr lang="en-US" smtClean="0"/>
              <a:pPr/>
              <a:t>‹#›</a:t>
            </a:fld>
            <a:endParaRPr lang="en-US"/>
          </a:p>
        </p:txBody>
      </p:sp>
    </p:spTree>
    <p:extLst>
      <p:ext uri="{BB962C8B-B14F-4D97-AF65-F5344CB8AC3E}">
        <p14:creationId xmlns:p14="http://schemas.microsoft.com/office/powerpoint/2010/main" val="3222759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7491D511-BECC-4680-B463-CC0BB435A566}" type="datetimeFigureOut">
              <a:rPr lang="en-US" smtClean="0"/>
              <a:pPr/>
              <a:t>7/29/2024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1D462731-04E8-4F7E-8F8B-CA1E2BB0D2C2}"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7491D511-BECC-4680-B463-CC0BB435A566}" type="datetimeFigureOut">
              <a:rPr lang="en-US" smtClean="0"/>
              <a:pPr/>
              <a:t>7/29/2024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1D462731-04E8-4F7E-8F8B-CA1E2BB0D2C2}"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491D511-BECC-4680-B463-CC0BB435A566}" type="datetimeFigureOut">
              <a:rPr lang="en-US" smtClean="0"/>
              <a:pPr/>
              <a:t>7/29/2024</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1D462731-04E8-4F7E-8F8B-CA1E2BB0D2C2}"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7491D511-BECC-4680-B463-CC0BB435A566}" type="datetimeFigureOut">
              <a:rPr lang="en-US" smtClean="0"/>
              <a:pPr/>
              <a:t>7/29/2024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462731-04E8-4F7E-8F8B-CA1E2BB0D2C2}"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7491D511-BECC-4680-B463-CC0BB435A566}" type="datetimeFigureOut">
              <a:rPr lang="en-US" smtClean="0"/>
              <a:pPr/>
              <a:t>7/29/2024</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1D462731-04E8-4F7E-8F8B-CA1E2BB0D2C2}"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491D511-BECC-4680-B463-CC0BB435A566}" type="datetimeFigureOut">
              <a:rPr lang="en-US" smtClean="0"/>
              <a:pPr/>
              <a:t>7/29/2024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1D462731-04E8-4F7E-8F8B-CA1E2BB0D2C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7491D511-BECC-4680-B463-CC0BB435A566}" type="datetimeFigureOut">
              <a:rPr lang="en-US" smtClean="0"/>
              <a:pPr/>
              <a:t>7/29/2024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1D462731-04E8-4F7E-8F8B-CA1E2BB0D2C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1D462731-04E8-4F7E-8F8B-CA1E2BB0D2C2}"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7491D511-BECC-4680-B463-CC0BB435A566}" type="datetimeFigureOut">
              <a:rPr lang="en-US" smtClean="0"/>
              <a:pPr/>
              <a:t>7/29/2024</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1D462731-04E8-4F7E-8F8B-CA1E2BB0D2C2}"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7491D511-BECC-4680-B463-CC0BB435A566}" type="datetimeFigureOut">
              <a:rPr lang="en-US" smtClean="0"/>
              <a:pPr/>
              <a:t>7/29/2024</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91D511-BECC-4680-B463-CC0BB435A566}" type="datetimeFigureOut">
              <a:rPr lang="en-US" smtClean="0"/>
              <a:pPr/>
              <a:t>7/29/2024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462731-04E8-4F7E-8F8B-CA1E2BB0D2C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1D462731-04E8-4F7E-8F8B-CA1E2BB0D2C2}"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91D511-BECC-4680-B463-CC0BB435A566}" type="datetimeFigureOut">
              <a:rPr lang="en-US" smtClean="0"/>
              <a:pPr/>
              <a:t>7/29/2024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491D511-BECC-4680-B463-CC0BB435A566}" type="datetimeFigureOut">
              <a:rPr lang="en-US" smtClean="0"/>
              <a:pPr/>
              <a:t>7/29/2024</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1D462731-04E8-4F7E-8F8B-CA1E2BB0D2C2}"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7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2800" dirty="0"/>
              <a:t>Unit 2 </a:t>
            </a:r>
          </a:p>
        </p:txBody>
      </p:sp>
      <p:sp>
        <p:nvSpPr>
          <p:cNvPr id="2" name="Title 1"/>
          <p:cNvSpPr>
            <a:spLocks noGrp="1"/>
          </p:cNvSpPr>
          <p:nvPr>
            <p:ph type="ctrTitle"/>
          </p:nvPr>
        </p:nvSpPr>
        <p:spPr>
          <a:xfrm>
            <a:off x="685800" y="381000"/>
            <a:ext cx="7772400" cy="1905000"/>
          </a:xfrm>
        </p:spPr>
        <p:txBody>
          <a:bodyPr>
            <a:normAutofit fontScale="90000"/>
          </a:bodyPr>
          <a:lstStyle/>
          <a:p>
            <a:r>
              <a:rPr lang="en-US" dirty="0"/>
              <a:t>Collection, Presentation of Data, and Descriptive Statistics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a:t>
            </a:r>
          </a:p>
        </p:txBody>
      </p:sp>
      <p:sp>
        <p:nvSpPr>
          <p:cNvPr id="3" name="Content Placeholder 2"/>
          <p:cNvSpPr>
            <a:spLocks noGrp="1"/>
          </p:cNvSpPr>
          <p:nvPr>
            <p:ph sz="quarter" idx="1"/>
          </p:nvPr>
        </p:nvSpPr>
        <p:spPr/>
        <p:txBody>
          <a:bodyPr>
            <a:normAutofit/>
          </a:bodyPr>
          <a:lstStyle/>
          <a:p>
            <a:pPr algn="just"/>
            <a:r>
              <a:rPr lang="en-US" dirty="0"/>
              <a:t>Data is a collection of facts such as values, observations or measurements. </a:t>
            </a:r>
          </a:p>
          <a:p>
            <a:pPr algn="just"/>
            <a:r>
              <a:rPr lang="en-US" dirty="0"/>
              <a:t>It can be numbers, words, measurements, observations, or even just descriptions of things.</a:t>
            </a:r>
          </a:p>
          <a:p>
            <a:pPr algn="just"/>
            <a:r>
              <a:rPr lang="en-US" dirty="0"/>
              <a:t>Basically, data are of two types: constant and variable.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Constant data</a:t>
            </a:r>
          </a:p>
        </p:txBody>
      </p:sp>
      <p:sp>
        <p:nvSpPr>
          <p:cNvPr id="3" name="Content Placeholder 2"/>
          <p:cNvSpPr>
            <a:spLocks noGrp="1"/>
          </p:cNvSpPr>
          <p:nvPr>
            <p:ph sz="quarter" idx="1"/>
          </p:nvPr>
        </p:nvSpPr>
        <p:spPr/>
        <p:txBody>
          <a:bodyPr/>
          <a:lstStyle/>
          <a:p>
            <a:pPr algn="just"/>
            <a:r>
              <a:rPr lang="en-US" dirty="0"/>
              <a:t>Constant is a situation/value that does not change. </a:t>
            </a:r>
          </a:p>
          <a:p>
            <a:pPr algn="just"/>
            <a:r>
              <a:rPr lang="en-US" dirty="0"/>
              <a:t>Examples: Days of week, months of the year, days in a months, multiplication of 2 numbers, total alphabets, hours in a days, atomic number of elements in periodic table, spelling of numbers or digits, multiplication table, chemical formula of water, equation to find average of n numbers, sin series, </a:t>
            </a:r>
            <a:r>
              <a:rPr lang="en-US" dirty="0" err="1"/>
              <a:t>cos</a:t>
            </a:r>
            <a:r>
              <a:rPr lang="en-US" dirty="0"/>
              <a:t> series.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Variable data</a:t>
            </a:r>
          </a:p>
        </p:txBody>
      </p:sp>
      <p:sp>
        <p:nvSpPr>
          <p:cNvPr id="3" name="Content Placeholder 2"/>
          <p:cNvSpPr>
            <a:spLocks noGrp="1"/>
          </p:cNvSpPr>
          <p:nvPr>
            <p:ph sz="quarter" idx="1"/>
          </p:nvPr>
        </p:nvSpPr>
        <p:spPr>
          <a:xfrm>
            <a:off x="457200" y="1600200"/>
            <a:ext cx="7848600" cy="4873752"/>
          </a:xfrm>
        </p:spPr>
        <p:txBody>
          <a:bodyPr>
            <a:normAutofit/>
          </a:bodyPr>
          <a:lstStyle/>
          <a:p>
            <a:pPr algn="just"/>
            <a:r>
              <a:rPr lang="en-US" dirty="0"/>
              <a:t>A variable is a characteristic or an attribute that can assume different values in different situations. </a:t>
            </a:r>
          </a:p>
          <a:p>
            <a:pPr algn="just"/>
            <a:r>
              <a:rPr lang="en-US" dirty="0"/>
              <a:t>Example: height, family size, temperature, result, Profit/loss of an entity, job satisfaction, reading habits,  attendance in classroom, GDP, petrol and gold price.</a:t>
            </a:r>
          </a:p>
          <a:p>
            <a:pPr algn="just"/>
            <a:r>
              <a:rPr lang="en-US" dirty="0"/>
              <a:t>Based on the values that variables assume, variables can be classified as qualitative and quantitative.</a:t>
            </a:r>
          </a:p>
          <a:p>
            <a:pPr algn="just">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Qualitative and Quantitative Variable Data</a:t>
            </a:r>
          </a:p>
        </p:txBody>
      </p:sp>
      <p:sp>
        <p:nvSpPr>
          <p:cNvPr id="3" name="Content Placeholder 2"/>
          <p:cNvSpPr>
            <a:spLocks noGrp="1"/>
          </p:cNvSpPr>
          <p:nvPr>
            <p:ph sz="quarter" idx="1"/>
          </p:nvPr>
        </p:nvSpPr>
        <p:spPr/>
        <p:txBody>
          <a:bodyPr>
            <a:normAutofit lnSpcReduction="10000"/>
          </a:bodyPr>
          <a:lstStyle/>
          <a:p>
            <a:pPr algn="just"/>
            <a:r>
              <a:rPr lang="en-US" dirty="0"/>
              <a:t>Qualitative variables are those variables that do not assume numeric values. For example, gender, season, degree, facial expression is qualitative variable. Also known as categorical data.</a:t>
            </a:r>
          </a:p>
          <a:p>
            <a:pPr algn="just"/>
            <a:r>
              <a:rPr lang="en-US" dirty="0"/>
              <a:t>Quantitative variables are, on the other hand, are those variables which assume numeric values. Height, temperature, blood pressure, family size are examples of quantitative variables. Also known as numeric data.</a:t>
            </a:r>
          </a:p>
          <a:p>
            <a:r>
              <a:rPr lang="en-US" dirty="0"/>
              <a:t>Quantitative variables are again classified into: </a:t>
            </a:r>
          </a:p>
          <a:p>
            <a:pPr>
              <a:buNone/>
            </a:pPr>
            <a:r>
              <a:rPr lang="en-US" dirty="0"/>
              <a:t>	discrete and continuous variables. </a:t>
            </a:r>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Discrete Variable Data</a:t>
            </a:r>
          </a:p>
        </p:txBody>
      </p:sp>
      <p:sp>
        <p:nvSpPr>
          <p:cNvPr id="3" name="Content Placeholder 2"/>
          <p:cNvSpPr>
            <a:spLocks noGrp="1"/>
          </p:cNvSpPr>
          <p:nvPr>
            <p:ph sz="quarter" idx="1"/>
          </p:nvPr>
        </p:nvSpPr>
        <p:spPr>
          <a:xfrm>
            <a:off x="457200" y="1600200"/>
            <a:ext cx="8001000" cy="4873752"/>
          </a:xfrm>
        </p:spPr>
        <p:txBody>
          <a:bodyPr>
            <a:normAutofit/>
          </a:bodyPr>
          <a:lstStyle/>
          <a:p>
            <a:pPr algn="just"/>
            <a:r>
              <a:rPr lang="en-US" dirty="0"/>
              <a:t>It assumes whole number values and consist of distinct and recognizable individual elements that can be counted. </a:t>
            </a:r>
          </a:p>
          <a:p>
            <a:pPr algn="just"/>
            <a:r>
              <a:rPr lang="en-US" dirty="0"/>
              <a:t>For example, family size, total admission at college, number of cars at the traffic signal, events organized/attended by faculties, total likes for a tweet, followers on </a:t>
            </a:r>
            <a:r>
              <a:rPr lang="en-US" dirty="0" err="1"/>
              <a:t>instagram</a:t>
            </a:r>
            <a:r>
              <a:rPr lang="en-US" dirty="0"/>
              <a:t>, mails in mailbox.</a:t>
            </a:r>
          </a:p>
          <a:p>
            <a:pPr algn="just"/>
            <a:r>
              <a:rPr lang="en-US" dirty="0"/>
              <a:t> Their values are obtained by counting . </a:t>
            </a:r>
          </a:p>
          <a:p>
            <a:pPr algn="just"/>
            <a:r>
              <a:rPr lang="en-US" dirty="0"/>
              <a:t>The values of these variables are obtained by counting (0, 1, 2,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Continuous Variable Data</a:t>
            </a:r>
          </a:p>
        </p:txBody>
      </p:sp>
      <p:sp>
        <p:nvSpPr>
          <p:cNvPr id="3" name="Content Placeholder 2"/>
          <p:cNvSpPr>
            <a:spLocks noGrp="1"/>
          </p:cNvSpPr>
          <p:nvPr>
            <p:ph sz="quarter" idx="1"/>
          </p:nvPr>
        </p:nvSpPr>
        <p:spPr/>
        <p:txBody>
          <a:bodyPr/>
          <a:lstStyle/>
          <a:p>
            <a:pPr algn="just"/>
            <a:r>
              <a:rPr lang="en-US" dirty="0"/>
              <a:t>It takes any value including decimals.</a:t>
            </a:r>
          </a:p>
          <a:p>
            <a:pPr algn="just"/>
            <a:r>
              <a:rPr lang="en-US" dirty="0"/>
              <a:t>These variables can theoretically assume an infinite number of possible values. </a:t>
            </a:r>
          </a:p>
          <a:p>
            <a:pPr algn="just"/>
            <a:r>
              <a:rPr lang="en-US" dirty="0"/>
              <a:t>Their values are obtained by measuring. </a:t>
            </a:r>
          </a:p>
          <a:p>
            <a:pPr algn="just"/>
            <a:r>
              <a:rPr lang="en-US" dirty="0"/>
              <a:t>Examples of continuous variables are height, weight, time, temperature, distance between objects.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Exercise</a:t>
            </a:r>
          </a:p>
        </p:txBody>
      </p:sp>
      <p:sp>
        <p:nvSpPr>
          <p:cNvPr id="3" name="Content Placeholder 2"/>
          <p:cNvSpPr>
            <a:spLocks noGrp="1"/>
          </p:cNvSpPr>
          <p:nvPr>
            <p:ph sz="quarter" idx="1"/>
          </p:nvPr>
        </p:nvSpPr>
        <p:spPr/>
        <p:txBody>
          <a:bodyPr>
            <a:normAutofit lnSpcReduction="10000"/>
          </a:bodyPr>
          <a:lstStyle/>
          <a:p>
            <a:pPr algn="just"/>
            <a:r>
              <a:rPr lang="en-US" dirty="0"/>
              <a:t>Classify each of the following variables as qualitative and quantitative and if it is quantitative, classify as discrete and continuous.</a:t>
            </a:r>
          </a:p>
          <a:p>
            <a:pPr algn="just"/>
            <a:r>
              <a:rPr lang="en-US" dirty="0"/>
              <a:t>Color of automobiles in a dealer's show room.</a:t>
            </a:r>
          </a:p>
          <a:p>
            <a:pPr algn="just"/>
            <a:r>
              <a:rPr lang="en-US" dirty="0"/>
              <a:t>Number of seats in a movie theater.</a:t>
            </a:r>
          </a:p>
          <a:p>
            <a:pPr algn="just"/>
            <a:r>
              <a:rPr lang="en-US" dirty="0"/>
              <a:t>Classification of patients based on nursing care needed (complete, partial or </a:t>
            </a:r>
            <a:r>
              <a:rPr lang="en-US" dirty="0" err="1"/>
              <a:t>safers</a:t>
            </a:r>
            <a:r>
              <a:rPr lang="en-US" dirty="0"/>
              <a:t>).</a:t>
            </a:r>
          </a:p>
          <a:p>
            <a:pPr algn="just"/>
            <a:r>
              <a:rPr lang="en-US" dirty="0"/>
              <a:t>Number of tomatoes on each plant on a field.</a:t>
            </a:r>
          </a:p>
          <a:p>
            <a:pPr algn="just"/>
            <a:r>
              <a:rPr lang="en-US" dirty="0"/>
              <a:t>Weight of newly born babies.</a:t>
            </a:r>
          </a:p>
          <a:p>
            <a:pPr algn="just"/>
            <a:r>
              <a:rPr lang="en-US" dirty="0"/>
              <a:t>Distance between two tree leaves.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 Analytics </a:t>
            </a:r>
            <a:r>
              <a:rPr lang="en-US" dirty="0" err="1">
                <a:solidFill>
                  <a:srgbClr val="FF0000"/>
                </a:solidFill>
              </a:rPr>
              <a:t>vs</a:t>
            </a:r>
            <a:r>
              <a:rPr lang="en-US" dirty="0">
                <a:solidFill>
                  <a:srgbClr val="FF0000"/>
                </a:solidFill>
              </a:rPr>
              <a:t> Data Analysis</a:t>
            </a:r>
            <a:endParaRPr lang="en-US" dirty="0"/>
          </a:p>
        </p:txBody>
      </p:sp>
      <p:sp>
        <p:nvSpPr>
          <p:cNvPr id="3" name="Content Placeholder 2"/>
          <p:cNvSpPr>
            <a:spLocks noGrp="1"/>
          </p:cNvSpPr>
          <p:nvPr>
            <p:ph sz="quarter" idx="1"/>
          </p:nvPr>
        </p:nvSpPr>
        <p:spPr/>
        <p:txBody>
          <a:bodyPr/>
          <a:lstStyle/>
          <a:p>
            <a:pPr algn="just"/>
            <a:r>
              <a:rPr lang="en-US" dirty="0"/>
              <a:t>Data analysis is a process involving the collection, manipulation, and examination of data for getting a deep insight. </a:t>
            </a:r>
          </a:p>
          <a:p>
            <a:pPr algn="just"/>
            <a:r>
              <a:rPr lang="en-US" dirty="0"/>
              <a:t>Data analytics is taking the analyzed data and working on it in a meaningful and useful way to make well-versed business decisions. </a:t>
            </a:r>
          </a:p>
          <a:p>
            <a:pPr algn="just"/>
            <a:r>
              <a:rPr lang="en-US" dirty="0"/>
              <a:t>Analytics is defined as a process of transforming data into actions through analysis and statistical tool.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 Data Analysis</a:t>
            </a:r>
          </a:p>
        </p:txBody>
      </p:sp>
      <p:sp>
        <p:nvSpPr>
          <p:cNvPr id="3" name="Content Placeholder 2"/>
          <p:cNvSpPr>
            <a:spLocks noGrp="1"/>
          </p:cNvSpPr>
          <p:nvPr>
            <p:ph sz="quarter" idx="1"/>
          </p:nvPr>
        </p:nvSpPr>
        <p:spPr/>
        <p:txBody>
          <a:bodyPr>
            <a:normAutofit/>
          </a:bodyPr>
          <a:lstStyle/>
          <a:p>
            <a:pPr algn="just"/>
            <a:r>
              <a:rPr lang="en-US" dirty="0"/>
              <a:t>It is special form of data analytics.</a:t>
            </a:r>
          </a:p>
          <a:p>
            <a:pPr algn="just"/>
            <a:r>
              <a:rPr lang="en-US" dirty="0"/>
              <a:t>Its an approach to analyze or explore  the data set to maximize insight into dataset, know the hidden pattern, uncover underlying structure, distribution of data, relationship between features, selecting appropriate model, detect outliers or anomalies,  for further analysis.</a:t>
            </a:r>
          </a:p>
          <a:p>
            <a:pPr algn="just"/>
            <a:r>
              <a:rPr lang="en-US" dirty="0"/>
              <a:t>Various applications are retail, health care, education, electronic media, election poll, entertainment, economy and stocks.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 Presentation</a:t>
            </a:r>
          </a:p>
        </p:txBody>
      </p:sp>
      <p:sp>
        <p:nvSpPr>
          <p:cNvPr id="3" name="Content Placeholder 2"/>
          <p:cNvSpPr>
            <a:spLocks noGrp="1"/>
          </p:cNvSpPr>
          <p:nvPr>
            <p:ph sz="quarter" idx="1"/>
          </p:nvPr>
        </p:nvSpPr>
        <p:spPr/>
        <p:txBody>
          <a:bodyPr/>
          <a:lstStyle/>
          <a:p>
            <a:r>
              <a:rPr lang="en-US" dirty="0"/>
              <a:t>Two ways to represent the results of exploratory data analysis:</a:t>
            </a:r>
          </a:p>
          <a:p>
            <a:r>
              <a:rPr lang="en-US" dirty="0"/>
              <a:t>Statistics (non-graphical)</a:t>
            </a:r>
          </a:p>
          <a:p>
            <a:r>
              <a:rPr lang="en-US" dirty="0"/>
              <a:t>Visualization (graphical)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90600"/>
          </a:xfrm>
        </p:spPr>
        <p:txBody>
          <a:bodyPr>
            <a:normAutofit fontScale="90000"/>
          </a:bodyPr>
          <a:lstStyle/>
          <a:p>
            <a:r>
              <a:rPr lang="nn-NO" dirty="0"/>
              <a:t>Data analysis </a:t>
            </a:r>
            <a:r>
              <a:rPr lang="nn-NO" dirty="0" smtClean="0"/>
              <a:t>-Univariate,bivariate </a:t>
            </a:r>
            <a:r>
              <a:rPr lang="nn-NO" dirty="0"/>
              <a:t>and Multivariate</a:t>
            </a:r>
            <a:endParaRPr lang="en-IN" dirty="0"/>
          </a:p>
        </p:txBody>
      </p:sp>
      <p:sp>
        <p:nvSpPr>
          <p:cNvPr id="3" name="Content Placeholder 2"/>
          <p:cNvSpPr>
            <a:spLocks noGrp="1"/>
          </p:cNvSpPr>
          <p:nvPr>
            <p:ph sz="quarter" idx="1"/>
          </p:nvPr>
        </p:nvSpPr>
        <p:spPr>
          <a:xfrm>
            <a:off x="332232" y="1533581"/>
            <a:ext cx="8503920" cy="4572000"/>
          </a:xfrm>
        </p:spPr>
        <p:txBody>
          <a:bodyPr/>
          <a:lstStyle/>
          <a:p>
            <a:r>
              <a:rPr lang="en-IN" b="1" dirty="0"/>
              <a:t>1. Univariate data – </a:t>
            </a:r>
          </a:p>
          <a:p>
            <a:pPr algn="just"/>
            <a:r>
              <a:rPr lang="en-IN" sz="2200" dirty="0" smtClean="0"/>
              <a:t>This </a:t>
            </a:r>
            <a:r>
              <a:rPr lang="en-IN" sz="2200" dirty="0"/>
              <a:t>type of data consists of </a:t>
            </a:r>
            <a:r>
              <a:rPr lang="en-IN" sz="2200" b="1" dirty="0"/>
              <a:t>only one variable</a:t>
            </a:r>
            <a:r>
              <a:rPr lang="en-IN" sz="2200" dirty="0"/>
              <a:t>. The analysis of univariate data is thus the simplest form of analysis since the information deals with only one quantity that changes. It does not deal with causes or relationships and the main purpose of the analysis is to describe the data and find patterns that exist within it. The example of a univariate data can be height.</a:t>
            </a:r>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953000"/>
            <a:ext cx="4886605" cy="1126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845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14400"/>
          </a:xfrm>
        </p:spPr>
        <p:txBody>
          <a:bodyPr>
            <a:normAutofit fontScale="90000"/>
          </a:bodyPr>
          <a:lstStyle/>
          <a:p>
            <a:r>
              <a:rPr lang="nn-NO" dirty="0"/>
              <a:t>Data analysis -Univariate,bivariate and Multivariate</a:t>
            </a:r>
            <a:endParaRPr lang="en-IN" dirty="0"/>
          </a:p>
        </p:txBody>
      </p:sp>
      <p:sp>
        <p:nvSpPr>
          <p:cNvPr id="3" name="Content Placeholder 2"/>
          <p:cNvSpPr>
            <a:spLocks noGrp="1"/>
          </p:cNvSpPr>
          <p:nvPr>
            <p:ph sz="quarter" idx="1"/>
          </p:nvPr>
        </p:nvSpPr>
        <p:spPr/>
        <p:txBody>
          <a:bodyPr>
            <a:normAutofit/>
          </a:bodyPr>
          <a:lstStyle/>
          <a:p>
            <a:pPr algn="just"/>
            <a:r>
              <a:rPr lang="en-IN" sz="2200" dirty="0"/>
              <a:t>The description of patterns found in this type of data can be made by drawing conclusions using central tendency measures (mean, median and mode), dispersion or spread of data (range, minimum, maximum, quartiles, variance and standard deviation) and by using frequency distribution tables, histograms, pie </a:t>
            </a:r>
            <a:r>
              <a:rPr lang="en-IN" sz="2200" dirty="0" smtClean="0"/>
              <a:t>charts</a:t>
            </a:r>
          </a:p>
          <a:p>
            <a:pPr algn="just"/>
            <a:endParaRPr lang="en-IN" sz="2200" dirty="0" smtClean="0"/>
          </a:p>
          <a:p>
            <a:pPr fontAlgn="base"/>
            <a:r>
              <a:rPr lang="en-IN" sz="2400" b="1" dirty="0"/>
              <a:t>2. Bivariate data </a:t>
            </a:r>
          </a:p>
          <a:p>
            <a:pPr algn="just" fontAlgn="base"/>
            <a:r>
              <a:rPr lang="en-IN" sz="2000" dirty="0"/>
              <a:t>This type of data involves </a:t>
            </a:r>
            <a:r>
              <a:rPr lang="en-IN" sz="2000" b="1" dirty="0"/>
              <a:t>two different variables</a:t>
            </a:r>
            <a:r>
              <a:rPr lang="en-IN" sz="2000" dirty="0"/>
              <a:t>. The analysis of this type of data deals with causes and relationships and the analysis is done to find out the relationship among the two variables. Example of bivariate data can be temperature and ice cream sales in summer season.</a:t>
            </a:r>
          </a:p>
          <a:p>
            <a:pPr algn="just"/>
            <a:endParaRPr lang="en-IN" sz="2200" dirty="0"/>
          </a:p>
        </p:txBody>
      </p:sp>
    </p:spTree>
    <p:extLst>
      <p:ext uri="{BB962C8B-B14F-4D97-AF65-F5344CB8AC3E}">
        <p14:creationId xmlns:p14="http://schemas.microsoft.com/office/powerpoint/2010/main" val="4133490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599"/>
            <a:ext cx="8534400" cy="940729"/>
          </a:xfrm>
        </p:spPr>
        <p:txBody>
          <a:bodyPr>
            <a:normAutofit fontScale="90000"/>
          </a:bodyPr>
          <a:lstStyle/>
          <a:p>
            <a:r>
              <a:rPr lang="nn-NO" dirty="0"/>
              <a:t>Data analysis -Univariate,bivariate and Multivariate</a:t>
            </a:r>
            <a:endParaRPr lang="en-IN" dirty="0"/>
          </a:p>
        </p:txBody>
      </p:sp>
      <p:pic>
        <p:nvPicPr>
          <p:cNvPr id="2050" name="Picture 2" descr="https://media.geeksforgeeks.org/wp-content/uploads/fi2-1.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743200" y="3048000"/>
            <a:ext cx="4047289" cy="213466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99476" y="1508500"/>
            <a:ext cx="8536675" cy="1200329"/>
          </a:xfrm>
          <a:prstGeom prst="rect">
            <a:avLst/>
          </a:prstGeom>
        </p:spPr>
        <p:txBody>
          <a:bodyPr wrap="square">
            <a:spAutoFit/>
          </a:bodyPr>
          <a:lstStyle/>
          <a:p>
            <a:r>
              <a:rPr lang="en-IN" dirty="0">
                <a:solidFill>
                  <a:srgbClr val="273239"/>
                </a:solidFill>
                <a:latin typeface="Nunito"/>
              </a:rPr>
              <a:t>Suppose the temperature and ice cream sales are the two variables of a bivariate data(figure 2). Here, the relationship is visible from the table that temperature and sales are directly proportional to each other and thus related because as the temperature increases, the sales also increase.</a:t>
            </a:r>
            <a:endParaRPr lang="en-IN" dirty="0"/>
          </a:p>
        </p:txBody>
      </p:sp>
    </p:spTree>
    <p:extLst>
      <p:ext uri="{BB962C8B-B14F-4D97-AF65-F5344CB8AC3E}">
        <p14:creationId xmlns:p14="http://schemas.microsoft.com/office/powerpoint/2010/main" val="3386671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90600"/>
          </a:xfrm>
        </p:spPr>
        <p:txBody>
          <a:bodyPr>
            <a:normAutofit fontScale="90000"/>
          </a:bodyPr>
          <a:lstStyle/>
          <a:p>
            <a:r>
              <a:rPr lang="nn-NO" dirty="0"/>
              <a:t>Data analysis -Univariate,bivariate and Multivariate</a:t>
            </a:r>
            <a:endParaRPr lang="en-IN" dirty="0"/>
          </a:p>
        </p:txBody>
      </p:sp>
      <p:sp>
        <p:nvSpPr>
          <p:cNvPr id="3" name="Content Placeholder 2"/>
          <p:cNvSpPr>
            <a:spLocks noGrp="1"/>
          </p:cNvSpPr>
          <p:nvPr>
            <p:ph sz="quarter" idx="1"/>
          </p:nvPr>
        </p:nvSpPr>
        <p:spPr/>
        <p:txBody>
          <a:bodyPr/>
          <a:lstStyle/>
          <a:p>
            <a:pPr fontAlgn="base"/>
            <a:r>
              <a:rPr lang="en-IN" b="1" dirty="0"/>
              <a:t>3. Multivariate data </a:t>
            </a:r>
          </a:p>
          <a:p>
            <a:pPr algn="just" fontAlgn="base"/>
            <a:r>
              <a:rPr lang="en-IN" sz="2200" dirty="0"/>
              <a:t>When the data involves </a:t>
            </a:r>
            <a:r>
              <a:rPr lang="en-IN" sz="2200" b="1" dirty="0"/>
              <a:t>three or more variables</a:t>
            </a:r>
            <a:r>
              <a:rPr lang="en-IN" sz="2200" dirty="0"/>
              <a:t>, it is categorized under multivariate. Example of this type of data is suppose an advertiser wants to compare the popularity of four advertisements on a website, then their click rates could be measured for both men and women and relationships between variables can then be examined. It is similar to bivariate but contains more than one dependent variable.</a:t>
            </a:r>
          </a:p>
          <a:p>
            <a:pPr algn="just"/>
            <a:endParaRPr lang="en-IN" sz="2200" dirty="0"/>
          </a:p>
        </p:txBody>
      </p:sp>
    </p:spTree>
    <p:extLst>
      <p:ext uri="{BB962C8B-B14F-4D97-AF65-F5344CB8AC3E}">
        <p14:creationId xmlns:p14="http://schemas.microsoft.com/office/powerpoint/2010/main" val="1748972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152400"/>
            <a:ext cx="8534400" cy="990600"/>
          </a:xfrm>
        </p:spPr>
        <p:txBody>
          <a:bodyPr>
            <a:normAutofit fontScale="90000"/>
          </a:bodyPr>
          <a:lstStyle/>
          <a:p>
            <a:r>
              <a:rPr lang="nn-NO" dirty="0"/>
              <a:t>Data analysis -Univariate,bivariate and Multivariate</a:t>
            </a:r>
            <a:endParaRPr lang="en-IN" dirty="0"/>
          </a:p>
        </p:txBody>
      </p:sp>
      <p:graphicFrame>
        <p:nvGraphicFramePr>
          <p:cNvPr id="4" name="Content Placeholder 3"/>
          <p:cNvGraphicFramePr>
            <a:graphicFrameLocks noGrp="1"/>
          </p:cNvGraphicFramePr>
          <p:nvPr>
            <p:ph sz="quarter" idx="1"/>
            <p:extLst/>
          </p:nvPr>
        </p:nvGraphicFramePr>
        <p:xfrm>
          <a:off x="301625" y="1904999"/>
          <a:ext cx="8504238" cy="4259290"/>
        </p:xfrm>
        <a:graphic>
          <a:graphicData uri="http://schemas.openxmlformats.org/drawingml/2006/table">
            <a:tbl>
              <a:tblPr/>
              <a:tblGrid>
                <a:gridCol w="2834746"/>
                <a:gridCol w="2834746"/>
                <a:gridCol w="2834746"/>
              </a:tblGrid>
              <a:tr h="514018">
                <a:tc>
                  <a:txBody>
                    <a:bodyPr/>
                    <a:lstStyle/>
                    <a:p>
                      <a:pPr algn="ctr" fontAlgn="base"/>
                      <a:r>
                        <a:rPr lang="en-IN" sz="1600" b="1" dirty="0">
                          <a:effectLst/>
                        </a:rPr>
                        <a:t>Univariate</a:t>
                      </a:r>
                      <a:endParaRPr lang="en-IN" sz="1600" b="0" dirty="0">
                        <a:effectLst/>
                      </a:endParaRP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600" b="1">
                          <a:effectLst/>
                        </a:rPr>
                        <a:t>Bivariate</a:t>
                      </a:r>
                      <a:endParaRPr lang="en-IN" sz="1600" b="0">
                        <a:effectLst/>
                      </a:endParaRP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600" b="1">
                          <a:effectLst/>
                        </a:rPr>
                        <a:t>Multivariate</a:t>
                      </a:r>
                      <a:endParaRPr lang="en-IN" sz="1600" b="0">
                        <a:effectLst/>
                      </a:endParaRP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28193">
                <a:tc>
                  <a:txBody>
                    <a:bodyPr/>
                    <a:lstStyle/>
                    <a:p>
                      <a:pPr algn="l" fontAlgn="ctr"/>
                      <a:r>
                        <a:rPr lang="en-IN" sz="1600" b="0" dirty="0">
                          <a:effectLst/>
                        </a:rPr>
                        <a:t>It only summarize single variable at a time.</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a:effectLst/>
                        </a:rPr>
                        <a:t>It only summarize two variables</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a:effectLst/>
                        </a:rPr>
                        <a:t>It only summarize more than 2 variables.</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28193">
                <a:tc>
                  <a:txBody>
                    <a:bodyPr/>
                    <a:lstStyle/>
                    <a:p>
                      <a:pPr algn="l" fontAlgn="ctr"/>
                      <a:r>
                        <a:rPr lang="en-IN" sz="1600" b="0" dirty="0">
                          <a:effectLst/>
                        </a:rPr>
                        <a:t>It does not deal with causes and relationships.</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dirty="0">
                          <a:effectLst/>
                        </a:rPr>
                        <a:t>It does deal with causes and relationships and analysis is done.</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a:effectLst/>
                        </a:rPr>
                        <a:t>It does not deal with causes and relationships and analysis is done.</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28193">
                <a:tc>
                  <a:txBody>
                    <a:bodyPr/>
                    <a:lstStyle/>
                    <a:p>
                      <a:pPr algn="l" fontAlgn="ctr"/>
                      <a:r>
                        <a:rPr lang="en-IN" sz="1600" b="0" dirty="0">
                          <a:effectLst/>
                        </a:rPr>
                        <a:t>It does not contain any dependent variable.</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dirty="0">
                          <a:effectLst/>
                        </a:rPr>
                        <a:t>It does contain only one dependent variable.</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dirty="0">
                          <a:effectLst/>
                        </a:rPr>
                        <a:t>It is similar to bivariate but it contains more than 2 variables.</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728193">
                <a:tc>
                  <a:txBody>
                    <a:bodyPr/>
                    <a:lstStyle/>
                    <a:p>
                      <a:pPr algn="l" fontAlgn="ctr"/>
                      <a:r>
                        <a:rPr lang="en-IN" sz="1600" b="0">
                          <a:effectLst/>
                        </a:rPr>
                        <a:t>The main purpose is to describe.</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a:effectLst/>
                        </a:rPr>
                        <a:t>The main purpose is to explain.</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ctr"/>
                      <a:r>
                        <a:rPr lang="en-IN" sz="1600" b="0" dirty="0">
                          <a:effectLst/>
                        </a:rPr>
                        <a:t>The main purpose is to study the relationship among them.</a:t>
                      </a:r>
                    </a:p>
                  </a:txBody>
                  <a:tcPr marL="94913" marR="94913" marT="132879" marB="13287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841674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Data Measurement Scales</a:t>
            </a:r>
          </a:p>
        </p:txBody>
      </p:sp>
      <p:sp>
        <p:nvSpPr>
          <p:cNvPr id="3" name="Content Placeholder 2"/>
          <p:cNvSpPr>
            <a:spLocks noGrp="1"/>
          </p:cNvSpPr>
          <p:nvPr>
            <p:ph sz="quarter" idx="1"/>
          </p:nvPr>
        </p:nvSpPr>
        <p:spPr/>
        <p:txBody>
          <a:bodyPr/>
          <a:lstStyle/>
          <a:p>
            <a:pPr algn="just"/>
            <a:r>
              <a:rPr lang="en-US" dirty="0"/>
              <a:t>A scale of measurement shows the information contained in the value of a variable, </a:t>
            </a:r>
          </a:p>
          <a:p>
            <a:pPr algn="just"/>
            <a:r>
              <a:rPr lang="en-US" dirty="0"/>
              <a:t>and what mathematical operations and statistical analysis are permissible to be done on the values of the variable. </a:t>
            </a:r>
          </a:p>
          <a:p>
            <a:pPr algn="just"/>
            <a:r>
              <a:rPr lang="en-US" dirty="0"/>
              <a:t>There are four levels of measurement. </a:t>
            </a:r>
          </a:p>
          <a:p>
            <a:pPr algn="just"/>
            <a:r>
              <a:rPr lang="en-US" dirty="0"/>
              <a:t>These levels, from the weakest to the strongest, in order are: </a:t>
            </a:r>
          </a:p>
          <a:p>
            <a:pPr algn="just"/>
            <a:r>
              <a:rPr lang="en-US" dirty="0"/>
              <a:t>nominal scale, ordinal scale, interval scale and ratio scale.</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Example : Scales of Measurement</a:t>
            </a:r>
          </a:p>
        </p:txBody>
      </p:sp>
      <p:sp>
        <p:nvSpPr>
          <p:cNvPr id="3" name="Content Placeholder 2"/>
          <p:cNvSpPr>
            <a:spLocks noGrp="1"/>
          </p:cNvSpPr>
          <p:nvPr>
            <p:ph sz="quarter" idx="1"/>
          </p:nvPr>
        </p:nvSpPr>
        <p:spPr/>
        <p:txBody>
          <a:bodyPr>
            <a:normAutofit fontScale="92500" lnSpcReduction="10000"/>
          </a:bodyPr>
          <a:lstStyle/>
          <a:p>
            <a:pPr algn="just"/>
            <a:r>
              <a:rPr lang="en-US" dirty="0"/>
              <a:t>Let us take four different situations for a class of 30 students:</a:t>
            </a:r>
          </a:p>
          <a:p>
            <a:pPr marL="457200" indent="-457200" algn="just">
              <a:buFont typeface="+mj-lt"/>
              <a:buAutoNum type="arabicPeriod"/>
            </a:pPr>
            <a:r>
              <a:rPr lang="en-US" dirty="0"/>
              <a:t> Assigning them roll nos. from 1 to 30 in no particular, manner or on random basis so long as no student has more than one number;.</a:t>
            </a:r>
          </a:p>
          <a:p>
            <a:pPr marL="457200" indent="-457200" algn="just">
              <a:buFont typeface="+mj-lt"/>
              <a:buAutoNum type="arabicPeriod"/>
            </a:pPr>
            <a:r>
              <a:rPr lang="en-US" dirty="0"/>
              <a:t>Ask students to stand in a queue as per their heights and assign them position numbers in the queue from 1 to 30;</a:t>
            </a:r>
          </a:p>
          <a:p>
            <a:pPr marL="457200" indent="-457200" algn="just">
              <a:buFont typeface="+mj-lt"/>
              <a:buAutoNum type="arabicPeriod"/>
            </a:pPr>
            <a:r>
              <a:rPr lang="en-US" dirty="0"/>
              <a:t>Conduct a test of 50 marks, for  all students and award marks from 0 to 50, as per their performance;</a:t>
            </a:r>
          </a:p>
          <a:p>
            <a:pPr marL="457200" indent="-457200" algn="just">
              <a:buFont typeface="+mj-lt"/>
              <a:buAutoNum type="arabicPeriod"/>
            </a:pPr>
            <a:r>
              <a:rPr lang="en-US" dirty="0"/>
              <a:t>Measure the height and weight of students and make student-wise record.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Situation 1 : Nominal variables </a:t>
            </a:r>
          </a:p>
        </p:txBody>
      </p:sp>
      <p:sp>
        <p:nvSpPr>
          <p:cNvPr id="3" name="Content Placeholder 2"/>
          <p:cNvSpPr>
            <a:spLocks noGrp="1"/>
          </p:cNvSpPr>
          <p:nvPr>
            <p:ph sz="quarter" idx="1"/>
          </p:nvPr>
        </p:nvSpPr>
        <p:spPr>
          <a:xfrm>
            <a:off x="301752" y="1527048"/>
            <a:ext cx="8503920" cy="4873752"/>
          </a:xfrm>
        </p:spPr>
        <p:txBody>
          <a:bodyPr>
            <a:normAutofit/>
          </a:bodyPr>
          <a:lstStyle/>
          <a:p>
            <a:pPr algn="just"/>
            <a:r>
              <a:rPr lang="en-US" dirty="0"/>
              <a:t>Any student could be assigned No. 1 while any one could be assigned No. 30. </a:t>
            </a:r>
          </a:p>
          <a:p>
            <a:pPr algn="just"/>
            <a:r>
              <a:rPr lang="en-US" dirty="0"/>
              <a:t>No two students can be compared on the basis of allotment of numbers, in any respect.</a:t>
            </a:r>
          </a:p>
          <a:p>
            <a:pPr algn="just"/>
            <a:r>
              <a:rPr lang="en-US" dirty="0"/>
              <a:t> The students have been labeled from 1 to 30 in order to give each an identity.</a:t>
            </a:r>
          </a:p>
          <a:p>
            <a:pPr algn="just"/>
            <a:endParaRPr lang="en-US" dirty="0"/>
          </a:p>
          <a:p>
            <a:pPr algn="just"/>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Nominal variables</a:t>
            </a:r>
          </a:p>
        </p:txBody>
      </p:sp>
      <p:sp>
        <p:nvSpPr>
          <p:cNvPr id="3" name="Content Placeholder 2"/>
          <p:cNvSpPr>
            <a:spLocks noGrp="1"/>
          </p:cNvSpPr>
          <p:nvPr>
            <p:ph sz="quarter" idx="1"/>
          </p:nvPr>
        </p:nvSpPr>
        <p:spPr>
          <a:xfrm>
            <a:off x="457200" y="1600200"/>
            <a:ext cx="7848600" cy="4873752"/>
          </a:xfrm>
        </p:spPr>
        <p:txBody>
          <a:bodyPr>
            <a:normAutofit/>
          </a:bodyPr>
          <a:lstStyle/>
          <a:p>
            <a:pPr algn="just"/>
            <a:r>
              <a:rPr lang="en-US" dirty="0"/>
              <a:t>Variables which show category of individuals.</a:t>
            </a:r>
          </a:p>
          <a:p>
            <a:pPr algn="just"/>
            <a:r>
              <a:rPr lang="en-US" dirty="0"/>
              <a:t>Number can be given to object for identification.</a:t>
            </a:r>
          </a:p>
          <a:p>
            <a:pPr algn="just"/>
            <a:r>
              <a:rPr lang="en-US" dirty="0"/>
              <a:t>They reflect classification into mutually exclusive (non-overlapping) and exhaustive categories (name of groups) without any associated ranking. </a:t>
            </a:r>
          </a:p>
          <a:p>
            <a:pPr algn="just"/>
            <a:r>
              <a:rPr lang="en-US" dirty="0"/>
              <a:t>This scale is the weakest form of measurement. </a:t>
            </a:r>
          </a:p>
          <a:p>
            <a:pPr algn="just"/>
            <a:r>
              <a:rPr lang="en-US" dirty="0"/>
              <a:t>The only mathematical operation permissible on these variables is counting.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Nominal variables</a:t>
            </a:r>
            <a:endParaRPr lang="en-US" dirty="0"/>
          </a:p>
        </p:txBody>
      </p:sp>
      <p:sp>
        <p:nvSpPr>
          <p:cNvPr id="3" name="Content Placeholder 2"/>
          <p:cNvSpPr>
            <a:spLocks noGrp="1"/>
          </p:cNvSpPr>
          <p:nvPr>
            <p:ph sz="quarter" idx="1"/>
          </p:nvPr>
        </p:nvSpPr>
        <p:spPr/>
        <p:txBody>
          <a:bodyPr>
            <a:normAutofit fontScale="92500" lnSpcReduction="10000"/>
          </a:bodyPr>
          <a:lstStyle/>
          <a:p>
            <a:pPr algn="just"/>
            <a:r>
              <a:rPr lang="en-US" dirty="0"/>
              <a:t>It is another name for a categorical variable.</a:t>
            </a:r>
          </a:p>
          <a:p>
            <a:pPr algn="just"/>
            <a:r>
              <a:rPr lang="en-US" dirty="0"/>
              <a:t>have two or more categories without having any kind of natural order. </a:t>
            </a:r>
          </a:p>
          <a:p>
            <a:pPr algn="just"/>
            <a:r>
              <a:rPr lang="en-US" dirty="0"/>
              <a:t>they are variables with no numeric value.</a:t>
            </a:r>
          </a:p>
          <a:p>
            <a:pPr algn="just"/>
            <a:r>
              <a:rPr lang="en-US" dirty="0"/>
              <a:t>Numbers may be assigned to the variables simply for coding purposes. It is not possible to compare individuals based on the numbers assigned to categories. </a:t>
            </a:r>
          </a:p>
          <a:p>
            <a:pPr algn="just"/>
            <a:r>
              <a:rPr lang="en-US" dirty="0"/>
              <a:t>Cannot be assigned any order or cannot be quantified.</a:t>
            </a:r>
          </a:p>
          <a:p>
            <a:pPr algn="just"/>
            <a:r>
              <a:rPr lang="en-US" dirty="0"/>
              <a:t>In other words, you can’t perform arithmetic operations on them, like addition or subtraction, or logical operations like “equal to” or “greater than” on them. </a:t>
            </a:r>
          </a:p>
          <a:p>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Examples: Nominal variables</a:t>
            </a:r>
            <a:endParaRPr lang="en-US" dirty="0"/>
          </a:p>
        </p:txBody>
      </p:sp>
      <p:sp>
        <p:nvSpPr>
          <p:cNvPr id="3" name="Content Placeholder 2"/>
          <p:cNvSpPr>
            <a:spLocks noGrp="1"/>
          </p:cNvSpPr>
          <p:nvPr>
            <p:ph sz="quarter" idx="1"/>
          </p:nvPr>
        </p:nvSpPr>
        <p:spPr/>
        <p:txBody>
          <a:bodyPr>
            <a:normAutofit fontScale="92500" lnSpcReduction="20000"/>
          </a:bodyPr>
          <a:lstStyle/>
          <a:p>
            <a:r>
              <a:rPr lang="en-US" u="sng" dirty="0"/>
              <a:t>Qualitative:</a:t>
            </a:r>
          </a:p>
          <a:p>
            <a:r>
              <a:rPr lang="en-US" dirty="0"/>
              <a:t>Gender (Male, Female, Transgender). </a:t>
            </a:r>
          </a:p>
          <a:p>
            <a:r>
              <a:rPr lang="en-US" dirty="0"/>
              <a:t>Eye color (Blue, Green, Brown, Hazel). </a:t>
            </a:r>
          </a:p>
          <a:p>
            <a:r>
              <a:rPr lang="en-US" dirty="0"/>
              <a:t>Type of house (Bungalow, Duplex, Ranch). </a:t>
            </a:r>
          </a:p>
          <a:p>
            <a:r>
              <a:rPr lang="en-US" dirty="0"/>
              <a:t>Type of pet (Dog, Cat, Rodent, Fish, Bird). </a:t>
            </a:r>
          </a:p>
          <a:p>
            <a:r>
              <a:rPr lang="en-US" dirty="0"/>
              <a:t>Religious preference: Buddhist, Mormon, Muslim, Jewish, Christian, Other.</a:t>
            </a:r>
          </a:p>
          <a:p>
            <a:r>
              <a:rPr lang="en-US" dirty="0"/>
              <a:t>Political party</a:t>
            </a:r>
            <a:r>
              <a:rPr lang="en-US" dirty="0">
                <a:sym typeface="Wingdings" pitchFamily="2" charset="2"/>
              </a:rPr>
              <a:t>: BJP, Congress, AAP</a:t>
            </a:r>
          </a:p>
          <a:p>
            <a:r>
              <a:rPr lang="en-US" u="sng" dirty="0">
                <a:sym typeface="Wingdings" pitchFamily="2" charset="2"/>
              </a:rPr>
              <a:t>Quantitative:</a:t>
            </a:r>
          </a:p>
          <a:p>
            <a:r>
              <a:rPr lang="en-US" dirty="0"/>
              <a:t>person’s phone number, National Identification Number postal code, </a:t>
            </a:r>
            <a:r>
              <a:rPr lang="en-US" dirty="0" err="1"/>
              <a:t>aadhar</a:t>
            </a:r>
            <a:r>
              <a:rPr lang="en-US" dirty="0"/>
              <a:t> card number etc. are being collected.</a:t>
            </a:r>
          </a:p>
          <a:p>
            <a:r>
              <a:rPr lang="en-US" dirty="0">
                <a:sym typeface="Wingdings" pitchFamily="2" charset="2"/>
              </a:rPr>
              <a:t>1=male, 2=female</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Situation 2 : Ordinal variables </a:t>
            </a:r>
          </a:p>
        </p:txBody>
      </p:sp>
      <p:sp>
        <p:nvSpPr>
          <p:cNvPr id="3" name="Content Placeholder 2"/>
          <p:cNvSpPr>
            <a:spLocks noGrp="1"/>
          </p:cNvSpPr>
          <p:nvPr>
            <p:ph sz="quarter" idx="1"/>
          </p:nvPr>
        </p:nvSpPr>
        <p:spPr>
          <a:xfrm>
            <a:off x="457200" y="1600200"/>
            <a:ext cx="8001000" cy="4873752"/>
          </a:xfrm>
        </p:spPr>
        <p:txBody>
          <a:bodyPr>
            <a:normAutofit fontScale="92500" lnSpcReduction="20000"/>
          </a:bodyPr>
          <a:lstStyle/>
          <a:p>
            <a:pPr algn="just"/>
            <a:r>
              <a:rPr lang="en-US" dirty="0"/>
              <a:t>Students have been assigned their position numbers in a queue from 1 to 30. </a:t>
            </a:r>
          </a:p>
          <a:p>
            <a:pPr algn="just"/>
            <a:r>
              <a:rPr lang="en-US" dirty="0"/>
              <a:t>Here the numbering is not arbitrary. The numbers have been assigned according to the height of the students. </a:t>
            </a:r>
          </a:p>
          <a:p>
            <a:pPr algn="just"/>
            <a:r>
              <a:rPr lang="en-US" dirty="0"/>
              <a:t>So the students are comparable on the basis of their heights, as there is a sequence in this regard. Every subsequent child is taller than the previous one, and so on.</a:t>
            </a:r>
          </a:p>
          <a:p>
            <a:pPr algn="just"/>
            <a:r>
              <a:rPr lang="en-US" dirty="0"/>
              <a:t>Here the object or event has got its identity. as well as order. </a:t>
            </a:r>
          </a:p>
          <a:p>
            <a:pPr algn="just"/>
            <a:r>
              <a:rPr lang="en-US" dirty="0"/>
              <a:t>As the difference in height of any two students is not known, so the property of addition of numbers is not applicable to the ordinal scale.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Ordinal variables</a:t>
            </a:r>
          </a:p>
        </p:txBody>
      </p:sp>
      <p:sp>
        <p:nvSpPr>
          <p:cNvPr id="3" name="Content Placeholder 2"/>
          <p:cNvSpPr>
            <a:spLocks noGrp="1"/>
          </p:cNvSpPr>
          <p:nvPr>
            <p:ph sz="quarter" idx="1"/>
          </p:nvPr>
        </p:nvSpPr>
        <p:spPr/>
        <p:txBody>
          <a:bodyPr>
            <a:normAutofit/>
          </a:bodyPr>
          <a:lstStyle/>
          <a:p>
            <a:pPr algn="just"/>
            <a:r>
              <a:rPr lang="en-US" dirty="0"/>
              <a:t>Assigns number to objects, but numbers also have some meaningful order.</a:t>
            </a:r>
          </a:p>
          <a:p>
            <a:pPr algn="just"/>
            <a:r>
              <a:rPr lang="en-US" dirty="0"/>
              <a:t>These are also those variables whose values can be ordered and ranked. </a:t>
            </a:r>
          </a:p>
          <a:p>
            <a:pPr algn="just"/>
            <a:r>
              <a:rPr lang="en-US" dirty="0"/>
              <a:t>Ranking and counting are the mathematical operations to be done on the values of the variables. </a:t>
            </a:r>
          </a:p>
          <a:p>
            <a:pPr algn="just"/>
            <a:r>
              <a:rPr lang="en-US" dirty="0"/>
              <a:t>However, these ranks only indicate as to which category	greater or better but there is no precise difference between the values (categories) of the variable</a:t>
            </a:r>
          </a:p>
          <a:p>
            <a:pPr algn="just">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Examples: Ordinal variables</a:t>
            </a:r>
            <a:endParaRPr lang="en-US" dirty="0"/>
          </a:p>
        </p:txBody>
      </p:sp>
      <p:sp>
        <p:nvSpPr>
          <p:cNvPr id="3" name="Content Placeholder 2"/>
          <p:cNvSpPr>
            <a:spLocks noGrp="1"/>
          </p:cNvSpPr>
          <p:nvPr>
            <p:ph sz="quarter" idx="1"/>
          </p:nvPr>
        </p:nvSpPr>
        <p:spPr/>
        <p:txBody>
          <a:bodyPr/>
          <a:lstStyle/>
          <a:p>
            <a:r>
              <a:rPr lang="en-US" dirty="0"/>
              <a:t>grade scores (A, B, C, D, F), </a:t>
            </a:r>
          </a:p>
          <a:p>
            <a:r>
              <a:rPr lang="en-US" dirty="0"/>
              <a:t>academic qualifications (BE, ME, Ph.D.), </a:t>
            </a:r>
          </a:p>
          <a:p>
            <a:r>
              <a:rPr lang="en-US" dirty="0"/>
              <a:t>strength (very weak, week, strong, very strong),</a:t>
            </a:r>
          </a:p>
          <a:p>
            <a:r>
              <a:rPr lang="en-US" dirty="0"/>
              <a:t>health status (very sick, sick, cured).</a:t>
            </a:r>
          </a:p>
          <a:p>
            <a:r>
              <a:rPr lang="en-US" dirty="0"/>
              <a:t>Satisfaction level(very satisfied, satisfied, dissatisfied)</a:t>
            </a:r>
          </a:p>
          <a:p>
            <a:endParaRPr lang="en-US"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Situation 3 :Interval variables</a:t>
            </a:r>
          </a:p>
        </p:txBody>
      </p:sp>
      <p:sp>
        <p:nvSpPr>
          <p:cNvPr id="3" name="Content Placeholder 2"/>
          <p:cNvSpPr>
            <a:spLocks noGrp="1"/>
          </p:cNvSpPr>
          <p:nvPr>
            <p:ph sz="quarter" idx="1"/>
          </p:nvPr>
        </p:nvSpPr>
        <p:spPr>
          <a:xfrm>
            <a:off x="457200" y="1219200"/>
            <a:ext cx="8153400" cy="5638800"/>
          </a:xfrm>
        </p:spPr>
        <p:txBody>
          <a:bodyPr>
            <a:noAutofit/>
          </a:bodyPr>
          <a:lstStyle/>
          <a:p>
            <a:pPr algn="just"/>
            <a:r>
              <a:rPr lang="en-US" sz="2400" dirty="0"/>
              <a:t>Students have been awarded marks from 0 to 50, on the basis of their performance in the test administered on them. Consider the marks obtained by 3 students, which are 30, 20 and 40 respectively. </a:t>
            </a:r>
          </a:p>
          <a:p>
            <a:pPr algn="just"/>
            <a:r>
              <a:rPr lang="en-US" sz="2400" dirty="0"/>
              <a:t>Here, it may be interpreted that the difference between the performance of the 1st and 2nd student is the same, as between the performance of the 1st and 3</a:t>
            </a:r>
            <a:r>
              <a:rPr lang="en-US" sz="2400" baseline="30000" dirty="0"/>
              <a:t>rd</a:t>
            </a:r>
            <a:r>
              <a:rPr lang="en-US" sz="2400" dirty="0"/>
              <a:t> student. </a:t>
            </a:r>
          </a:p>
          <a:p>
            <a:pPr algn="just"/>
            <a:r>
              <a:rPr lang="en-US" sz="2400" dirty="0"/>
              <a:t>A student getting 0 marks cannot be described as having zero achievement level. </a:t>
            </a:r>
          </a:p>
          <a:p>
            <a:pPr algn="just"/>
            <a:r>
              <a:rPr lang="en-US" sz="2400" dirty="0"/>
              <a:t>Similarly, the 2</a:t>
            </a:r>
            <a:r>
              <a:rPr lang="en-US" sz="2400" baseline="30000" dirty="0"/>
              <a:t>nd</a:t>
            </a:r>
            <a:r>
              <a:rPr lang="en-US" sz="2400" dirty="0"/>
              <a:t> student cannot be said to have half the intelligence of the 3rd student, simply because the 2nd has 20 and the 3rd has 40.</a:t>
            </a:r>
          </a:p>
          <a:p>
            <a:pPr algn="just"/>
            <a:r>
              <a:rPr lang="en-US" sz="2400" dirty="0"/>
              <a:t>Properties of identity, order and </a:t>
            </a:r>
            <a:r>
              <a:rPr lang="en-US" sz="2400" dirty="0" err="1"/>
              <a:t>additivity</a:t>
            </a:r>
            <a:r>
              <a:rPr lang="en-US" sz="2400" dirty="0"/>
              <a:t> are applicable. Scores can also have fractional values.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Interval variables</a:t>
            </a:r>
          </a:p>
        </p:txBody>
      </p:sp>
      <p:sp>
        <p:nvSpPr>
          <p:cNvPr id="3" name="Content Placeholder 2"/>
          <p:cNvSpPr>
            <a:spLocks noGrp="1"/>
          </p:cNvSpPr>
          <p:nvPr>
            <p:ph sz="quarter" idx="1"/>
          </p:nvPr>
        </p:nvSpPr>
        <p:spPr/>
        <p:txBody>
          <a:bodyPr>
            <a:normAutofit fontScale="92500" lnSpcReduction="20000"/>
          </a:bodyPr>
          <a:lstStyle/>
          <a:p>
            <a:pPr algn="just"/>
            <a:r>
              <a:rPr lang="en-US" dirty="0"/>
              <a:t>These are those quantitative variables and identifies not only as to which category is greater or better but also by how much. </a:t>
            </a:r>
          </a:p>
          <a:p>
            <a:pPr algn="just"/>
            <a:r>
              <a:rPr lang="en-US" dirty="0"/>
              <a:t>Numbers have order as well as equal interval between adjacent categories.</a:t>
            </a:r>
          </a:p>
          <a:p>
            <a:pPr algn="just"/>
            <a:r>
              <a:rPr lang="en-US" dirty="0"/>
              <a:t>It is the stronger form of measurement but there is no true zero. </a:t>
            </a:r>
          </a:p>
          <a:p>
            <a:pPr algn="just"/>
            <a:r>
              <a:rPr lang="en-US" dirty="0"/>
              <a:t>Zero indicates low than empty. </a:t>
            </a:r>
          </a:p>
          <a:p>
            <a:pPr algn="just"/>
            <a:r>
              <a:rPr lang="en-US" dirty="0"/>
              <a:t>Examples: temperature, 0 C does not mean there is no temperature but, rather, it is too cold.</a:t>
            </a:r>
          </a:p>
          <a:p>
            <a:pPr algn="just"/>
            <a:r>
              <a:rPr lang="en-US" dirty="0"/>
              <a:t>Similarly, if a student scores 0 in a certain course, it does not mean that the student has no knowledge in the course at all.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Situation 4 : Ratio variables</a:t>
            </a:r>
          </a:p>
        </p:txBody>
      </p:sp>
      <p:sp>
        <p:nvSpPr>
          <p:cNvPr id="3" name="Content Placeholder 2"/>
          <p:cNvSpPr>
            <a:spLocks noGrp="1"/>
          </p:cNvSpPr>
          <p:nvPr>
            <p:ph sz="quarter" idx="1"/>
          </p:nvPr>
        </p:nvSpPr>
        <p:spPr/>
        <p:txBody>
          <a:bodyPr/>
          <a:lstStyle/>
          <a:p>
            <a:pPr algn="just"/>
            <a:r>
              <a:rPr lang="en-US" dirty="0"/>
              <a:t>The exact physical values pertaining to the heights and weights of all students have been obtained.</a:t>
            </a:r>
          </a:p>
          <a:p>
            <a:pPr algn="just"/>
            <a:r>
              <a:rPr lang="en-US" dirty="0"/>
              <a:t>Here the values are comparable in all respect. </a:t>
            </a:r>
          </a:p>
          <a:p>
            <a:pPr algn="just"/>
            <a:r>
              <a:rPr lang="en-US" dirty="0"/>
              <a:t>If two students have heights of 120 cm and 140 cm, then the difference in their heights is 20 cm and the heights are in the ratio 6:7.</a:t>
            </a:r>
          </a:p>
          <a:p>
            <a:pPr algn="just"/>
            <a:r>
              <a:rPr lang="en-US" dirty="0"/>
              <a:t> This scale refers to ratio scale.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Ratio variables</a:t>
            </a:r>
          </a:p>
        </p:txBody>
      </p:sp>
      <p:sp>
        <p:nvSpPr>
          <p:cNvPr id="3" name="Content Placeholder 2"/>
          <p:cNvSpPr>
            <a:spLocks noGrp="1"/>
          </p:cNvSpPr>
          <p:nvPr>
            <p:ph sz="quarter" idx="1"/>
          </p:nvPr>
        </p:nvSpPr>
        <p:spPr/>
        <p:txBody>
          <a:bodyPr/>
          <a:lstStyle/>
          <a:p>
            <a:pPr algn="just"/>
            <a:r>
              <a:rPr lang="en-US" dirty="0"/>
              <a:t>These scales are the highest form of measurements. </a:t>
            </a:r>
          </a:p>
          <a:p>
            <a:pPr algn="just"/>
            <a:r>
              <a:rPr lang="en-US" dirty="0"/>
              <a:t>Ratio variables are those quantitative variables but, unlike the interval variables, zero shows absence of the characteristics. </a:t>
            </a:r>
          </a:p>
          <a:p>
            <a:pPr algn="just"/>
            <a:r>
              <a:rPr lang="en-US" dirty="0"/>
              <a:t>All mathematical operations are allowed to be operated on the values of these variables.</a:t>
            </a:r>
          </a:p>
          <a:p>
            <a:pPr algn="just"/>
            <a:r>
              <a:rPr lang="en-US" dirty="0"/>
              <a:t>Examples: height, weight, income, amount of yield,</a:t>
            </a:r>
          </a:p>
          <a:p>
            <a:pPr algn="just">
              <a:buNone/>
            </a:pPr>
            <a:r>
              <a:rPr lang="en-US" dirty="0"/>
              <a:t>	expenditure, consumption.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Exercise</a:t>
            </a:r>
          </a:p>
        </p:txBody>
      </p:sp>
      <p:sp>
        <p:nvSpPr>
          <p:cNvPr id="3" name="Content Placeholder 2"/>
          <p:cNvSpPr>
            <a:spLocks noGrp="1"/>
          </p:cNvSpPr>
          <p:nvPr>
            <p:ph sz="quarter" idx="1"/>
          </p:nvPr>
        </p:nvSpPr>
        <p:spPr/>
        <p:txBody>
          <a:bodyPr/>
          <a:lstStyle/>
          <a:p>
            <a:r>
              <a:rPr lang="en-US" dirty="0"/>
              <a:t>Jersey number assigned to cricket player</a:t>
            </a:r>
          </a:p>
          <a:p>
            <a:r>
              <a:rPr lang="en-US" dirty="0" err="1"/>
              <a:t>Aadhar</a:t>
            </a:r>
            <a:r>
              <a:rPr lang="en-US" dirty="0"/>
              <a:t> card number</a:t>
            </a:r>
          </a:p>
          <a:p>
            <a:r>
              <a:rPr lang="en-US" dirty="0"/>
              <a:t>Rank order of runners in a race</a:t>
            </a:r>
          </a:p>
          <a:p>
            <a:r>
              <a:rPr lang="en-US" dirty="0"/>
              <a:t>GTU top 10 students</a:t>
            </a:r>
          </a:p>
          <a:p>
            <a:r>
              <a:rPr lang="en-US" dirty="0"/>
              <a:t>Top 10 highest tax payers</a:t>
            </a:r>
          </a:p>
          <a:p>
            <a:r>
              <a:rPr lang="en-US" dirty="0"/>
              <a:t>Temperature in centigrade</a:t>
            </a:r>
          </a:p>
          <a:p>
            <a:r>
              <a:rPr lang="en-US" dirty="0"/>
              <a:t>Elevation  from sea level</a:t>
            </a:r>
          </a:p>
          <a:p>
            <a:r>
              <a:rPr lang="en-US" dirty="0"/>
              <a:t>height</a:t>
            </a:r>
          </a:p>
          <a:p>
            <a:r>
              <a:rPr lang="en-US" dirty="0"/>
              <a:t>Age</a:t>
            </a:r>
          </a:p>
          <a:p>
            <a:endParaRPr lang="en-US" dirty="0"/>
          </a:p>
          <a:p>
            <a:endParaRPr lang="en-US"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Scale of Measurement</a:t>
            </a:r>
          </a:p>
        </p:txBody>
      </p:sp>
      <p:pic>
        <p:nvPicPr>
          <p:cNvPr id="1026" name="Picture 2"/>
          <p:cNvPicPr>
            <a:picLocks noGrp="1" noChangeAspect="1" noChangeArrowheads="1"/>
          </p:cNvPicPr>
          <p:nvPr>
            <p:ph sz="quarter" idx="1"/>
          </p:nvPr>
        </p:nvPicPr>
        <p:blipFill>
          <a:blip r:embed="rId2"/>
          <a:srcRect/>
          <a:stretch>
            <a:fillRect/>
          </a:stretch>
        </p:blipFill>
        <p:spPr bwMode="auto">
          <a:xfrm>
            <a:off x="457199" y="1600200"/>
            <a:ext cx="7887559" cy="462725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Population and Sample</a:t>
            </a:r>
          </a:p>
        </p:txBody>
      </p:sp>
      <p:sp>
        <p:nvSpPr>
          <p:cNvPr id="3" name="Content Placeholder 2"/>
          <p:cNvSpPr>
            <a:spLocks noGrp="1"/>
          </p:cNvSpPr>
          <p:nvPr>
            <p:ph sz="quarter" idx="1"/>
          </p:nvPr>
        </p:nvSpPr>
        <p:spPr/>
        <p:txBody>
          <a:bodyPr>
            <a:normAutofit/>
          </a:bodyPr>
          <a:lstStyle/>
          <a:p>
            <a:pPr algn="just"/>
            <a:r>
              <a:rPr lang="en-US" dirty="0"/>
              <a:t>Population is the set of all possible observations for a given context of problem.</a:t>
            </a:r>
          </a:p>
          <a:p>
            <a:pPr algn="just"/>
            <a:r>
              <a:rPr lang="en-US" dirty="0"/>
              <a:t>The size of the population is very large.</a:t>
            </a:r>
          </a:p>
          <a:p>
            <a:pPr algn="just"/>
            <a:r>
              <a:rPr lang="en-US" dirty="0"/>
              <a:t>For Example, eligible voters in election.</a:t>
            </a:r>
          </a:p>
          <a:p>
            <a:pPr algn="just"/>
            <a:r>
              <a:rPr lang="en-US" dirty="0"/>
              <a:t>Population size of voters may be in millions.</a:t>
            </a:r>
          </a:p>
          <a:p>
            <a:pPr algn="just"/>
            <a:r>
              <a:rPr lang="en-US" dirty="0"/>
              <a:t>During every election, media and other organizations collect data to predict likely winner of election through opinion polls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Population and Sample</a:t>
            </a:r>
          </a:p>
        </p:txBody>
      </p:sp>
      <p:sp>
        <p:nvSpPr>
          <p:cNvPr id="3" name="Content Placeholder 2"/>
          <p:cNvSpPr>
            <a:spLocks noGrp="1"/>
          </p:cNvSpPr>
          <p:nvPr>
            <p:ph sz="quarter" idx="1"/>
          </p:nvPr>
        </p:nvSpPr>
        <p:spPr/>
        <p:txBody>
          <a:bodyPr>
            <a:normAutofit/>
          </a:bodyPr>
          <a:lstStyle/>
          <a:p>
            <a:pPr algn="just"/>
            <a:r>
              <a:rPr lang="en-US" dirty="0"/>
              <a:t>It is very difficult and also practically impossible to collect data from millions of  eligible voters about their choice of candidate, so the opinion polls are based on opinion expressed by a subset of voters called </a:t>
            </a:r>
            <a:r>
              <a:rPr lang="en-US" b="1" dirty="0"/>
              <a:t>sample.</a:t>
            </a:r>
          </a:p>
          <a:p>
            <a:pPr algn="just"/>
            <a:r>
              <a:rPr lang="en-US" dirty="0"/>
              <a:t>Population (also known as universal set) is the set of all possible data for a given context.</a:t>
            </a:r>
          </a:p>
          <a:p>
            <a:pPr algn="just"/>
            <a:r>
              <a:rPr lang="en-US" dirty="0"/>
              <a:t>Sample is the subset taken from a population.</a:t>
            </a:r>
          </a:p>
          <a:p>
            <a:pPr algn="just"/>
            <a:r>
              <a:rPr lang="en-US" dirty="0"/>
              <a:t>An incorrect sample may result in bias and incorrect inference about the population.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a:t>
            </a:r>
            <a:endParaRPr lang="en-IN" dirty="0"/>
          </a:p>
        </p:txBody>
      </p:sp>
      <p:sp>
        <p:nvSpPr>
          <p:cNvPr id="3" name="Content Placeholder 2"/>
          <p:cNvSpPr>
            <a:spLocks noGrp="1"/>
          </p:cNvSpPr>
          <p:nvPr>
            <p:ph sz="quarter" idx="1"/>
          </p:nvPr>
        </p:nvSpPr>
        <p:spPr/>
        <p:txBody>
          <a:bodyPr/>
          <a:lstStyle/>
          <a:p>
            <a:pPr algn="just"/>
            <a:r>
              <a:rPr lang="en-IN" dirty="0"/>
              <a:t>Descriptive statistics refers to a set of methods used to summarize and describe the main features of a dataset, such as its central tendency, variability, and distribution. These methods provide an overview of the data and help identify patterns and relationships</a:t>
            </a:r>
            <a:r>
              <a:rPr lang="en-IN" dirty="0" smtClean="0"/>
              <a:t>.</a:t>
            </a:r>
          </a:p>
          <a:p>
            <a:pPr algn="just"/>
            <a:endParaRPr lang="en-IN" dirty="0"/>
          </a:p>
        </p:txBody>
      </p:sp>
    </p:spTree>
    <p:extLst>
      <p:ext uri="{BB962C8B-B14F-4D97-AF65-F5344CB8AC3E}">
        <p14:creationId xmlns:p14="http://schemas.microsoft.com/office/powerpoint/2010/main" val="3693207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a:t>
            </a:r>
            <a:endParaRPr lang="en-IN" dirty="0"/>
          </a:p>
        </p:txBody>
      </p:sp>
      <p:sp>
        <p:nvSpPr>
          <p:cNvPr id="3" name="Content Placeholder 2"/>
          <p:cNvSpPr>
            <a:spLocks noGrp="1"/>
          </p:cNvSpPr>
          <p:nvPr>
            <p:ph sz="quarter" idx="1"/>
          </p:nvPr>
        </p:nvSpPr>
        <p:spPr/>
        <p:txBody>
          <a:bodyPr>
            <a:noAutofit/>
          </a:bodyPr>
          <a:lstStyle/>
          <a:p>
            <a:pPr algn="just"/>
            <a:r>
              <a:rPr lang="en-IN" sz="1500" dirty="0"/>
              <a:t>Descriptive statistics include the following details about the data</a:t>
            </a:r>
          </a:p>
          <a:p>
            <a:pPr algn="just"/>
            <a:r>
              <a:rPr lang="en-IN" sz="1500" b="1" dirty="0"/>
              <a:t>Central Tendency</a:t>
            </a:r>
          </a:p>
          <a:p>
            <a:pPr marL="548640" lvl="2" algn="just">
              <a:buClr>
                <a:schemeClr val="accent1"/>
              </a:buClr>
              <a:buSzPct val="85000"/>
              <a:buFont typeface="Wingdings 2"/>
              <a:buChar char=""/>
            </a:pPr>
            <a:r>
              <a:rPr lang="en-IN" sz="1300" dirty="0">
                <a:solidFill>
                  <a:schemeClr val="tx1"/>
                </a:solidFill>
              </a:rPr>
              <a:t>Mean – also known as the average</a:t>
            </a:r>
          </a:p>
          <a:p>
            <a:pPr marL="548640" lvl="2" algn="just">
              <a:buClr>
                <a:schemeClr val="accent1"/>
              </a:buClr>
              <a:buSzPct val="85000"/>
              <a:buFont typeface="Wingdings 2"/>
              <a:buChar char=""/>
            </a:pPr>
            <a:r>
              <a:rPr lang="en-IN" sz="1300" dirty="0">
                <a:solidFill>
                  <a:schemeClr val="tx1"/>
                </a:solidFill>
              </a:rPr>
              <a:t>Median – the </a:t>
            </a:r>
            <a:r>
              <a:rPr lang="en-IN" sz="1300" dirty="0" err="1" smtClean="0">
                <a:solidFill>
                  <a:schemeClr val="tx1"/>
                </a:solidFill>
              </a:rPr>
              <a:t>center</a:t>
            </a:r>
            <a:r>
              <a:rPr lang="en-IN" sz="1300" dirty="0" smtClean="0">
                <a:solidFill>
                  <a:schemeClr val="tx1"/>
                </a:solidFill>
              </a:rPr>
              <a:t> most </a:t>
            </a:r>
            <a:r>
              <a:rPr lang="en-IN" sz="1300" dirty="0">
                <a:solidFill>
                  <a:schemeClr val="tx1"/>
                </a:solidFill>
              </a:rPr>
              <a:t>value of the given dataset</a:t>
            </a:r>
          </a:p>
          <a:p>
            <a:pPr marL="548640" lvl="2" algn="just">
              <a:buClr>
                <a:schemeClr val="accent1"/>
              </a:buClr>
              <a:buSzPct val="85000"/>
              <a:buFont typeface="Wingdings 2"/>
              <a:buChar char=""/>
            </a:pPr>
            <a:r>
              <a:rPr lang="en-IN" sz="1300" dirty="0">
                <a:solidFill>
                  <a:schemeClr val="tx1"/>
                </a:solidFill>
              </a:rPr>
              <a:t>Mode – The value which appears most frequently in the given dataset</a:t>
            </a:r>
          </a:p>
          <a:p>
            <a:pPr algn="just"/>
            <a:r>
              <a:rPr lang="en-IN" sz="1500" dirty="0"/>
              <a:t>Depending on what exactly you’re trying to describe, you will use a different measure of central tendency. Mean and median can only be used for numerical data. The mode can be used with numerical and nominal data both.</a:t>
            </a:r>
          </a:p>
          <a:p>
            <a:pPr algn="just"/>
            <a:r>
              <a:rPr lang="en-IN" sz="1500" b="1" dirty="0"/>
              <a:t>Statistical Dispersion</a:t>
            </a:r>
          </a:p>
          <a:p>
            <a:pPr marL="548640" lvl="2" algn="just">
              <a:buClr>
                <a:schemeClr val="accent1"/>
              </a:buClr>
              <a:buSzPct val="85000"/>
              <a:buFont typeface="Wingdings 2"/>
              <a:buChar char=""/>
            </a:pPr>
            <a:r>
              <a:rPr lang="en-IN" sz="1300" dirty="0">
                <a:solidFill>
                  <a:schemeClr val="tx1"/>
                </a:solidFill>
              </a:rPr>
              <a:t>Range – Range gives us the understanding of how spread out the given data is</a:t>
            </a:r>
          </a:p>
          <a:p>
            <a:pPr marL="548640" lvl="2" algn="just">
              <a:buClr>
                <a:schemeClr val="accent1"/>
              </a:buClr>
              <a:buSzPct val="85000"/>
              <a:buFont typeface="Wingdings 2"/>
              <a:buChar char=""/>
            </a:pPr>
            <a:r>
              <a:rPr lang="en-IN" sz="1300" dirty="0">
                <a:solidFill>
                  <a:schemeClr val="tx1"/>
                </a:solidFill>
              </a:rPr>
              <a:t>Variance – It gives us the understanding of how the far the measurements are from the mean.</a:t>
            </a:r>
          </a:p>
          <a:p>
            <a:pPr marL="548640" lvl="2" algn="just">
              <a:buClr>
                <a:schemeClr val="accent1"/>
              </a:buClr>
              <a:buSzPct val="85000"/>
              <a:buFont typeface="Wingdings 2"/>
              <a:buChar char=""/>
            </a:pPr>
            <a:r>
              <a:rPr lang="en-IN" sz="1300" dirty="0">
                <a:solidFill>
                  <a:schemeClr val="tx1"/>
                </a:solidFill>
              </a:rPr>
              <a:t>Standard deviation – Square root of the variance is standard deviation, also the measurement of how far the data deviate from the mean</a:t>
            </a:r>
          </a:p>
          <a:p>
            <a:pPr algn="just"/>
            <a:r>
              <a:rPr lang="en-IN" sz="1500" b="1" dirty="0" smtClean="0"/>
              <a:t>Measure of Shape and Symmetry</a:t>
            </a:r>
          </a:p>
          <a:p>
            <a:pPr algn="just"/>
            <a:r>
              <a:rPr lang="en-IN" sz="1500" dirty="0" smtClean="0"/>
              <a:t>The </a:t>
            </a:r>
            <a:r>
              <a:rPr lang="en-IN" sz="1500" dirty="0"/>
              <a:t>Bell Curve – It is a graph of a normal distribution of a variable, it is called a bell curve because of its shape.</a:t>
            </a:r>
          </a:p>
          <a:p>
            <a:pPr marL="548640" lvl="2" algn="just">
              <a:buClr>
                <a:schemeClr val="accent1"/>
              </a:buClr>
              <a:buSzPct val="85000"/>
              <a:buFont typeface="Wingdings 2"/>
              <a:buChar char=""/>
            </a:pPr>
            <a:r>
              <a:rPr lang="en-IN" sz="1300" dirty="0" err="1">
                <a:solidFill>
                  <a:schemeClr val="tx1"/>
                </a:solidFill>
              </a:rPr>
              <a:t>Skewness</a:t>
            </a:r>
            <a:r>
              <a:rPr lang="en-IN" sz="1300" dirty="0">
                <a:solidFill>
                  <a:schemeClr val="tx1"/>
                </a:solidFill>
              </a:rPr>
              <a:t> – It is the measure of the asymmetry of a distribution of a variable about its mean</a:t>
            </a:r>
          </a:p>
          <a:p>
            <a:pPr marL="548640" lvl="2" algn="just">
              <a:buClr>
                <a:schemeClr val="accent1"/>
              </a:buClr>
              <a:buSzPct val="85000"/>
              <a:buFont typeface="Wingdings 2"/>
              <a:buChar char=""/>
            </a:pPr>
            <a:r>
              <a:rPr lang="en-IN" sz="1300" dirty="0">
                <a:solidFill>
                  <a:schemeClr val="tx1"/>
                </a:solidFill>
              </a:rPr>
              <a:t>Kurtosis – It is the measure of the “</a:t>
            </a:r>
            <a:r>
              <a:rPr lang="en-IN" sz="1300" dirty="0" err="1">
                <a:solidFill>
                  <a:schemeClr val="tx1"/>
                </a:solidFill>
              </a:rPr>
              <a:t>tailedness</a:t>
            </a:r>
            <a:r>
              <a:rPr lang="en-IN" sz="1300" dirty="0">
                <a:solidFill>
                  <a:schemeClr val="tx1"/>
                </a:solidFill>
              </a:rPr>
              <a:t>” of a distribution of a variable. It gives us the understanding of how closely the data is spread out.</a:t>
            </a:r>
          </a:p>
          <a:p>
            <a:pPr algn="just"/>
            <a:endParaRPr lang="en-IN" sz="1500" dirty="0"/>
          </a:p>
        </p:txBody>
      </p:sp>
    </p:spTree>
    <p:extLst>
      <p:ext uri="{BB962C8B-B14F-4D97-AF65-F5344CB8AC3E}">
        <p14:creationId xmlns:p14="http://schemas.microsoft.com/office/powerpoint/2010/main" val="4103696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Measures of Central Tendency</a:t>
            </a:r>
          </a:p>
        </p:txBody>
      </p:sp>
      <p:sp>
        <p:nvSpPr>
          <p:cNvPr id="3" name="Content Placeholder 2"/>
          <p:cNvSpPr>
            <a:spLocks noGrp="1"/>
          </p:cNvSpPr>
          <p:nvPr>
            <p:ph sz="quarter" idx="1"/>
          </p:nvPr>
        </p:nvSpPr>
        <p:spPr/>
        <p:txBody>
          <a:bodyPr>
            <a:normAutofit fontScale="92500"/>
          </a:bodyPr>
          <a:lstStyle/>
          <a:p>
            <a:pPr algn="just"/>
            <a:r>
              <a:rPr lang="en-US" dirty="0"/>
              <a:t>Measures of central tendency are the measures that are used for describing the data using a single value.</a:t>
            </a:r>
          </a:p>
          <a:p>
            <a:pPr algn="just"/>
            <a:r>
              <a:rPr lang="en-US" dirty="0"/>
              <a:t>Measures of central tendency help users to summarize and comprehend the data.</a:t>
            </a:r>
          </a:p>
          <a:p>
            <a:pPr algn="just"/>
            <a:r>
              <a:rPr lang="en-US" u="sng" dirty="0">
                <a:solidFill>
                  <a:srgbClr val="C00000"/>
                </a:solidFill>
              </a:rPr>
              <a:t>Computed averages: </a:t>
            </a:r>
          </a:p>
          <a:p>
            <a:r>
              <a:rPr lang="en-US" dirty="0"/>
              <a:t>Mean and mode are the measures of central tendency and are frequently used to compare different data sets. </a:t>
            </a:r>
          </a:p>
          <a:p>
            <a:pPr algn="just"/>
            <a:r>
              <a:rPr lang="en-US" u="sng" dirty="0">
                <a:solidFill>
                  <a:srgbClr val="C00000"/>
                </a:solidFill>
              </a:rPr>
              <a:t>Positional averages: </a:t>
            </a:r>
          </a:p>
          <a:p>
            <a:pPr algn="just">
              <a:buNone/>
            </a:pPr>
            <a:r>
              <a:rPr lang="en-US" dirty="0"/>
              <a:t>	Median and </a:t>
            </a:r>
            <a:r>
              <a:rPr lang="en-US" dirty="0" err="1"/>
              <a:t>Quantiles</a:t>
            </a:r>
            <a:r>
              <a:rPr lang="en-US" dirty="0"/>
              <a:t>(Quartiles, Deciles and Percentiles)</a:t>
            </a:r>
          </a:p>
          <a:p>
            <a:pPr algn="just"/>
            <a:endParaRPr 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Mean : Arithmetic Mean</a:t>
            </a:r>
          </a:p>
        </p:txBody>
      </p:sp>
      <p:sp>
        <p:nvSpPr>
          <p:cNvPr id="3" name="Content Placeholder 2"/>
          <p:cNvSpPr>
            <a:spLocks noGrp="1"/>
          </p:cNvSpPr>
          <p:nvPr>
            <p:ph sz="quarter" idx="1"/>
          </p:nvPr>
        </p:nvSpPr>
        <p:spPr/>
        <p:txBody>
          <a:bodyPr>
            <a:normAutofit/>
          </a:bodyPr>
          <a:lstStyle/>
          <a:p>
            <a:pPr algn="just"/>
            <a:r>
              <a:rPr lang="en-US" dirty="0"/>
              <a:t>Simple arithmetic mean: </a:t>
            </a:r>
          </a:p>
          <a:p>
            <a:pPr algn="just"/>
            <a:r>
              <a:rPr lang="en-US" dirty="0"/>
              <a:t>The arithmetic mean is the simplest but most useful</a:t>
            </a:r>
          </a:p>
          <a:p>
            <a:pPr algn="just">
              <a:buNone/>
            </a:pPr>
            <a:r>
              <a:rPr lang="en-US" dirty="0"/>
              <a:t>	measure of central tendency. </a:t>
            </a:r>
          </a:p>
          <a:p>
            <a:pPr algn="just"/>
            <a:r>
              <a:rPr lang="en-US" dirty="0"/>
              <a:t>It is nothing but the 'average‘. It is defined as the sum of all observations divided by the total number of observations. </a:t>
            </a:r>
          </a:p>
          <a:p>
            <a:pPr algn="just"/>
            <a:r>
              <a:rPr lang="en-US" dirty="0"/>
              <a:t>The sample mean is denoted by x</a:t>
            </a:r>
            <a:r>
              <a:rPr lang="en-US" dirty="0">
                <a:latin typeface="Arial Unicode MS"/>
                <a:ea typeface="Arial Unicode MS"/>
                <a:cs typeface="Arial Unicode MS"/>
              </a:rPr>
              <a:t>̅</a:t>
            </a:r>
            <a:r>
              <a:rPr lang="en-US" dirty="0"/>
              <a:t> (read as X bar)</a:t>
            </a:r>
          </a:p>
          <a:p>
            <a:pPr algn="just"/>
            <a:r>
              <a:rPr lang="en-US" dirty="0"/>
              <a:t>While the population mean is represented by the Greek letter ,</a:t>
            </a:r>
            <a:r>
              <a:rPr lang="el-GR" dirty="0"/>
              <a:t>μ</a:t>
            </a:r>
            <a:r>
              <a:rPr lang="en-US"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Individual observations</a:t>
            </a:r>
          </a:p>
        </p:txBody>
      </p:sp>
      <p:sp>
        <p:nvSpPr>
          <p:cNvPr id="3" name="Content Placeholder 2"/>
          <p:cNvSpPr>
            <a:spLocks noGrp="1"/>
          </p:cNvSpPr>
          <p:nvPr>
            <p:ph sz="quarter" idx="1"/>
          </p:nvPr>
        </p:nvSpPr>
        <p:spPr/>
        <p:txBody>
          <a:bodyPr>
            <a:normAutofit/>
          </a:bodyPr>
          <a:lstStyle/>
          <a:p>
            <a:r>
              <a:rPr lang="en-US" dirty="0"/>
              <a:t>For a sample of n raw (individual) observations, X1, X2,…,</a:t>
            </a:r>
            <a:r>
              <a:rPr lang="en-US" dirty="0" err="1"/>
              <a:t>Xn</a:t>
            </a:r>
            <a:r>
              <a:rPr lang="en-US" dirty="0"/>
              <a:t>: </a:t>
            </a:r>
          </a:p>
          <a:p>
            <a:endParaRPr lang="en-US" dirty="0"/>
          </a:p>
          <a:p>
            <a:endParaRPr lang="en-US" dirty="0"/>
          </a:p>
          <a:p>
            <a:endParaRPr lang="en-US" dirty="0"/>
          </a:p>
          <a:p>
            <a:r>
              <a:rPr lang="en-US" dirty="0"/>
              <a:t>Example : Find the arithmetic mean of 2, 4 and 8.</a:t>
            </a:r>
          </a:p>
          <a:p>
            <a:endParaRPr lang="en-US" dirty="0"/>
          </a:p>
          <a:p>
            <a:endParaRPr lang="en-US" dirty="0"/>
          </a:p>
          <a:p>
            <a:pPr>
              <a:buNone/>
            </a:pPr>
            <a:endParaRPr lang="en-US" dirty="0"/>
          </a:p>
          <a:p>
            <a:endParaRPr lang="en-US" dirty="0"/>
          </a:p>
          <a:p>
            <a:endParaRPr lang="en-US" dirty="0"/>
          </a:p>
          <a:p>
            <a:endParaRPr lang="en-US" dirty="0"/>
          </a:p>
          <a:p>
            <a:endParaRPr lang="en-US" dirty="0"/>
          </a:p>
        </p:txBody>
      </p:sp>
      <p:pic>
        <p:nvPicPr>
          <p:cNvPr id="6" name="Picture 5"/>
          <p:cNvPicPr/>
          <p:nvPr/>
        </p:nvPicPr>
        <p:blipFill>
          <a:blip r:embed="rId2"/>
          <a:srcRect/>
          <a:stretch>
            <a:fillRect/>
          </a:stretch>
        </p:blipFill>
        <p:spPr bwMode="auto">
          <a:xfrm>
            <a:off x="457200" y="2438400"/>
            <a:ext cx="1514475" cy="733425"/>
          </a:xfrm>
          <a:prstGeom prst="rect">
            <a:avLst/>
          </a:prstGeom>
          <a:noFill/>
          <a:ln w="9525">
            <a:noFill/>
            <a:miter lim="800000"/>
            <a:headEnd/>
            <a:tailEnd/>
          </a:ln>
        </p:spPr>
      </p:pic>
      <p:pic>
        <p:nvPicPr>
          <p:cNvPr id="9" name="Picture 8"/>
          <p:cNvPicPr/>
          <p:nvPr/>
        </p:nvPicPr>
        <p:blipFill>
          <a:blip r:embed="rId3"/>
          <a:srcRect/>
          <a:stretch>
            <a:fillRect/>
          </a:stretch>
        </p:blipFill>
        <p:spPr bwMode="auto">
          <a:xfrm>
            <a:off x="609600" y="4419600"/>
            <a:ext cx="3343275" cy="9334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a:t>
            </a:r>
          </a:p>
        </p:txBody>
      </p:sp>
      <p:sp>
        <p:nvSpPr>
          <p:cNvPr id="3" name="Content Placeholder 2"/>
          <p:cNvSpPr>
            <a:spLocks noGrp="1"/>
          </p:cNvSpPr>
          <p:nvPr>
            <p:ph sz="quarter" idx="1"/>
          </p:nvPr>
        </p:nvSpPr>
        <p:spPr/>
        <p:txBody>
          <a:bodyPr/>
          <a:lstStyle/>
          <a:p>
            <a:pPr algn="just"/>
            <a:r>
              <a:rPr lang="en-US" dirty="0"/>
              <a:t>Mode is another measure of central tendency. It is a value of a particular type of items which occur most frequently. </a:t>
            </a:r>
          </a:p>
          <a:p>
            <a:pPr algn="just"/>
            <a:r>
              <a:rPr lang="en-US" dirty="0"/>
              <a:t>For instance if shoe size 7 has the maximum demand, size No. 7 is the modal value of shoe sizes. Mode is denoted by ^X . </a:t>
            </a:r>
          </a:p>
          <a:p>
            <a:pPr algn="just"/>
            <a:r>
              <a:rPr lang="en-US" dirty="0"/>
              <a:t>A data set may have one mode (</a:t>
            </a:r>
            <a:r>
              <a:rPr lang="en-US" dirty="0" err="1"/>
              <a:t>uni</a:t>
            </a:r>
            <a:r>
              <a:rPr lang="en-US" dirty="0"/>
              <a:t>-modal), two modes (bi-modal), more than two modes (multi-modal) or no mode at all (i.e. when all observations are equally frequent).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a:t>
            </a:r>
          </a:p>
        </p:txBody>
      </p:sp>
      <p:sp>
        <p:nvSpPr>
          <p:cNvPr id="3" name="Content Placeholder 2"/>
          <p:cNvSpPr>
            <a:spLocks noGrp="1"/>
          </p:cNvSpPr>
          <p:nvPr>
            <p:ph sz="quarter" idx="1"/>
          </p:nvPr>
        </p:nvSpPr>
        <p:spPr/>
        <p:txBody>
          <a:bodyPr/>
          <a:lstStyle/>
          <a:p>
            <a:pPr algn="just"/>
            <a:r>
              <a:rPr lang="en-US" dirty="0"/>
              <a:t>In ungrouped (individual series) cases, one can find mode by inspection. After arranging the data in ascending or descending order, the value appearing most frequently (the most frequent value) is taken as the modal value.</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a:t>
            </a:r>
          </a:p>
        </p:txBody>
      </p:sp>
      <p:sp>
        <p:nvSpPr>
          <p:cNvPr id="3" name="Content Placeholder 2"/>
          <p:cNvSpPr>
            <a:spLocks noGrp="1"/>
          </p:cNvSpPr>
          <p:nvPr>
            <p:ph sz="quarter" idx="1"/>
          </p:nvPr>
        </p:nvSpPr>
        <p:spPr/>
        <p:txBody>
          <a:bodyPr>
            <a:normAutofit fontScale="92500" lnSpcReduction="10000"/>
          </a:bodyPr>
          <a:lstStyle/>
          <a:p>
            <a:pPr algn="just"/>
            <a:r>
              <a:rPr lang="en-US" dirty="0"/>
              <a:t>Find the mode of the following data sets.</a:t>
            </a:r>
          </a:p>
          <a:p>
            <a:pPr algn="just"/>
            <a:r>
              <a:rPr lang="en-US" dirty="0"/>
              <a:t>a. 110, 113, 116, 116, 118, 118, 118, 121 and 123.</a:t>
            </a:r>
          </a:p>
          <a:p>
            <a:pPr algn="just"/>
            <a:r>
              <a:rPr lang="en-US" dirty="0"/>
              <a:t>Since 118 occurs more than other values, the mode is 118.</a:t>
            </a:r>
          </a:p>
          <a:p>
            <a:pPr algn="just"/>
            <a:r>
              <a:rPr lang="en-US" dirty="0"/>
              <a:t>2, 3, 5, 7 and 8.</a:t>
            </a:r>
          </a:p>
          <a:p>
            <a:pPr algn="just"/>
            <a:r>
              <a:rPr lang="en-US" dirty="0"/>
              <a:t>Each value occurs once (equally frequent), the data has no mode.</a:t>
            </a:r>
          </a:p>
          <a:p>
            <a:pPr algn="just"/>
            <a:r>
              <a:rPr lang="en-US" dirty="0"/>
              <a:t>15, 18, 18, 18, 20, 22, 24, 24, 24, 26 and 26</a:t>
            </a:r>
          </a:p>
          <a:p>
            <a:pPr algn="just"/>
            <a:r>
              <a:rPr lang="en-US" dirty="0"/>
              <a:t>18 and 24 occur three times, hence the modal values are 18 and 24 (bi-modal).</a:t>
            </a:r>
          </a:p>
          <a:p>
            <a:pPr algn="just"/>
            <a:r>
              <a:rPr lang="en-US" dirty="0"/>
              <a:t>5, 6, 6, 7, 9, 9, 10, 12 and 12.</a:t>
            </a:r>
          </a:p>
          <a:p>
            <a:pPr algn="just"/>
            <a:r>
              <a:rPr lang="it-IT" dirty="0"/>
              <a:t>Tri-modal (multi-modal): 6, 9 and 12.</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Median</a:t>
            </a:r>
          </a:p>
        </p:txBody>
      </p:sp>
      <p:sp>
        <p:nvSpPr>
          <p:cNvPr id="3" name="Content Placeholder 2"/>
          <p:cNvSpPr>
            <a:spLocks noGrp="1"/>
          </p:cNvSpPr>
          <p:nvPr>
            <p:ph sz="quarter" idx="1"/>
          </p:nvPr>
        </p:nvSpPr>
        <p:spPr/>
        <p:txBody>
          <a:bodyPr/>
          <a:lstStyle/>
          <a:p>
            <a:r>
              <a:rPr lang="en-US" dirty="0"/>
              <a:t>Median is the half way point in a data set. </a:t>
            </a:r>
          </a:p>
          <a:p>
            <a:r>
              <a:rPr lang="en-US" dirty="0"/>
              <a:t>It divides a data set into two equal parts</a:t>
            </a:r>
          </a:p>
          <a:p>
            <a:r>
              <a:rPr lang="en-US" dirty="0"/>
              <a:t>such that half of the numbers have a value less than the median and </a:t>
            </a:r>
          </a:p>
          <a:p>
            <a:r>
              <a:rPr lang="en-US" dirty="0"/>
              <a:t>half will have values greater than the median.</a:t>
            </a:r>
          </a:p>
          <a:p>
            <a:pPr algn="just"/>
            <a:r>
              <a:rPr lang="en-US" dirty="0"/>
              <a:t>Graphically, median is located at the intersection point of the less than and more than cumulative frequency curves.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Median</a:t>
            </a:r>
          </a:p>
        </p:txBody>
      </p:sp>
      <p:sp>
        <p:nvSpPr>
          <p:cNvPr id="3" name="Content Placeholder 2"/>
          <p:cNvSpPr>
            <a:spLocks noGrp="1"/>
          </p:cNvSpPr>
          <p:nvPr>
            <p:ph sz="quarter" idx="1"/>
          </p:nvPr>
        </p:nvSpPr>
        <p:spPr/>
        <p:txBody>
          <a:bodyPr/>
          <a:lstStyle/>
          <a:p>
            <a:pPr algn="just"/>
            <a:r>
              <a:rPr lang="en-US" dirty="0"/>
              <a:t>The median (denoted by </a:t>
            </a:r>
            <a:r>
              <a:rPr lang="en-US" dirty="0">
                <a:latin typeface="Arial Unicode MS"/>
                <a:ea typeface="Arial Unicode MS"/>
                <a:cs typeface="Arial Unicode MS"/>
              </a:rPr>
              <a:t> ˜</a:t>
            </a:r>
            <a:r>
              <a:rPr lang="en-US" dirty="0"/>
              <a:t>X ) of a set of n observations X1, X2,…,</a:t>
            </a:r>
            <a:r>
              <a:rPr lang="en-US" dirty="0" err="1"/>
              <a:t>Xn</a:t>
            </a:r>
            <a:r>
              <a:rPr lang="en-US" dirty="0"/>
              <a:t>, arranged in ascending or descending order of magnitude is the middle value if n is odd or the arithmetic mean of the two middle values if n is even. </a:t>
            </a:r>
          </a:p>
          <a:p>
            <a:pPr algn="just"/>
            <a:r>
              <a:rPr lang="en-US" dirty="0"/>
              <a:t>That is:</a:t>
            </a:r>
          </a:p>
          <a:p>
            <a:endParaRPr lang="en-US" dirty="0"/>
          </a:p>
        </p:txBody>
      </p:sp>
      <p:pic>
        <p:nvPicPr>
          <p:cNvPr id="4" name="Picture 3"/>
          <p:cNvPicPr/>
          <p:nvPr/>
        </p:nvPicPr>
        <p:blipFill>
          <a:blip r:embed="rId2"/>
          <a:srcRect/>
          <a:stretch>
            <a:fillRect/>
          </a:stretch>
        </p:blipFill>
        <p:spPr bwMode="auto">
          <a:xfrm>
            <a:off x="228600" y="4572000"/>
            <a:ext cx="5410200" cy="16002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Median</a:t>
            </a:r>
          </a:p>
        </p:txBody>
      </p:sp>
      <p:sp>
        <p:nvSpPr>
          <p:cNvPr id="3" name="Content Placeholder 2"/>
          <p:cNvSpPr>
            <a:spLocks noGrp="1"/>
          </p:cNvSpPr>
          <p:nvPr>
            <p:ph sz="quarter" idx="1"/>
          </p:nvPr>
        </p:nvSpPr>
        <p:spPr>
          <a:solidFill>
            <a:schemeClr val="bg1"/>
          </a:solidFill>
        </p:spPr>
        <p:txBody>
          <a:bodyPr/>
          <a:lstStyle/>
          <a:p>
            <a:r>
              <a:rPr lang="en-US" dirty="0"/>
              <a:t>Find the median of the following two data sets:</a:t>
            </a:r>
          </a:p>
          <a:p>
            <a:r>
              <a:rPr lang="en-US" dirty="0"/>
              <a:t>a. 180, 201, 220, 191, 219, 209 and 220.</a:t>
            </a:r>
          </a:p>
          <a:p>
            <a:r>
              <a:rPr lang="en-US" dirty="0"/>
              <a:t>b. 62, 63, 64, 65, 66, 66, 68 and 78</a:t>
            </a:r>
          </a:p>
          <a:p>
            <a:r>
              <a:rPr lang="en-US" dirty="0"/>
              <a:t>Using the formula for raw data:</a:t>
            </a:r>
          </a:p>
          <a:p>
            <a:r>
              <a:rPr lang="en-US" dirty="0"/>
              <a:t>a. 4th value=209</a:t>
            </a:r>
          </a:p>
          <a:p>
            <a:r>
              <a:rPr lang="en-US" dirty="0"/>
              <a:t>b. (4th value + 5th value)/2=(65+66)/2=65.5</a:t>
            </a:r>
          </a:p>
          <a:p>
            <a:endParaRPr lang="en-US" dirty="0">
              <a:solidFill>
                <a:schemeClr val="bg1"/>
              </a:solidFill>
            </a:endParaRPr>
          </a:p>
          <a:p>
            <a:r>
              <a:rPr lang="en-US" dirty="0"/>
              <a:t>180,191,201,209,219,220,220 </a:t>
            </a:r>
          </a:p>
          <a:p>
            <a:r>
              <a:rPr lang="en-US" dirty="0"/>
              <a:t>a. 4th value=209</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Measures of Location : </a:t>
            </a:r>
            <a:r>
              <a:rPr lang="en-US" dirty="0" err="1"/>
              <a:t>Quantiles</a:t>
            </a:r>
            <a:endParaRPr lang="en-US" dirty="0"/>
          </a:p>
        </p:txBody>
      </p:sp>
      <p:sp>
        <p:nvSpPr>
          <p:cNvPr id="3" name="Content Placeholder 2"/>
          <p:cNvSpPr>
            <a:spLocks noGrp="1"/>
          </p:cNvSpPr>
          <p:nvPr>
            <p:ph sz="quarter" idx="1"/>
          </p:nvPr>
        </p:nvSpPr>
        <p:spPr/>
        <p:txBody>
          <a:bodyPr/>
          <a:lstStyle/>
          <a:p>
            <a:pPr algn="just"/>
            <a:r>
              <a:rPr lang="en-US" dirty="0"/>
              <a:t>Median divides a given data set into two equal parts. </a:t>
            </a:r>
          </a:p>
          <a:p>
            <a:pPr algn="just"/>
            <a:r>
              <a:rPr lang="en-US" dirty="0"/>
              <a:t>There are also other positional measures that divide a given data set into more than two equal parts.</a:t>
            </a:r>
          </a:p>
          <a:p>
            <a:pPr algn="just"/>
            <a:r>
              <a:rPr lang="en-US" dirty="0"/>
              <a:t>These measures are collectively known as </a:t>
            </a:r>
            <a:r>
              <a:rPr lang="en-US" dirty="0" err="1"/>
              <a:t>quantiles</a:t>
            </a:r>
            <a:r>
              <a:rPr lang="en-US" dirty="0"/>
              <a:t>. </a:t>
            </a:r>
          </a:p>
          <a:p>
            <a:pPr algn="just"/>
            <a:r>
              <a:rPr lang="en-US" dirty="0" err="1"/>
              <a:t>Quantiles</a:t>
            </a:r>
            <a:r>
              <a:rPr lang="en-US" dirty="0"/>
              <a:t> include quartiles, deciles and percentiles.</a:t>
            </a:r>
          </a:p>
          <a:p>
            <a:pPr algn="just"/>
            <a:r>
              <a:rPr lang="en-US" dirty="0"/>
              <a:t>For all of these measures, first, the data should be arranged in ascending order.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Quartiles</a:t>
            </a:r>
          </a:p>
        </p:txBody>
      </p:sp>
      <p:sp>
        <p:nvSpPr>
          <p:cNvPr id="3" name="Content Placeholder 2"/>
          <p:cNvSpPr>
            <a:spLocks noGrp="1"/>
          </p:cNvSpPr>
          <p:nvPr>
            <p:ph sz="quarter" idx="1"/>
          </p:nvPr>
        </p:nvSpPr>
        <p:spPr/>
        <p:txBody>
          <a:bodyPr/>
          <a:lstStyle/>
          <a:p>
            <a:pPr algn="just"/>
            <a:r>
              <a:rPr lang="en-US" dirty="0"/>
              <a:t>Quartiles are values that divide a data set into four equal parts. </a:t>
            </a:r>
          </a:p>
          <a:p>
            <a:pPr algn="just"/>
            <a:r>
              <a:rPr lang="en-US" dirty="0"/>
              <a:t>These values are denoted by Q1, Q2 and Q3 such that 25% of the data fall below Q1, 50% below Q2 and 75% below Q3.</a:t>
            </a:r>
          </a:p>
          <a:p>
            <a:pPr algn="just"/>
            <a:r>
              <a:rPr lang="en-US" dirty="0"/>
              <a:t>Let </a:t>
            </a:r>
            <a:r>
              <a:rPr lang="en-US" dirty="0" err="1"/>
              <a:t>Qi</a:t>
            </a:r>
            <a:r>
              <a:rPr lang="en-US" dirty="0"/>
              <a:t> be the </a:t>
            </a:r>
            <a:r>
              <a:rPr lang="en-US" dirty="0" err="1"/>
              <a:t>ith</a:t>
            </a:r>
            <a:r>
              <a:rPr lang="en-US" dirty="0"/>
              <a:t> quartile (</a:t>
            </a:r>
            <a:r>
              <a:rPr lang="en-US" dirty="0" err="1"/>
              <a:t>i</a:t>
            </a:r>
            <a:r>
              <a:rPr lang="en-US" dirty="0"/>
              <a:t> = 1; 2; 3), then </a:t>
            </a:r>
          </a:p>
        </p:txBody>
      </p:sp>
      <p:pic>
        <p:nvPicPr>
          <p:cNvPr id="4" name="Picture 3"/>
          <p:cNvPicPr/>
          <p:nvPr/>
        </p:nvPicPr>
        <p:blipFill>
          <a:blip r:embed="rId2"/>
          <a:srcRect/>
          <a:stretch>
            <a:fillRect/>
          </a:stretch>
        </p:blipFill>
        <p:spPr bwMode="auto">
          <a:xfrm>
            <a:off x="762000" y="4191000"/>
            <a:ext cx="4572000" cy="15240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Quartiles</a:t>
            </a:r>
          </a:p>
        </p:txBody>
      </p:sp>
      <p:pic>
        <p:nvPicPr>
          <p:cNvPr id="1026" name="Picture 2"/>
          <p:cNvPicPr>
            <a:picLocks noGrp="1" noChangeAspect="1" noChangeArrowheads="1"/>
          </p:cNvPicPr>
          <p:nvPr>
            <p:ph sz="quarter" idx="1"/>
          </p:nvPr>
        </p:nvPicPr>
        <p:blipFill>
          <a:blip r:embed="rId2"/>
          <a:srcRect/>
          <a:stretch>
            <a:fillRect/>
          </a:stretch>
        </p:blipFill>
        <p:spPr bwMode="auto">
          <a:xfrm>
            <a:off x="566737" y="2603500"/>
            <a:ext cx="7248525" cy="2867025"/>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Quartiles</a:t>
            </a:r>
          </a:p>
        </p:txBody>
      </p:sp>
      <p:pic>
        <p:nvPicPr>
          <p:cNvPr id="1026" name="Picture 2" descr="C:\Users\HOD_IT\Desktop\median-quartiles.png"/>
          <p:cNvPicPr>
            <a:picLocks noGrp="1" noChangeAspect="1" noChangeArrowheads="1"/>
          </p:cNvPicPr>
          <p:nvPr>
            <p:ph sz="quarter" idx="1"/>
          </p:nvPr>
        </p:nvPicPr>
        <p:blipFill>
          <a:blip r:embed="rId2"/>
          <a:srcRect/>
          <a:stretch>
            <a:fillRect/>
          </a:stretch>
        </p:blipFill>
        <p:spPr bwMode="auto">
          <a:xfrm>
            <a:off x="1071870" y="1969830"/>
            <a:ext cx="6963747" cy="368669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Quartiles</a:t>
            </a:r>
          </a:p>
        </p:txBody>
      </p:sp>
      <p:sp>
        <p:nvSpPr>
          <p:cNvPr id="3" name="Content Placeholder 2"/>
          <p:cNvSpPr>
            <a:spLocks noGrp="1"/>
          </p:cNvSpPr>
          <p:nvPr>
            <p:ph sz="quarter" idx="1"/>
          </p:nvPr>
        </p:nvSpPr>
        <p:spPr/>
        <p:txBody>
          <a:bodyPr/>
          <a:lstStyle/>
          <a:p>
            <a:r>
              <a:rPr lang="en-US" dirty="0"/>
              <a:t>Given the data: 420, 430, 435, 438, 441, 449, 490, 500, 510 and 515. Find all the quartiles.</a:t>
            </a:r>
          </a:p>
          <a:p>
            <a:endParaRPr lang="en-US" dirty="0"/>
          </a:p>
          <a:p>
            <a:endParaRPr lang="en-US" dirty="0"/>
          </a:p>
        </p:txBody>
      </p:sp>
      <p:pic>
        <p:nvPicPr>
          <p:cNvPr id="6" name="Picture 5"/>
          <p:cNvPicPr/>
          <p:nvPr/>
        </p:nvPicPr>
        <p:blipFill>
          <a:blip r:embed="rId2"/>
          <a:srcRect/>
          <a:stretch>
            <a:fillRect/>
          </a:stretch>
        </p:blipFill>
        <p:spPr bwMode="auto">
          <a:xfrm>
            <a:off x="838200" y="2971800"/>
            <a:ext cx="7315200" cy="35052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Deciles</a:t>
            </a:r>
          </a:p>
        </p:txBody>
      </p:sp>
      <p:sp>
        <p:nvSpPr>
          <p:cNvPr id="3" name="Content Placeholder 2"/>
          <p:cNvSpPr>
            <a:spLocks noGrp="1"/>
          </p:cNvSpPr>
          <p:nvPr>
            <p:ph sz="quarter" idx="1"/>
          </p:nvPr>
        </p:nvSpPr>
        <p:spPr/>
        <p:txBody>
          <a:bodyPr/>
          <a:lstStyle/>
          <a:p>
            <a:pPr algn="just"/>
            <a:r>
              <a:rPr lang="en-US" dirty="0"/>
              <a:t>Deciles are values that divide the data into ten equal parts. </a:t>
            </a:r>
          </a:p>
          <a:p>
            <a:pPr algn="just"/>
            <a:r>
              <a:rPr lang="en-US" dirty="0"/>
              <a:t>These values are denoted by D1, D2,…, D9 such that 10% of the data fall below D1, 20% below D2,    , 90% below D9.</a:t>
            </a:r>
          </a:p>
          <a:p>
            <a:pPr algn="just"/>
            <a:r>
              <a:rPr lang="en-US" dirty="0"/>
              <a:t>Let Di be the </a:t>
            </a:r>
            <a:r>
              <a:rPr lang="en-US" dirty="0" err="1"/>
              <a:t>ith</a:t>
            </a:r>
            <a:r>
              <a:rPr lang="en-US" dirty="0"/>
              <a:t> </a:t>
            </a:r>
            <a:r>
              <a:rPr lang="en-US" dirty="0" err="1"/>
              <a:t>decile</a:t>
            </a:r>
            <a:r>
              <a:rPr lang="en-US" dirty="0"/>
              <a:t> (</a:t>
            </a:r>
            <a:r>
              <a:rPr lang="en-US" dirty="0" err="1"/>
              <a:t>i</a:t>
            </a:r>
            <a:r>
              <a:rPr lang="en-US" dirty="0"/>
              <a:t> = 1, 2,…, 9), then</a:t>
            </a:r>
          </a:p>
          <a:p>
            <a:pPr algn="just"/>
            <a:endParaRPr lang="en-US" dirty="0"/>
          </a:p>
        </p:txBody>
      </p:sp>
      <p:pic>
        <p:nvPicPr>
          <p:cNvPr id="4" name="Picture 3"/>
          <p:cNvPicPr/>
          <p:nvPr/>
        </p:nvPicPr>
        <p:blipFill>
          <a:blip r:embed="rId2"/>
          <a:srcRect/>
          <a:stretch>
            <a:fillRect/>
          </a:stretch>
        </p:blipFill>
        <p:spPr bwMode="auto">
          <a:xfrm>
            <a:off x="914400" y="4114800"/>
            <a:ext cx="2047875" cy="6096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Deciles</a:t>
            </a:r>
          </a:p>
        </p:txBody>
      </p:sp>
      <p:pic>
        <p:nvPicPr>
          <p:cNvPr id="2050" name="Picture 2"/>
          <p:cNvPicPr>
            <a:picLocks noGrp="1" noChangeAspect="1" noChangeArrowheads="1"/>
          </p:cNvPicPr>
          <p:nvPr>
            <p:ph sz="quarter" idx="1"/>
          </p:nvPr>
        </p:nvPicPr>
        <p:blipFill>
          <a:blip r:embed="rId2"/>
          <a:srcRect/>
          <a:stretch>
            <a:fillRect/>
          </a:stretch>
        </p:blipFill>
        <p:spPr bwMode="auto">
          <a:xfrm>
            <a:off x="533400" y="2209800"/>
            <a:ext cx="7467600" cy="3076472"/>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Deciles</a:t>
            </a:r>
          </a:p>
        </p:txBody>
      </p:sp>
      <p:sp>
        <p:nvSpPr>
          <p:cNvPr id="3" name="Content Placeholder 2"/>
          <p:cNvSpPr>
            <a:spLocks noGrp="1"/>
          </p:cNvSpPr>
          <p:nvPr>
            <p:ph sz="quarter" idx="1"/>
          </p:nvPr>
        </p:nvSpPr>
        <p:spPr/>
        <p:txBody>
          <a:bodyPr/>
          <a:lstStyle/>
          <a:p>
            <a:r>
              <a:rPr lang="en-US" dirty="0"/>
              <a:t>Given the data: 420, 430, 435, 438, 441, 449, 490, 500, 510 and 515. Find the 1st and 7th deciles.</a:t>
            </a:r>
          </a:p>
          <a:p>
            <a:endParaRPr lang="en-US" dirty="0"/>
          </a:p>
        </p:txBody>
      </p:sp>
      <p:pic>
        <p:nvPicPr>
          <p:cNvPr id="4" name="Picture 3"/>
          <p:cNvPicPr/>
          <p:nvPr/>
        </p:nvPicPr>
        <p:blipFill>
          <a:blip r:embed="rId2"/>
          <a:srcRect/>
          <a:stretch>
            <a:fillRect/>
          </a:stretch>
        </p:blipFill>
        <p:spPr bwMode="auto">
          <a:xfrm>
            <a:off x="304800" y="2743200"/>
            <a:ext cx="7086600" cy="3026788"/>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Percentiles</a:t>
            </a:r>
          </a:p>
        </p:txBody>
      </p:sp>
      <p:sp>
        <p:nvSpPr>
          <p:cNvPr id="3" name="Content Placeholder 2"/>
          <p:cNvSpPr>
            <a:spLocks noGrp="1"/>
          </p:cNvSpPr>
          <p:nvPr>
            <p:ph sz="quarter" idx="1"/>
          </p:nvPr>
        </p:nvSpPr>
        <p:spPr/>
        <p:txBody>
          <a:bodyPr/>
          <a:lstStyle/>
          <a:p>
            <a:pPr algn="just"/>
            <a:r>
              <a:rPr lang="en-US" dirty="0"/>
              <a:t>Percentiles are values that divide a data set into 100 equal parts. These values are denoted by P1, P2,…, P99.</a:t>
            </a:r>
          </a:p>
          <a:p>
            <a:pPr algn="just"/>
            <a:r>
              <a:rPr lang="en-US" dirty="0"/>
              <a:t>Let Pi be the </a:t>
            </a:r>
            <a:r>
              <a:rPr lang="en-US" dirty="0" err="1"/>
              <a:t>ith</a:t>
            </a:r>
            <a:r>
              <a:rPr lang="en-US" dirty="0"/>
              <a:t> percentile (</a:t>
            </a:r>
            <a:r>
              <a:rPr lang="en-US" dirty="0" err="1"/>
              <a:t>i</a:t>
            </a:r>
            <a:r>
              <a:rPr lang="en-US" dirty="0"/>
              <a:t> = 1, 2,…, 99), then</a:t>
            </a:r>
          </a:p>
          <a:p>
            <a:endParaRPr lang="en-US" dirty="0"/>
          </a:p>
          <a:p>
            <a:endParaRPr lang="en-US" dirty="0"/>
          </a:p>
          <a:p>
            <a:endParaRPr lang="en-US" dirty="0"/>
          </a:p>
        </p:txBody>
      </p:sp>
      <p:pic>
        <p:nvPicPr>
          <p:cNvPr id="5" name="Picture 4"/>
          <p:cNvPicPr/>
          <p:nvPr/>
        </p:nvPicPr>
        <p:blipFill>
          <a:blip r:embed="rId2"/>
          <a:srcRect/>
          <a:stretch>
            <a:fillRect/>
          </a:stretch>
        </p:blipFill>
        <p:spPr bwMode="auto">
          <a:xfrm>
            <a:off x="990600" y="3429000"/>
            <a:ext cx="2085975" cy="63817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Percentiles</a:t>
            </a:r>
          </a:p>
        </p:txBody>
      </p:sp>
      <p:sp>
        <p:nvSpPr>
          <p:cNvPr id="3" name="Content Placeholder 2"/>
          <p:cNvSpPr>
            <a:spLocks noGrp="1"/>
          </p:cNvSpPr>
          <p:nvPr>
            <p:ph sz="quarter" idx="1"/>
          </p:nvPr>
        </p:nvSpPr>
        <p:spPr/>
        <p:txBody>
          <a:bodyPr/>
          <a:lstStyle/>
          <a:p>
            <a:r>
              <a:rPr lang="en-US" dirty="0"/>
              <a:t>Given the data: 420, 430, 435, 438, 441, 449, 490, 500, 510 and 515. Find the 40th and 75th percentiles.</a:t>
            </a:r>
          </a:p>
          <a:p>
            <a:endParaRPr lang="en-US" dirty="0"/>
          </a:p>
        </p:txBody>
      </p:sp>
      <p:pic>
        <p:nvPicPr>
          <p:cNvPr id="5" name="Content Placeholder 3"/>
          <p:cNvPicPr>
            <a:picLocks/>
          </p:cNvPicPr>
          <p:nvPr/>
        </p:nvPicPr>
        <p:blipFill>
          <a:blip r:embed="rId2"/>
          <a:srcRect/>
          <a:stretch>
            <a:fillRect/>
          </a:stretch>
        </p:blipFill>
        <p:spPr bwMode="auto">
          <a:xfrm>
            <a:off x="457200" y="3092640"/>
            <a:ext cx="7467600" cy="1888744"/>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Relationship between Median, Quartiles, Deciles and Percentiles</a:t>
            </a:r>
          </a:p>
        </p:txBody>
      </p:sp>
      <p:pic>
        <p:nvPicPr>
          <p:cNvPr id="4" name="Content Placeholder 3"/>
          <p:cNvPicPr>
            <a:picLocks noGrp="1"/>
          </p:cNvPicPr>
          <p:nvPr>
            <p:ph sz="quarter" idx="1"/>
          </p:nvPr>
        </p:nvPicPr>
        <p:blipFill>
          <a:blip r:embed="rId2"/>
          <a:srcRect/>
          <a:stretch>
            <a:fillRect/>
          </a:stretch>
        </p:blipFill>
        <p:spPr bwMode="auto">
          <a:xfrm>
            <a:off x="685800" y="1676400"/>
            <a:ext cx="5233547" cy="1905469"/>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Variation</a:t>
            </a:r>
          </a:p>
        </p:txBody>
      </p:sp>
      <p:sp>
        <p:nvSpPr>
          <p:cNvPr id="3" name="Content Placeholder 2"/>
          <p:cNvSpPr>
            <a:spLocks noGrp="1"/>
          </p:cNvSpPr>
          <p:nvPr>
            <p:ph sz="quarter" idx="1"/>
          </p:nvPr>
        </p:nvSpPr>
        <p:spPr/>
        <p:txBody>
          <a:bodyPr>
            <a:normAutofit/>
          </a:bodyPr>
          <a:lstStyle/>
          <a:p>
            <a:pPr algn="just"/>
            <a:r>
              <a:rPr lang="en-US" dirty="0"/>
              <a:t>In the previous topic , we concentrated on central values (measures of central tendency), which gives an idea of the whole mass, that is, a complete set of values</a:t>
            </a:r>
          </a:p>
          <a:p>
            <a:pPr algn="just"/>
            <a:r>
              <a:rPr lang="en-US" dirty="0"/>
              <a:t>However, the information so obtained is neither exhaustive nor comprehensive, </a:t>
            </a:r>
          </a:p>
          <a:p>
            <a:pPr algn="just"/>
            <a:r>
              <a:rPr lang="en-US" dirty="0"/>
              <a:t>these measures do not reveal how the values are spread (dispersed or scattered) on each side of the central value.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dirty="0"/>
              <a:t>as the mean does not lead us to know whether the observations are close to each other or far apart.</a:t>
            </a:r>
          </a:p>
          <a:p>
            <a:pPr algn="just"/>
            <a:r>
              <a:rPr lang="en-US" dirty="0"/>
              <a:t>Median is a positional average and has nothing to do with the variability of the observations in a data set.</a:t>
            </a:r>
          </a:p>
          <a:p>
            <a:pPr algn="just"/>
            <a:r>
              <a:rPr lang="en-US" dirty="0"/>
              <a:t> This leads as to conclude that a measure of central tendency is not enough to have a clear idea about the data unless all observations are the same. </a:t>
            </a:r>
          </a:p>
          <a:p>
            <a:pPr algn="just"/>
            <a:r>
              <a:rPr lang="en-US" dirty="0"/>
              <a:t>Moreover, two or more data sets may have the same mean and/or median but they may be quite different.</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central tendency</a:t>
            </a:r>
          </a:p>
        </p:txBody>
      </p:sp>
      <p:sp>
        <p:nvSpPr>
          <p:cNvPr id="3" name="Content Placeholder 2"/>
          <p:cNvSpPr>
            <a:spLocks noGrp="1"/>
          </p:cNvSpPr>
          <p:nvPr>
            <p:ph sz="quarter" idx="1"/>
          </p:nvPr>
        </p:nvSpPr>
        <p:spPr/>
        <p:txBody>
          <a:bodyPr/>
          <a:lstStyle/>
          <a:p>
            <a:r>
              <a:rPr lang="en-US" dirty="0"/>
              <a:t>The following table displays the price of a certain commodity in four cities. Find the mean and median prices of the four cities and interpret it.</a:t>
            </a:r>
          </a:p>
          <a:p>
            <a:endParaRPr lang="en-US" dirty="0"/>
          </a:p>
        </p:txBody>
      </p:sp>
      <p:pic>
        <p:nvPicPr>
          <p:cNvPr id="4" name="Picture 3"/>
          <p:cNvPicPr/>
          <p:nvPr/>
        </p:nvPicPr>
        <p:blipFill>
          <a:blip r:embed="rId2"/>
          <a:srcRect/>
          <a:stretch>
            <a:fillRect/>
          </a:stretch>
        </p:blipFill>
        <p:spPr bwMode="auto">
          <a:xfrm>
            <a:off x="533400" y="2819400"/>
            <a:ext cx="3500438" cy="2071688"/>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central tendency</a:t>
            </a:r>
          </a:p>
        </p:txBody>
      </p:sp>
      <p:sp>
        <p:nvSpPr>
          <p:cNvPr id="3" name="Content Placeholder 2"/>
          <p:cNvSpPr>
            <a:spLocks noGrp="1"/>
          </p:cNvSpPr>
          <p:nvPr>
            <p:ph sz="quarter" idx="1"/>
          </p:nvPr>
        </p:nvSpPr>
        <p:spPr/>
        <p:txBody>
          <a:bodyPr/>
          <a:lstStyle/>
          <a:p>
            <a:pPr algn="just"/>
            <a:r>
              <a:rPr lang="en-US" dirty="0"/>
              <a:t>All the four data sets have mean 30 and median is also 30. </a:t>
            </a:r>
          </a:p>
          <a:p>
            <a:pPr algn="just"/>
            <a:r>
              <a:rPr lang="en-US" dirty="0"/>
              <a:t>But by inspection it is apparent that the four data sets differ remarkably from one another. </a:t>
            </a:r>
          </a:p>
          <a:p>
            <a:pPr algn="just"/>
            <a:r>
              <a:rPr lang="en-US" dirty="0"/>
              <a:t>So measures of central tendency alone do not provide enough information about the nature of the data. </a:t>
            </a:r>
          </a:p>
          <a:p>
            <a:pPr algn="just"/>
            <a:r>
              <a:rPr lang="en-US" dirty="0"/>
              <a:t>Thus, to have a clear picture of the data, one needs to have a measure of dispersion or variability among observations in the data set.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of dispersion</a:t>
            </a:r>
          </a:p>
        </p:txBody>
      </p:sp>
      <p:sp>
        <p:nvSpPr>
          <p:cNvPr id="3" name="Content Placeholder 2"/>
          <p:cNvSpPr>
            <a:spLocks noGrp="1"/>
          </p:cNvSpPr>
          <p:nvPr>
            <p:ph sz="quarter" idx="1"/>
          </p:nvPr>
        </p:nvSpPr>
        <p:spPr/>
        <p:txBody>
          <a:bodyPr/>
          <a:lstStyle/>
          <a:p>
            <a:pPr algn="just"/>
            <a:r>
              <a:rPr lang="en-US" dirty="0"/>
              <a:t>Variation or dispersion may be defined as the extent of </a:t>
            </a:r>
            <a:r>
              <a:rPr lang="en-US" dirty="0" err="1"/>
              <a:t>scatteredness</a:t>
            </a:r>
            <a:r>
              <a:rPr lang="en-US" dirty="0"/>
              <a:t> of value around the measures of central tendency. </a:t>
            </a:r>
          </a:p>
          <a:p>
            <a:pPr algn="just"/>
            <a:r>
              <a:rPr lang="en-US" dirty="0"/>
              <a:t>Thus, a measure of dispersion tells us the extent to which the values of a variable vary about the measure of central tendency.</a:t>
            </a:r>
          </a:p>
          <a:p>
            <a:pPr algn="just"/>
            <a:r>
              <a:rPr lang="en-US" dirty="0"/>
              <a:t>Dispersion is the amount of variation, scatter or spread in data. A measure of dispersion is a value which indicates the degree of variability of data.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Measures of Variation</a:t>
            </a:r>
          </a:p>
        </p:txBody>
      </p:sp>
      <p:sp>
        <p:nvSpPr>
          <p:cNvPr id="3" name="Content Placeholder 2"/>
          <p:cNvSpPr>
            <a:spLocks noGrp="1"/>
          </p:cNvSpPr>
          <p:nvPr>
            <p:ph sz="quarter" idx="1"/>
          </p:nvPr>
        </p:nvSpPr>
        <p:spPr/>
        <p:txBody>
          <a:bodyPr/>
          <a:lstStyle/>
          <a:p>
            <a:pPr algn="just"/>
            <a:r>
              <a:rPr lang="en-US" dirty="0"/>
              <a:t>To have an idea about the reliability of the measures of central tendency.</a:t>
            </a:r>
          </a:p>
          <a:p>
            <a:pPr algn="just"/>
            <a:r>
              <a:rPr lang="en-US" dirty="0"/>
              <a:t>To compare two or more sets of data with regard to their variability.</a:t>
            </a:r>
          </a:p>
          <a:p>
            <a:pPr algn="just"/>
            <a:r>
              <a:rPr lang="en-US" dirty="0"/>
              <a:t>To provide information about the structure of the data.</a:t>
            </a:r>
          </a:p>
          <a:p>
            <a:pPr algn="just"/>
            <a:r>
              <a:rPr lang="en-US" dirty="0"/>
              <a:t>To pave way to the use of other statistical measures.</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Measures of Variation</a:t>
            </a:r>
          </a:p>
        </p:txBody>
      </p:sp>
      <p:sp>
        <p:nvSpPr>
          <p:cNvPr id="3" name="Content Placeholder 2"/>
          <p:cNvSpPr>
            <a:spLocks noGrp="1"/>
          </p:cNvSpPr>
          <p:nvPr>
            <p:ph sz="quarter" idx="1"/>
          </p:nvPr>
        </p:nvSpPr>
        <p:spPr/>
        <p:txBody>
          <a:bodyPr/>
          <a:lstStyle/>
          <a:p>
            <a:pPr algn="just"/>
            <a:r>
              <a:rPr lang="en-US" b="1" dirty="0"/>
              <a:t>Absolute Measures of Variation: </a:t>
            </a:r>
            <a:r>
              <a:rPr lang="en-US" dirty="0"/>
              <a:t>It shows the actual amount of variation of an item from a measure of central tendency and are expressed in concrete units in which the data have been expressed.</a:t>
            </a:r>
          </a:p>
          <a:p>
            <a:pPr algn="just"/>
            <a:r>
              <a:rPr lang="en-US" dirty="0"/>
              <a:t>Range, Quartile Deviation, Mean Deviation, Variance and Standard Deviation.</a:t>
            </a:r>
          </a:p>
          <a:p>
            <a:pPr algn="just"/>
            <a:endParaRPr lang="en-US"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Measures of Variation</a:t>
            </a:r>
          </a:p>
        </p:txBody>
      </p:sp>
      <p:sp>
        <p:nvSpPr>
          <p:cNvPr id="3" name="Content Placeholder 2"/>
          <p:cNvSpPr>
            <a:spLocks noGrp="1"/>
          </p:cNvSpPr>
          <p:nvPr>
            <p:ph sz="quarter" idx="1"/>
          </p:nvPr>
        </p:nvSpPr>
        <p:spPr/>
        <p:txBody>
          <a:bodyPr/>
          <a:lstStyle/>
          <a:p>
            <a:pPr algn="just"/>
            <a:r>
              <a:rPr lang="en-US" b="1" dirty="0"/>
              <a:t>Relative Measures of Variation: </a:t>
            </a:r>
            <a:r>
              <a:rPr lang="en-US" dirty="0"/>
              <a:t>It is </a:t>
            </a:r>
            <a:r>
              <a:rPr lang="en-US"/>
              <a:t>the </a:t>
            </a:r>
            <a:r>
              <a:rPr lang="en-US" smtClean="0"/>
              <a:t>quotient obtained </a:t>
            </a:r>
            <a:r>
              <a:rPr lang="en-US" dirty="0"/>
              <a:t>by dividing the absolute measure by a quantity in respect to which absolute deviation has been computed. It is a unit less pure number and used for making comparisons between different distributions.</a:t>
            </a:r>
          </a:p>
          <a:p>
            <a:pPr algn="just"/>
            <a:r>
              <a:rPr lang="en-US" dirty="0"/>
              <a:t>Coefficient of Range, Coefficient of Quartile Deviation, Coefficient of Mean Deviation, Coefficient of Variation, Standard Scores.</a:t>
            </a:r>
          </a:p>
          <a:p>
            <a:pPr>
              <a:buNone/>
            </a:pPr>
            <a:endParaRPr lang="en-US" dirty="0"/>
          </a:p>
          <a:p>
            <a:endParaRPr lang="en-US" dirty="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Variation or Deviation</a:t>
            </a:r>
          </a:p>
        </p:txBody>
      </p:sp>
      <p:sp>
        <p:nvSpPr>
          <p:cNvPr id="3" name="Content Placeholder 2"/>
          <p:cNvSpPr>
            <a:spLocks noGrp="1"/>
          </p:cNvSpPr>
          <p:nvPr>
            <p:ph sz="quarter" idx="1"/>
          </p:nvPr>
        </p:nvSpPr>
        <p:spPr/>
        <p:txBody>
          <a:bodyPr>
            <a:normAutofit fontScale="92500" lnSpcReduction="10000"/>
          </a:bodyPr>
          <a:lstStyle/>
          <a:p>
            <a:pPr algn="just"/>
            <a:r>
              <a:rPr lang="en-US" b="1" dirty="0"/>
              <a:t>Range:</a:t>
            </a:r>
            <a:r>
              <a:rPr lang="en-US" dirty="0"/>
              <a:t> The range of a set of data is the difference between the largest and lowest observed values in a data set or the interval between these values. </a:t>
            </a:r>
          </a:p>
          <a:p>
            <a:pPr algn="just"/>
            <a:r>
              <a:rPr lang="en-US" dirty="0"/>
              <a:t>It is a measure of the spread of the data. </a:t>
            </a:r>
          </a:p>
          <a:p>
            <a:pPr algn="just"/>
            <a:r>
              <a:rPr lang="en-US" dirty="0"/>
              <a:t>For example, the range of 2, 3, 3, 5, 7, and 10 is 8, </a:t>
            </a:r>
            <a:r>
              <a:rPr lang="en-US" dirty="0" err="1"/>
              <a:t>i.e</a:t>
            </a:r>
            <a:r>
              <a:rPr lang="en-US" dirty="0"/>
              <a:t> 10-2. </a:t>
            </a:r>
          </a:p>
          <a:p>
            <a:pPr algn="just"/>
            <a:r>
              <a:rPr lang="en-US" b="1" dirty="0"/>
              <a:t>Variance:</a:t>
            </a:r>
            <a:r>
              <a:rPr lang="en-US" dirty="0"/>
              <a:t> It is a measure of variability based on the squared deviation of the observed values in the data set from its mean. </a:t>
            </a:r>
          </a:p>
          <a:p>
            <a:pPr algn="just"/>
            <a:r>
              <a:rPr lang="en-US" dirty="0"/>
              <a:t>Since variance is the average of the squared deviation from the mean, it is also called the </a:t>
            </a:r>
            <a:r>
              <a:rPr lang="en-US" b="1" dirty="0">
                <a:solidFill>
                  <a:schemeClr val="accent2">
                    <a:lumMod val="50000"/>
                  </a:schemeClr>
                </a:solidFill>
              </a:rPr>
              <a:t>Mean Square Average</a:t>
            </a:r>
            <a:r>
              <a:rPr lang="en-US" dirty="0"/>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Measures of Variation or Deviation</a:t>
            </a:r>
          </a:p>
        </p:txBody>
      </p:sp>
      <p:sp>
        <p:nvSpPr>
          <p:cNvPr id="3" name="Content Placeholder 2"/>
          <p:cNvSpPr>
            <a:spLocks noGrp="1"/>
          </p:cNvSpPr>
          <p:nvPr>
            <p:ph sz="quarter" idx="1"/>
          </p:nvPr>
        </p:nvSpPr>
        <p:spPr/>
        <p:txBody>
          <a:bodyPr>
            <a:noAutofit/>
          </a:bodyPr>
          <a:lstStyle/>
          <a:p>
            <a:pPr algn="just"/>
            <a:r>
              <a:rPr lang="en-US" sz="2000" b="1" dirty="0"/>
              <a:t>Standard Deviation: </a:t>
            </a:r>
            <a:r>
              <a:rPr lang="en-US" sz="2000" dirty="0"/>
              <a:t>Or </a:t>
            </a:r>
            <a:r>
              <a:rPr lang="en-US" sz="2000" b="1" i="1" dirty="0">
                <a:solidFill>
                  <a:schemeClr val="accent2">
                    <a:lumMod val="50000"/>
                  </a:schemeClr>
                </a:solidFill>
              </a:rPr>
              <a:t>Root Mean Square Deviation </a:t>
            </a:r>
            <a:r>
              <a:rPr lang="en-US" sz="2000" i="1" dirty="0"/>
              <a:t>is a kind of average of the deviations from the mean. </a:t>
            </a:r>
          </a:p>
          <a:p>
            <a:pPr algn="just"/>
            <a:r>
              <a:rPr lang="en-US" sz="2000" i="1" dirty="0"/>
              <a:t>It is defined as the root mean square value of the differences of individual elements from the arithmetic mean. </a:t>
            </a:r>
          </a:p>
          <a:p>
            <a:pPr algn="just"/>
            <a:r>
              <a:rPr lang="en-US" sz="2000" i="1" dirty="0"/>
              <a:t>SD is nothing but the positive square root of the variance. </a:t>
            </a:r>
          </a:p>
          <a:p>
            <a:pPr algn="just"/>
            <a:endParaRPr lang="en-US" sz="2000" i="1" dirty="0"/>
          </a:p>
          <a:p>
            <a:pPr algn="just"/>
            <a:r>
              <a:rPr lang="en-US" sz="2000" b="1" dirty="0"/>
              <a:t>Coefficient of Variation (CV) </a:t>
            </a:r>
            <a:r>
              <a:rPr lang="en-US" sz="2000" dirty="0"/>
              <a:t>: It is a statistical measure of the dispersion of data points in a data series around the mean. </a:t>
            </a:r>
          </a:p>
          <a:p>
            <a:pPr algn="just"/>
            <a:r>
              <a:rPr lang="en-US" sz="2000" dirty="0"/>
              <a:t>It represents the </a:t>
            </a:r>
            <a:r>
              <a:rPr lang="en-US" sz="2000" i="1" dirty="0"/>
              <a:t>ratio of the standard deviation to the mean, and it is a useful statistic for comparing the degree of variation from one data series to another, even if the means are drastically different from one another.</a:t>
            </a:r>
            <a:endParaRPr lang="en-US" sz="2000"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and Standard Deviation</a:t>
            </a:r>
          </a:p>
        </p:txBody>
      </p:sp>
      <p:sp>
        <p:nvSpPr>
          <p:cNvPr id="3" name="Content Placeholder 2"/>
          <p:cNvSpPr>
            <a:spLocks noGrp="1"/>
          </p:cNvSpPr>
          <p:nvPr>
            <p:ph sz="quarter" idx="1"/>
          </p:nvPr>
        </p:nvSpPr>
        <p:spPr/>
        <p:txBody>
          <a:bodyPr/>
          <a:lstStyle/>
          <a:p>
            <a:pPr algn="just"/>
            <a:r>
              <a:rPr lang="en-US" dirty="0"/>
              <a:t>Variance and standard deviation are the most superior and widely used measures of dispersions</a:t>
            </a:r>
          </a:p>
          <a:p>
            <a:pPr algn="just"/>
            <a:r>
              <a:rPr lang="en-US" dirty="0"/>
              <a:t>and both measure the average dispersion of the observations around the mean.</a:t>
            </a:r>
          </a:p>
          <a:p>
            <a:pPr algn="just"/>
            <a:r>
              <a:rPr lang="en-US" dirty="0"/>
              <a:t>The variance of a data set is the sum of the squares of the deviation of each observation taken from the mean divided by total number of observations in the data set. </a:t>
            </a:r>
          </a:p>
          <a:p>
            <a:pPr algn="just"/>
            <a:r>
              <a:rPr lang="en-US" dirty="0"/>
              <a:t>The positive square root of variance is called standard deviation.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and Standard Deviation</a:t>
            </a:r>
          </a:p>
        </p:txBody>
      </p:sp>
      <p:sp>
        <p:nvSpPr>
          <p:cNvPr id="3" name="Content Placeholder 2"/>
          <p:cNvSpPr>
            <a:spLocks noGrp="1"/>
          </p:cNvSpPr>
          <p:nvPr>
            <p:ph sz="quarter" idx="1"/>
          </p:nvPr>
        </p:nvSpPr>
        <p:spPr/>
        <p:txBody>
          <a:bodyPr/>
          <a:lstStyle/>
          <a:p>
            <a:r>
              <a:rPr lang="en-US" dirty="0"/>
              <a:t>For a population containing N elements, the population standard deviation is denoted by</a:t>
            </a:r>
            <a:r>
              <a:rPr lang="el-GR" dirty="0">
                <a:latin typeface="Calibri"/>
              </a:rPr>
              <a:t>σ</a:t>
            </a:r>
            <a:endParaRPr lang="en-US" dirty="0"/>
          </a:p>
          <a:p>
            <a:r>
              <a:rPr lang="en-US" dirty="0"/>
              <a:t>the Greek letter  (sigma) and hence the population variance is denoted by </a:t>
            </a:r>
            <a:r>
              <a:rPr lang="el-GR" dirty="0">
                <a:latin typeface="Calibri"/>
              </a:rPr>
              <a:t>σ</a:t>
            </a:r>
            <a:r>
              <a:rPr lang="en-US" baseline="30000" dirty="0"/>
              <a:t>2</a:t>
            </a:r>
            <a:r>
              <a:rPr lang="en-US" dirty="0"/>
              <a:t>.</a:t>
            </a:r>
          </a:p>
          <a:p>
            <a:endParaRPr lang="en-US" dirty="0"/>
          </a:p>
        </p:txBody>
      </p:sp>
      <p:pic>
        <p:nvPicPr>
          <p:cNvPr id="4" name="Picture 3"/>
          <p:cNvPicPr/>
          <p:nvPr/>
        </p:nvPicPr>
        <p:blipFill>
          <a:blip r:embed="rId2"/>
          <a:srcRect/>
          <a:stretch>
            <a:fillRect/>
          </a:stretch>
        </p:blipFill>
        <p:spPr bwMode="auto">
          <a:xfrm>
            <a:off x="685800" y="3276600"/>
            <a:ext cx="7239000" cy="289560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and Standard Deviation</a:t>
            </a:r>
          </a:p>
        </p:txBody>
      </p:sp>
      <p:sp>
        <p:nvSpPr>
          <p:cNvPr id="3" name="Content Placeholder 2"/>
          <p:cNvSpPr>
            <a:spLocks noGrp="1"/>
          </p:cNvSpPr>
          <p:nvPr>
            <p:ph sz="quarter" idx="1"/>
          </p:nvPr>
        </p:nvSpPr>
        <p:spPr/>
        <p:txBody>
          <a:bodyPr/>
          <a:lstStyle/>
          <a:p>
            <a:r>
              <a:rPr lang="en-US" dirty="0"/>
              <a:t>For a sample of n elements, the sample variance and standard deviation denoted by S and S</a:t>
            </a:r>
            <a:r>
              <a:rPr lang="en-US" baseline="30000" dirty="0"/>
              <a:t>2</a:t>
            </a:r>
            <a:r>
              <a:rPr lang="en-US" dirty="0"/>
              <a:t>, respectively, are calculated as using the formulae:</a:t>
            </a:r>
          </a:p>
          <a:p>
            <a:endParaRPr lang="en-US" dirty="0"/>
          </a:p>
        </p:txBody>
      </p:sp>
      <p:pic>
        <p:nvPicPr>
          <p:cNvPr id="5" name="Picture 4"/>
          <p:cNvPicPr/>
          <p:nvPr/>
        </p:nvPicPr>
        <p:blipFill>
          <a:blip r:embed="rId2"/>
          <a:srcRect/>
          <a:stretch>
            <a:fillRect/>
          </a:stretch>
        </p:blipFill>
        <p:spPr bwMode="auto">
          <a:xfrm>
            <a:off x="990600" y="2971800"/>
            <a:ext cx="6858000" cy="2971800"/>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and Standard Deviation</a:t>
            </a:r>
          </a:p>
        </p:txBody>
      </p:sp>
      <p:sp>
        <p:nvSpPr>
          <p:cNvPr id="3" name="Content Placeholder 2"/>
          <p:cNvSpPr>
            <a:spLocks noGrp="1"/>
          </p:cNvSpPr>
          <p:nvPr>
            <p:ph sz="quarter" idx="1"/>
          </p:nvPr>
        </p:nvSpPr>
        <p:spPr/>
        <p:txBody>
          <a:bodyPr/>
          <a:lstStyle/>
          <a:p>
            <a:r>
              <a:rPr lang="en-US" dirty="0"/>
              <a:t>Find the variance and standard deviation of: 20, 28, 40, 12, 30, 15 and 50.</a:t>
            </a:r>
          </a:p>
          <a:p>
            <a:r>
              <a:rPr lang="en-US" dirty="0"/>
              <a:t>a. Take the data as a population.</a:t>
            </a:r>
          </a:p>
          <a:p>
            <a:r>
              <a:rPr lang="en-US" dirty="0"/>
              <a:t>b. Consider it as a sample.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and Standard Deviation</a:t>
            </a:r>
          </a:p>
        </p:txBody>
      </p:sp>
      <p:pic>
        <p:nvPicPr>
          <p:cNvPr id="4" name="Content Placeholder 3"/>
          <p:cNvPicPr>
            <a:picLocks noGrp="1"/>
          </p:cNvPicPr>
          <p:nvPr>
            <p:ph sz="quarter" idx="1"/>
          </p:nvPr>
        </p:nvPicPr>
        <p:blipFill>
          <a:blip r:embed="rId2"/>
          <a:srcRect/>
          <a:stretch>
            <a:fillRect/>
          </a:stretch>
        </p:blipFill>
        <p:spPr bwMode="auto">
          <a:xfrm>
            <a:off x="381000" y="1371600"/>
            <a:ext cx="7467600" cy="1587706"/>
          </a:xfrm>
          <a:prstGeom prst="rect">
            <a:avLst/>
          </a:prstGeom>
          <a:noFill/>
          <a:ln w="9525">
            <a:noFill/>
            <a:miter lim="800000"/>
            <a:headEnd/>
            <a:tailEnd/>
          </a:ln>
        </p:spPr>
      </p:pic>
      <p:pic>
        <p:nvPicPr>
          <p:cNvPr id="5" name="Picture 4"/>
          <p:cNvPicPr/>
          <p:nvPr/>
        </p:nvPicPr>
        <p:blipFill>
          <a:blip r:embed="rId3"/>
          <a:srcRect/>
          <a:stretch>
            <a:fillRect/>
          </a:stretch>
        </p:blipFill>
        <p:spPr bwMode="auto">
          <a:xfrm>
            <a:off x="457200" y="2819400"/>
            <a:ext cx="3000375" cy="685800"/>
          </a:xfrm>
          <a:prstGeom prst="rect">
            <a:avLst/>
          </a:prstGeom>
          <a:noFill/>
          <a:ln w="9525">
            <a:noFill/>
            <a:miter lim="800000"/>
            <a:headEnd/>
            <a:tailEnd/>
          </a:ln>
        </p:spPr>
      </p:pic>
      <p:pic>
        <p:nvPicPr>
          <p:cNvPr id="6" name="Picture 5"/>
          <p:cNvPicPr/>
          <p:nvPr/>
        </p:nvPicPr>
        <p:blipFill>
          <a:blip r:embed="rId4"/>
          <a:srcRect/>
          <a:stretch>
            <a:fillRect/>
          </a:stretch>
        </p:blipFill>
        <p:spPr bwMode="auto">
          <a:xfrm>
            <a:off x="457200" y="3657600"/>
            <a:ext cx="6629400" cy="2209800"/>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Variance and Standard Deviation</a:t>
            </a:r>
          </a:p>
        </p:txBody>
      </p:sp>
      <p:pic>
        <p:nvPicPr>
          <p:cNvPr id="4" name="Content Placeholder 3"/>
          <p:cNvPicPr>
            <a:picLocks noGrp="1"/>
          </p:cNvPicPr>
          <p:nvPr>
            <p:ph sz="quarter" idx="1"/>
          </p:nvPr>
        </p:nvPicPr>
        <p:blipFill>
          <a:blip r:embed="rId2"/>
          <a:srcRect/>
          <a:stretch>
            <a:fillRect/>
          </a:stretch>
        </p:blipFill>
        <p:spPr bwMode="auto">
          <a:xfrm>
            <a:off x="457200" y="1752600"/>
            <a:ext cx="7848600" cy="4571999"/>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MEASURES OF SYMMETRY AND SHAPE </a:t>
            </a:r>
            <a:endParaRPr lang="en-US" sz="2800" dirty="0"/>
          </a:p>
        </p:txBody>
      </p:sp>
      <p:sp>
        <p:nvSpPr>
          <p:cNvPr id="3" name="Content Placeholder 2"/>
          <p:cNvSpPr>
            <a:spLocks noGrp="1"/>
          </p:cNvSpPr>
          <p:nvPr>
            <p:ph sz="quarter" idx="1"/>
          </p:nvPr>
        </p:nvSpPr>
        <p:spPr/>
        <p:txBody>
          <a:bodyPr/>
          <a:lstStyle/>
          <a:p>
            <a:r>
              <a:rPr lang="en-US" dirty="0"/>
              <a:t>The measure of central tendency and dispersion can describe the distribution but they are not sufficient to describe the nature of the distribution.</a:t>
            </a:r>
          </a:p>
          <a:p>
            <a:r>
              <a:rPr lang="en-US" dirty="0"/>
              <a:t>For this purpose, we use other concepts known as </a:t>
            </a:r>
            <a:r>
              <a:rPr lang="en-US" dirty="0" err="1"/>
              <a:t>Skewness</a:t>
            </a:r>
            <a:r>
              <a:rPr lang="en-US" dirty="0"/>
              <a:t> and Kurtosis. </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Skewness</a:t>
            </a:r>
            <a:endParaRPr lang="en-US" dirty="0"/>
          </a:p>
        </p:txBody>
      </p:sp>
      <p:sp>
        <p:nvSpPr>
          <p:cNvPr id="3" name="Content Placeholder 2"/>
          <p:cNvSpPr>
            <a:spLocks noGrp="1"/>
          </p:cNvSpPr>
          <p:nvPr>
            <p:ph sz="quarter" idx="1"/>
          </p:nvPr>
        </p:nvSpPr>
        <p:spPr/>
        <p:txBody>
          <a:bodyPr/>
          <a:lstStyle/>
          <a:p>
            <a:r>
              <a:rPr lang="en-US" dirty="0"/>
              <a:t>It is third moment of </a:t>
            </a:r>
            <a:r>
              <a:rPr lang="en-US" dirty="0" err="1"/>
              <a:t>ditribution</a:t>
            </a:r>
            <a:r>
              <a:rPr lang="en-US" dirty="0"/>
              <a:t>.</a:t>
            </a:r>
          </a:p>
          <a:p>
            <a:r>
              <a:rPr lang="en-US" dirty="0"/>
              <a:t>It is a measure of asymmetry of a distribution.</a:t>
            </a:r>
          </a:p>
          <a:p>
            <a:r>
              <a:rPr lang="en-US" dirty="0"/>
              <a:t>It represents the shape of the distribution.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Skewness</a:t>
            </a:r>
            <a:endParaRPr lang="en-US" dirty="0"/>
          </a:p>
        </p:txBody>
      </p:sp>
      <p:sp>
        <p:nvSpPr>
          <p:cNvPr id="3" name="Content Placeholder 2"/>
          <p:cNvSpPr>
            <a:spLocks noGrp="1"/>
          </p:cNvSpPr>
          <p:nvPr>
            <p:ph sz="quarter" idx="1"/>
          </p:nvPr>
        </p:nvSpPr>
        <p:spPr/>
        <p:txBody>
          <a:bodyPr/>
          <a:lstStyle/>
          <a:p>
            <a:r>
              <a:rPr lang="en-US" b="1" dirty="0" err="1"/>
              <a:t>Skewness</a:t>
            </a:r>
            <a:r>
              <a:rPr lang="en-US" b="1" dirty="0"/>
              <a:t>: </a:t>
            </a:r>
            <a:r>
              <a:rPr lang="en-US" dirty="0"/>
              <a:t>means lack of symmetry. </a:t>
            </a:r>
          </a:p>
          <a:p>
            <a:r>
              <a:rPr lang="en-US" dirty="0"/>
              <a:t>A distribution is said to be symmetrical or normal when values are uniformly distributed around mean.</a:t>
            </a:r>
          </a:p>
          <a:p>
            <a:r>
              <a:rPr lang="en-US" dirty="0"/>
              <a:t>In a symmetrical distribution the mean, median and mode coincide, that is, </a:t>
            </a:r>
            <a:r>
              <a:rPr lang="en-US" b="1" i="1" dirty="0"/>
              <a:t>mean = median = mode.</a:t>
            </a:r>
          </a:p>
          <a:p>
            <a:r>
              <a:rPr lang="en-US" i="1" dirty="0"/>
              <a:t>Several measures are used to express the direction and extent of </a:t>
            </a:r>
            <a:r>
              <a:rPr lang="en-US" i="1" dirty="0" err="1"/>
              <a:t>skewness</a:t>
            </a:r>
            <a:r>
              <a:rPr lang="en-US" i="1" dirty="0"/>
              <a:t> of a dispersion. </a:t>
            </a:r>
          </a:p>
          <a:p>
            <a:r>
              <a:rPr lang="en-US" i="1" dirty="0"/>
              <a:t>The first one is the Coefficient of </a:t>
            </a:r>
            <a:r>
              <a:rPr lang="en-US" i="1" dirty="0" err="1"/>
              <a:t>Skewness</a:t>
            </a:r>
            <a:r>
              <a:rPr lang="en-US" i="1" dirty="0"/>
              <a:t>: </a:t>
            </a:r>
            <a:endParaRPr lang="en-US" dirty="0"/>
          </a:p>
        </p:txBody>
      </p:sp>
      <p:pic>
        <p:nvPicPr>
          <p:cNvPr id="4" name="Picture 3"/>
          <p:cNvPicPr/>
          <p:nvPr/>
        </p:nvPicPr>
        <p:blipFill>
          <a:blip r:embed="rId2"/>
          <a:srcRect/>
          <a:stretch>
            <a:fillRect/>
          </a:stretch>
        </p:blipFill>
        <p:spPr bwMode="auto">
          <a:xfrm>
            <a:off x="1106614" y="5334000"/>
            <a:ext cx="3429000" cy="114300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 </a:t>
            </a:r>
            <a:r>
              <a:rPr lang="en-US" b="1" dirty="0" err="1"/>
              <a:t>Skewness</a:t>
            </a:r>
            <a:endParaRPr lang="en-US" dirty="0"/>
          </a:p>
        </p:txBody>
      </p:sp>
      <p:sp>
        <p:nvSpPr>
          <p:cNvPr id="3" name="Content Placeholder 2"/>
          <p:cNvSpPr>
            <a:spLocks noGrp="1"/>
          </p:cNvSpPr>
          <p:nvPr>
            <p:ph sz="quarter" idx="1"/>
          </p:nvPr>
        </p:nvSpPr>
        <p:spPr/>
        <p:txBody>
          <a:bodyPr/>
          <a:lstStyle/>
          <a:p>
            <a:r>
              <a:rPr lang="en-US" dirty="0"/>
              <a:t>For a symmetric distribution </a:t>
            </a:r>
            <a:r>
              <a:rPr lang="en-US" dirty="0" err="1"/>
              <a:t>Sk</a:t>
            </a:r>
            <a:r>
              <a:rPr lang="en-US" dirty="0"/>
              <a:t> = 0.</a:t>
            </a:r>
          </a:p>
          <a:p>
            <a:r>
              <a:rPr lang="en-US" dirty="0"/>
              <a:t>The range for </a:t>
            </a:r>
            <a:r>
              <a:rPr lang="en-US" dirty="0" err="1"/>
              <a:t>Sk</a:t>
            </a:r>
            <a:r>
              <a:rPr lang="en-US" dirty="0"/>
              <a:t> is from -3 to 3.</a:t>
            </a:r>
          </a:p>
          <a:p>
            <a:r>
              <a:rPr lang="en-US" dirty="0"/>
              <a:t>The mode, the mean and the median have the same value in a normal curve.</a:t>
            </a:r>
          </a:p>
          <a:p>
            <a:endParaRPr lang="en-US" dirty="0"/>
          </a:p>
          <a:p>
            <a:endParaRPr lang="en-US" dirty="0"/>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3581400"/>
            <a:ext cx="6108321" cy="284145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Frequency Curves : </a:t>
            </a:r>
            <a:br>
              <a:rPr lang="en-US" dirty="0"/>
            </a:br>
            <a:r>
              <a:rPr lang="en-US" dirty="0"/>
              <a:t>Symmetric/Normal curve</a:t>
            </a:r>
          </a:p>
        </p:txBody>
      </p:sp>
      <p:sp>
        <p:nvSpPr>
          <p:cNvPr id="3" name="Content Placeholder 2"/>
          <p:cNvSpPr>
            <a:spLocks noGrp="1"/>
          </p:cNvSpPr>
          <p:nvPr>
            <p:ph sz="quarter" idx="1"/>
          </p:nvPr>
        </p:nvSpPr>
        <p:spPr/>
        <p:txBody>
          <a:bodyPr>
            <a:normAutofit fontScale="92500" lnSpcReduction="10000"/>
          </a:bodyPr>
          <a:lstStyle/>
          <a:p>
            <a:pPr algn="just"/>
            <a:r>
              <a:rPr lang="en-US" dirty="0"/>
              <a:t>A symmetric curve is a frequency curve when it looks the same to the left and right of the central point. </a:t>
            </a:r>
          </a:p>
          <a:p>
            <a:pPr algn="just"/>
            <a:r>
              <a:rPr lang="en-US" dirty="0"/>
              <a:t>The distribution spread around a central tendency value in a symmetrical and bell shaped pattern.</a:t>
            </a:r>
          </a:p>
          <a:p>
            <a:pPr algn="just"/>
            <a:r>
              <a:rPr lang="en-US" dirty="0"/>
              <a:t>The lengths of both tails are the same.</a:t>
            </a:r>
          </a:p>
          <a:p>
            <a:pPr algn="just"/>
            <a:r>
              <a:rPr lang="en-US" dirty="0"/>
              <a:t> The mean, median and modal values are approximately equal.</a:t>
            </a:r>
          </a:p>
          <a:p>
            <a:pPr algn="just"/>
            <a:r>
              <a:rPr lang="en-US" dirty="0"/>
              <a:t> The corresponding pairs of quartiles, deciles and percentiles are </a:t>
            </a:r>
            <a:r>
              <a:rPr lang="en-US" dirty="0" err="1"/>
              <a:t>equi</a:t>
            </a:r>
            <a:r>
              <a:rPr lang="en-US" dirty="0"/>
              <a:t>-distance from the median.</a:t>
            </a:r>
          </a:p>
          <a:p>
            <a:pPr algn="just"/>
            <a:r>
              <a:rPr lang="en-US" dirty="0"/>
              <a:t>For example, </a:t>
            </a:r>
            <a:r>
              <a:rPr lang="en-US" dirty="0" smtClean="0"/>
              <a:t>first </a:t>
            </a:r>
            <a:r>
              <a:rPr lang="en-US" dirty="0"/>
              <a:t>quartile and third quartile have the same distance from the median.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Symmetric/Normal curve</a:t>
            </a:r>
          </a:p>
        </p:txBody>
      </p:sp>
      <p:pic>
        <p:nvPicPr>
          <p:cNvPr id="4" name="Content Placeholder 3"/>
          <p:cNvPicPr>
            <a:picLocks noGrp="1"/>
          </p:cNvPicPr>
          <p:nvPr>
            <p:ph sz="quarter" idx="1"/>
          </p:nvPr>
        </p:nvPicPr>
        <p:blipFill>
          <a:blip r:embed="rId2"/>
          <a:srcRect/>
          <a:stretch>
            <a:fillRect/>
          </a:stretch>
        </p:blipFill>
        <p:spPr bwMode="auto">
          <a:xfrm>
            <a:off x="554818" y="1600200"/>
            <a:ext cx="7272363" cy="4873625"/>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a:t>
            </a:r>
            <a:r>
              <a:rPr lang="en-US" dirty="0" err="1"/>
              <a:t>Skewnwss</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a:t>When the value of the </a:t>
            </a:r>
            <a:r>
              <a:rPr lang="en-US" dirty="0" err="1"/>
              <a:t>skewness</a:t>
            </a:r>
            <a:r>
              <a:rPr lang="en-US" dirty="0"/>
              <a:t> is </a:t>
            </a:r>
            <a:r>
              <a:rPr lang="en-US" b="1" dirty="0"/>
              <a:t>positive</a:t>
            </a:r>
            <a:r>
              <a:rPr lang="en-US" dirty="0"/>
              <a:t>, the tail of the distribution is longer towards the </a:t>
            </a:r>
            <a:r>
              <a:rPr lang="en-US" b="1" dirty="0"/>
              <a:t>right</a:t>
            </a:r>
            <a:r>
              <a:rPr lang="en-US" dirty="0"/>
              <a:t> hand side of the curve.</a:t>
            </a:r>
          </a:p>
          <a:p>
            <a:r>
              <a:rPr lang="en-US" dirty="0"/>
              <a:t>Mass of distribution is concentrated on the right.</a:t>
            </a:r>
          </a:p>
          <a:p>
            <a:r>
              <a:rPr lang="en-US" dirty="0"/>
              <a:t>It is a right-leaning curve.</a:t>
            </a:r>
          </a:p>
          <a:p>
            <a:r>
              <a:rPr lang="en-US" dirty="0"/>
              <a:t>if it is positively skewed then </a:t>
            </a:r>
            <a:r>
              <a:rPr lang="en-US" dirty="0" err="1"/>
              <a:t>Sk</a:t>
            </a:r>
            <a:r>
              <a:rPr lang="en-US" dirty="0"/>
              <a:t> is positive. </a:t>
            </a:r>
          </a:p>
          <a:p>
            <a:r>
              <a:rPr lang="en-US" dirty="0"/>
              <a:t>The median and the mean lie to the right of the mode in the same direction of the </a:t>
            </a:r>
            <a:r>
              <a:rPr lang="en-US" dirty="0" err="1"/>
              <a:t>skewness</a:t>
            </a:r>
            <a:r>
              <a:rPr lang="en-US" dirty="0"/>
              <a:t> in the positively skewed curve.</a:t>
            </a:r>
          </a:p>
          <a:p>
            <a:r>
              <a:rPr lang="en-US" dirty="0"/>
              <a:t>In other words the mean and the median are greater than the mode.</a:t>
            </a:r>
          </a:p>
          <a:p>
            <a:endParaRPr lang="en-US" dirty="0"/>
          </a:p>
          <a:p>
            <a:endParaRPr lang="en-US" dirty="0"/>
          </a:p>
          <a:p>
            <a:endParaRPr lang="en-US" dirty="0"/>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Frequency Curves : </a:t>
            </a:r>
            <a:br>
              <a:rPr lang="en-US" dirty="0"/>
            </a:br>
            <a:r>
              <a:rPr lang="en-US" dirty="0"/>
              <a:t>Positively skewed curve</a:t>
            </a:r>
          </a:p>
        </p:txBody>
      </p:sp>
      <p:sp>
        <p:nvSpPr>
          <p:cNvPr id="3" name="Content Placeholder 2"/>
          <p:cNvSpPr>
            <a:spLocks noGrp="1"/>
          </p:cNvSpPr>
          <p:nvPr>
            <p:ph sz="quarter" idx="1"/>
          </p:nvPr>
        </p:nvSpPr>
        <p:spPr/>
        <p:txBody>
          <a:bodyPr>
            <a:normAutofit fontScale="92500"/>
          </a:bodyPr>
          <a:lstStyle/>
          <a:p>
            <a:pPr algn="just"/>
            <a:r>
              <a:rPr lang="en-US" dirty="0"/>
              <a:t>If some observations are extremely large, the mean of the distribution becomes greater than the median or mode. </a:t>
            </a:r>
          </a:p>
          <a:p>
            <a:pPr algn="just"/>
            <a:r>
              <a:rPr lang="en-US" dirty="0"/>
              <a:t>In such case, the distribution is said to be positively skewed. In positively skewed distribution:</a:t>
            </a:r>
          </a:p>
          <a:p>
            <a:pPr algn="just"/>
            <a:r>
              <a:rPr lang="en-US" dirty="0"/>
              <a:t> The right tail of the frequency curve is more elongated, longest tail to the right of the central point.</a:t>
            </a:r>
          </a:p>
          <a:p>
            <a:pPr algn="just"/>
            <a:r>
              <a:rPr lang="en-US" dirty="0"/>
              <a:t> More values are on the left of the mean.</a:t>
            </a:r>
          </a:p>
          <a:p>
            <a:pPr algn="just"/>
            <a:r>
              <a:rPr lang="en-US" dirty="0"/>
              <a:t> The extreme variation is towards large values (to the right).  Smaller values are more frequent.</a:t>
            </a:r>
          </a:p>
          <a:p>
            <a:pPr algn="just"/>
            <a:r>
              <a:rPr lang="en-US" dirty="0"/>
              <a:t> Mean&gt;Median&gt;Mode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Positively skewed curve</a:t>
            </a:r>
          </a:p>
        </p:txBody>
      </p:sp>
      <p:pic>
        <p:nvPicPr>
          <p:cNvPr id="4" name="Content Placeholder 3"/>
          <p:cNvPicPr>
            <a:picLocks noGrp="1"/>
          </p:cNvPicPr>
          <p:nvPr>
            <p:ph sz="quarter" idx="1"/>
          </p:nvPr>
        </p:nvPicPr>
        <p:blipFill>
          <a:blip r:embed="rId2"/>
          <a:srcRect/>
          <a:stretch>
            <a:fillRect/>
          </a:stretch>
        </p:blipFill>
        <p:spPr bwMode="auto">
          <a:xfrm>
            <a:off x="837465" y="1642473"/>
            <a:ext cx="6707070" cy="4789079"/>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a:t>
            </a:r>
            <a:r>
              <a:rPr lang="en-US" dirty="0" err="1"/>
              <a:t>skewness</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a:t>When the value of the </a:t>
            </a:r>
            <a:r>
              <a:rPr lang="en-US" dirty="0" err="1"/>
              <a:t>skewness</a:t>
            </a:r>
            <a:r>
              <a:rPr lang="en-US" dirty="0"/>
              <a:t> is </a:t>
            </a:r>
            <a:r>
              <a:rPr lang="en-US" b="1" dirty="0"/>
              <a:t>negative</a:t>
            </a:r>
            <a:r>
              <a:rPr lang="en-US" dirty="0"/>
              <a:t>, the tail of the distribution is longer towards the </a:t>
            </a:r>
            <a:r>
              <a:rPr lang="en-US" b="1" dirty="0"/>
              <a:t>left</a:t>
            </a:r>
            <a:r>
              <a:rPr lang="en-US" dirty="0"/>
              <a:t> hand side of the curve.</a:t>
            </a:r>
          </a:p>
          <a:p>
            <a:r>
              <a:rPr lang="en-US" dirty="0"/>
              <a:t>Mass of distribution is concentrated on the left.</a:t>
            </a:r>
          </a:p>
          <a:p>
            <a:r>
              <a:rPr lang="en-US" dirty="0"/>
              <a:t>It is a left-leaning curve.</a:t>
            </a:r>
          </a:p>
          <a:p>
            <a:r>
              <a:rPr lang="en-US" dirty="0"/>
              <a:t>If the distribution is negatively skewed then </a:t>
            </a:r>
            <a:r>
              <a:rPr lang="en-US" dirty="0" err="1"/>
              <a:t>Sk</a:t>
            </a:r>
            <a:r>
              <a:rPr lang="en-US" dirty="0"/>
              <a:t> is negative and</a:t>
            </a:r>
          </a:p>
          <a:p>
            <a:r>
              <a:rPr lang="en-US" dirty="0"/>
              <a:t>In the negatively skewed curve the median and the mean lie to the left of the mode.</a:t>
            </a:r>
          </a:p>
          <a:p>
            <a:r>
              <a:rPr lang="en-US" dirty="0"/>
              <a:t>In other words the mean and the median are less than the mode.</a:t>
            </a:r>
          </a:p>
          <a:p>
            <a:endParaRPr lang="en-US" dirty="0"/>
          </a:p>
          <a:p>
            <a:endParaRPr lang="en-US" dirty="0"/>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Frequency Curves : </a:t>
            </a:r>
            <a:br>
              <a:rPr lang="en-US" dirty="0"/>
            </a:br>
            <a:r>
              <a:rPr lang="en-US" dirty="0"/>
              <a:t>Negatively skewed curve</a:t>
            </a:r>
          </a:p>
        </p:txBody>
      </p:sp>
      <p:sp>
        <p:nvSpPr>
          <p:cNvPr id="3" name="Content Placeholder 2"/>
          <p:cNvSpPr>
            <a:spLocks noGrp="1"/>
          </p:cNvSpPr>
          <p:nvPr>
            <p:ph sz="quarter" idx="1"/>
          </p:nvPr>
        </p:nvSpPr>
        <p:spPr/>
        <p:txBody>
          <a:bodyPr>
            <a:normAutofit fontScale="92500"/>
          </a:bodyPr>
          <a:lstStyle/>
          <a:p>
            <a:pPr algn="just"/>
            <a:r>
              <a:rPr lang="en-US" dirty="0"/>
              <a:t>If some extremely small observations are present, the mean is the smallest of the </a:t>
            </a:r>
            <a:r>
              <a:rPr lang="en-US" dirty="0" err="1"/>
              <a:t>the</a:t>
            </a:r>
            <a:r>
              <a:rPr lang="en-US" dirty="0"/>
              <a:t> other two averages, and the distribution is said to be negatively skewed.</a:t>
            </a:r>
          </a:p>
          <a:p>
            <a:pPr algn="just"/>
            <a:r>
              <a:rPr lang="en-US" dirty="0"/>
              <a:t> The left tail is more elongated.</a:t>
            </a:r>
          </a:p>
          <a:p>
            <a:pPr algn="just"/>
            <a:r>
              <a:rPr lang="en-US" dirty="0"/>
              <a:t> More observations are concentrated on the right of the mean.</a:t>
            </a:r>
          </a:p>
          <a:p>
            <a:pPr algn="just"/>
            <a:r>
              <a:rPr lang="en-US" dirty="0"/>
              <a:t> The extreme variation is towards lower values (to the left).</a:t>
            </a:r>
          </a:p>
          <a:p>
            <a:pPr algn="just"/>
            <a:r>
              <a:rPr lang="en-US" dirty="0"/>
              <a:t> Larger values are more frequent than small values</a:t>
            </a:r>
          </a:p>
          <a:p>
            <a:pPr algn="just"/>
            <a:r>
              <a:rPr lang="en-US" dirty="0"/>
              <a:t> Mean&lt;Median&lt;Mode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Negatively skewed curve</a:t>
            </a:r>
          </a:p>
        </p:txBody>
      </p:sp>
      <p:pic>
        <p:nvPicPr>
          <p:cNvPr id="1026" name="Picture 2"/>
          <p:cNvPicPr>
            <a:picLocks noGrp="1" noChangeAspect="1" noChangeArrowheads="1"/>
          </p:cNvPicPr>
          <p:nvPr>
            <p:ph sz="quarter" idx="1"/>
          </p:nvPr>
        </p:nvPicPr>
        <p:blipFill>
          <a:blip r:embed="rId2"/>
          <a:srcRect/>
          <a:stretch>
            <a:fillRect/>
          </a:stretch>
        </p:blipFill>
        <p:spPr bwMode="auto">
          <a:xfrm>
            <a:off x="1857375" y="2108200"/>
            <a:ext cx="4667250" cy="3857625"/>
          </a:xfrm>
          <a:prstGeom prst="rect">
            <a:avLst/>
          </a:prstGeom>
          <a:noFill/>
          <a:ln w="9525">
            <a:noFill/>
            <a:miter lim="800000"/>
            <a:headEnd/>
            <a:tailEnd/>
          </a:ln>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Kurtosis </a:t>
            </a:r>
            <a:endParaRPr lang="en-US" dirty="0"/>
          </a:p>
        </p:txBody>
      </p:sp>
      <p:sp>
        <p:nvSpPr>
          <p:cNvPr id="3" name="Content Placeholder 2"/>
          <p:cNvSpPr>
            <a:spLocks noGrp="1"/>
          </p:cNvSpPr>
          <p:nvPr>
            <p:ph sz="quarter" idx="1"/>
          </p:nvPr>
        </p:nvSpPr>
        <p:spPr/>
        <p:txBody>
          <a:bodyPr/>
          <a:lstStyle/>
          <a:p>
            <a:pPr algn="just"/>
            <a:r>
              <a:rPr lang="en-US" sz="2400" dirty="0"/>
              <a:t>It  is a measure of the </a:t>
            </a:r>
            <a:r>
              <a:rPr lang="en-US" sz="2400" dirty="0" err="1"/>
              <a:t>peakness</a:t>
            </a:r>
            <a:r>
              <a:rPr lang="en-US" sz="2400" dirty="0"/>
              <a:t> or convexity of a curve is known as Kurtosis.</a:t>
            </a:r>
          </a:p>
          <a:p>
            <a:pPr algn="just"/>
            <a:r>
              <a:rPr lang="en-US" sz="2400" dirty="0"/>
              <a:t>It is derived from Greek word </a:t>
            </a:r>
            <a:r>
              <a:rPr lang="en-US" sz="2400" dirty="0" err="1"/>
              <a:t>Kyrtos</a:t>
            </a:r>
            <a:r>
              <a:rPr lang="en-US" sz="2400" dirty="0"/>
              <a:t> means curved.</a:t>
            </a:r>
          </a:p>
          <a:p>
            <a:pPr algn="just"/>
            <a:r>
              <a:rPr lang="en-US" sz="2400" dirty="0"/>
              <a:t> It is the degree of flatness or </a:t>
            </a:r>
            <a:r>
              <a:rPr lang="en-US" sz="2400" dirty="0" err="1"/>
              <a:t>peakness</a:t>
            </a:r>
            <a:r>
              <a:rPr lang="en-US" sz="2400" dirty="0"/>
              <a:t> in the region around the mode of the frequency curve.</a:t>
            </a:r>
          </a:p>
          <a:p>
            <a:pPr algn="just"/>
            <a:r>
              <a:rPr lang="en-US" sz="2400" dirty="0"/>
              <a:t> A positive value tells you that you have heavy tails (a lot of data in your tails) and a negative value means that  light-tails (little data in your tails). </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1524000" y="4724019"/>
            <a:ext cx="6448425" cy="1914525"/>
          </a:xfrm>
          <a:prstGeom prst="rect">
            <a:avLst/>
          </a:prstGeom>
          <a:noFill/>
          <a:ln w="9525">
            <a:noFill/>
            <a:miter lim="800000"/>
            <a:headEnd/>
            <a:tailEnd/>
          </a:ln>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Kurtosis </a:t>
            </a:r>
            <a:endParaRPr lang="en-US" dirty="0"/>
          </a:p>
        </p:txBody>
      </p:sp>
      <p:sp>
        <p:nvSpPr>
          <p:cNvPr id="3" name="Content Placeholder 2"/>
          <p:cNvSpPr>
            <a:spLocks noGrp="1"/>
          </p:cNvSpPr>
          <p:nvPr>
            <p:ph sz="quarter" idx="1"/>
          </p:nvPr>
        </p:nvSpPr>
        <p:spPr/>
        <p:txBody>
          <a:bodyPr>
            <a:normAutofit fontScale="85000" lnSpcReduction="10000"/>
          </a:bodyPr>
          <a:lstStyle/>
          <a:p>
            <a:pPr algn="just"/>
            <a:r>
              <a:rPr lang="en-US" dirty="0"/>
              <a:t>(</a:t>
            </a:r>
            <a:r>
              <a:rPr lang="en-US" dirty="0" err="1"/>
              <a:t>i</a:t>
            </a:r>
            <a:r>
              <a:rPr lang="en-US" dirty="0"/>
              <a:t>) Distribution in which value of observations clusters heavily in the centre is peaked or </a:t>
            </a:r>
            <a:r>
              <a:rPr lang="en-US" b="1" i="1" dirty="0"/>
              <a:t>leptokurtic. </a:t>
            </a:r>
            <a:r>
              <a:rPr lang="en-US" b="1" i="1" dirty="0" err="1"/>
              <a:t>Lepto</a:t>
            </a:r>
            <a:r>
              <a:rPr lang="en-US" b="1" i="1" dirty="0"/>
              <a:t> means thin. </a:t>
            </a:r>
            <a:r>
              <a:rPr lang="en-US" dirty="0"/>
              <a:t>It has thinner tails.</a:t>
            </a:r>
            <a:endParaRPr lang="en-US" b="1" i="1" dirty="0"/>
          </a:p>
          <a:p>
            <a:pPr algn="just"/>
            <a:r>
              <a:rPr lang="en-US" b="1" i="1" dirty="0"/>
              <a:t>A distribution with kurtosis &gt;3 (excess kurtosis &gt;0). </a:t>
            </a:r>
          </a:p>
          <a:p>
            <a:pPr algn="just"/>
            <a:r>
              <a:rPr lang="en-US" dirty="0"/>
              <a:t>(ii) Flat distribution, with values of observations more evenly distributed and tails flatter than the normal distribution is called </a:t>
            </a:r>
            <a:r>
              <a:rPr lang="en-US" b="1" i="1" dirty="0" err="1"/>
              <a:t>platykurtic</a:t>
            </a:r>
            <a:r>
              <a:rPr lang="en-US" b="1" i="1" dirty="0"/>
              <a:t>. Platy means flat.</a:t>
            </a:r>
          </a:p>
          <a:p>
            <a:pPr algn="just"/>
            <a:r>
              <a:rPr lang="en-US" b="1" i="1" dirty="0"/>
              <a:t>A distribution with kurtosis &lt;3 (excess kurtosis &lt;0).  Platy mean flat.</a:t>
            </a:r>
          </a:p>
          <a:p>
            <a:pPr algn="just"/>
            <a:r>
              <a:rPr lang="en-US" dirty="0"/>
              <a:t>(iii) A distribution that is almost normal, neither too peaked not too flat, is called </a:t>
            </a:r>
            <a:r>
              <a:rPr lang="en-US" b="1" i="1" dirty="0" err="1"/>
              <a:t>mesokurtic</a:t>
            </a:r>
            <a:r>
              <a:rPr lang="en-US" b="1" i="1" dirty="0"/>
              <a:t>. </a:t>
            </a:r>
          </a:p>
          <a:p>
            <a:pPr algn="just"/>
            <a:r>
              <a:rPr lang="en-US" b="1" i="1" dirty="0"/>
              <a:t>A normal distribution has kurtosis exactly 3 (excess kurtosis exactly 0). </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Kurtosis </a:t>
            </a:r>
            <a:endParaRPr lang="en-US" dirty="0"/>
          </a:p>
        </p:txBody>
      </p:sp>
      <p:sp>
        <p:nvSpPr>
          <p:cNvPr id="3" name="Content Placeholder 2"/>
          <p:cNvSpPr>
            <a:spLocks noGrp="1"/>
          </p:cNvSpPr>
          <p:nvPr>
            <p:ph sz="quarter" idx="1"/>
          </p:nvPr>
        </p:nvSpPr>
        <p:spPr/>
        <p:txBody>
          <a:bodyPr/>
          <a:lstStyle/>
          <a:p>
            <a:pPr algn="just"/>
            <a:r>
              <a:rPr lang="en-US" dirty="0"/>
              <a:t>The quantitative indices of kurtosis of a distribution can be calculated using the semi-inter quartile range and the </a:t>
            </a:r>
            <a:r>
              <a:rPr lang="en-US" dirty="0" err="1"/>
              <a:t>nintieth</a:t>
            </a:r>
            <a:r>
              <a:rPr lang="en-US" dirty="0"/>
              <a:t> and tenth percentiles. </a:t>
            </a:r>
          </a:p>
          <a:p>
            <a:pPr algn="just"/>
            <a:r>
              <a:rPr lang="en-US" dirty="0"/>
              <a:t>This index is symbolized by the Greek letter K(Kappa) and is given by</a:t>
            </a:r>
          </a:p>
          <a:p>
            <a:pPr algn="just"/>
            <a:endParaRPr lang="en-US" dirty="0"/>
          </a:p>
        </p:txBody>
      </p:sp>
      <p:pic>
        <p:nvPicPr>
          <p:cNvPr id="5" name="Picture 4"/>
          <p:cNvPicPr/>
          <p:nvPr/>
        </p:nvPicPr>
        <p:blipFill>
          <a:blip r:embed="rId2"/>
          <a:srcRect/>
          <a:stretch>
            <a:fillRect/>
          </a:stretch>
        </p:blipFill>
        <p:spPr bwMode="auto">
          <a:xfrm>
            <a:off x="1828800" y="3657600"/>
            <a:ext cx="4953000" cy="1066800"/>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leptokurtic</a:t>
            </a:r>
            <a:endParaRPr lang="en-US" dirty="0"/>
          </a:p>
        </p:txBody>
      </p:sp>
      <p:pic>
        <p:nvPicPr>
          <p:cNvPr id="4" name="Content Placeholder 3"/>
          <p:cNvPicPr>
            <a:picLocks noGrp="1"/>
          </p:cNvPicPr>
          <p:nvPr>
            <p:ph sz="quarter" idx="1"/>
          </p:nvPr>
        </p:nvPicPr>
        <p:blipFill>
          <a:blip r:embed="rId2"/>
          <a:srcRect/>
          <a:stretch>
            <a:fillRect/>
          </a:stretch>
        </p:blipFill>
        <p:spPr bwMode="auto">
          <a:xfrm>
            <a:off x="457200" y="2035910"/>
            <a:ext cx="7467600" cy="4002205"/>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platykurtic</a:t>
            </a:r>
            <a:endParaRPr lang="en-US" dirty="0"/>
          </a:p>
        </p:txBody>
      </p:sp>
      <p:pic>
        <p:nvPicPr>
          <p:cNvPr id="4" name="Content Placeholder 3"/>
          <p:cNvPicPr>
            <a:picLocks noGrp="1"/>
          </p:cNvPicPr>
          <p:nvPr>
            <p:ph sz="quarter" idx="1"/>
          </p:nvPr>
        </p:nvPicPr>
        <p:blipFill>
          <a:blip r:embed="rId2"/>
          <a:srcRect/>
          <a:stretch>
            <a:fillRect/>
          </a:stretch>
        </p:blipFill>
        <p:spPr bwMode="auto">
          <a:xfrm>
            <a:off x="457200" y="2318232"/>
            <a:ext cx="7467600" cy="3437560"/>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mesokurtic</a:t>
            </a:r>
            <a:endParaRPr lang="en-US" dirty="0"/>
          </a:p>
        </p:txBody>
      </p:sp>
      <p:pic>
        <p:nvPicPr>
          <p:cNvPr id="4" name="Content Placeholder 3"/>
          <p:cNvPicPr>
            <a:picLocks noGrp="1"/>
          </p:cNvPicPr>
          <p:nvPr>
            <p:ph sz="quarter" idx="1"/>
          </p:nvPr>
        </p:nvPicPr>
        <p:blipFill>
          <a:blip r:embed="rId2"/>
          <a:srcRect/>
          <a:stretch>
            <a:fillRect/>
          </a:stretch>
        </p:blipFill>
        <p:spPr bwMode="auto">
          <a:xfrm>
            <a:off x="457200" y="2132346"/>
            <a:ext cx="7467600" cy="3809333"/>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Measurement of data</a:t>
            </a:r>
          </a:p>
        </p:txBody>
      </p:sp>
      <p:sp>
        <p:nvSpPr>
          <p:cNvPr id="3" name="Content Placeholder 2"/>
          <p:cNvSpPr>
            <a:spLocks noGrp="1"/>
          </p:cNvSpPr>
          <p:nvPr>
            <p:ph sz="quarter" idx="1"/>
          </p:nvPr>
        </p:nvSpPr>
        <p:spPr/>
        <p:txBody>
          <a:bodyPr>
            <a:normAutofit fontScale="92500" lnSpcReduction="10000"/>
          </a:bodyPr>
          <a:lstStyle/>
          <a:p>
            <a:r>
              <a:rPr lang="en-US" b="1" dirty="0">
                <a:solidFill>
                  <a:schemeClr val="accent1">
                    <a:lumMod val="75000"/>
                  </a:schemeClr>
                </a:solidFill>
              </a:rPr>
              <a:t>Scale of Measurement of data:</a:t>
            </a:r>
          </a:p>
          <a:p>
            <a:pPr>
              <a:buNone/>
            </a:pPr>
            <a:r>
              <a:rPr lang="en-US" dirty="0"/>
              <a:t>	(nominal, ordinal, Interval, ratio)</a:t>
            </a:r>
          </a:p>
          <a:p>
            <a:r>
              <a:rPr lang="en-US" dirty="0">
                <a:solidFill>
                  <a:schemeClr val="accent1">
                    <a:lumMod val="75000"/>
                  </a:schemeClr>
                </a:solidFill>
              </a:rPr>
              <a:t>Measurement of central tendency(computational):</a:t>
            </a:r>
          </a:p>
          <a:p>
            <a:pPr>
              <a:buNone/>
            </a:pPr>
            <a:r>
              <a:rPr lang="en-US" dirty="0"/>
              <a:t>	Mean(arithmetic, geometric, progressive, harmonic)</a:t>
            </a:r>
          </a:p>
          <a:p>
            <a:r>
              <a:rPr lang="en-US" dirty="0">
                <a:solidFill>
                  <a:schemeClr val="accent1">
                    <a:lumMod val="75000"/>
                  </a:schemeClr>
                </a:solidFill>
              </a:rPr>
              <a:t>Measurement of central tendency(positional) or  Measure of center of location: </a:t>
            </a:r>
          </a:p>
          <a:p>
            <a:pPr>
              <a:buNone/>
            </a:pPr>
            <a:r>
              <a:rPr lang="en-US" dirty="0"/>
              <a:t>	</a:t>
            </a:r>
            <a:r>
              <a:rPr lang="en-US" dirty="0" err="1"/>
              <a:t>Quantiles</a:t>
            </a:r>
            <a:r>
              <a:rPr lang="en-US" dirty="0"/>
              <a:t>(median, quartiles, deciles</a:t>
            </a:r>
            <a:r>
              <a:rPr lang="en-US"/>
              <a:t>, percentiles), mode</a:t>
            </a:r>
            <a:endParaRPr lang="en-US" dirty="0"/>
          </a:p>
          <a:p>
            <a:r>
              <a:rPr lang="en-US" b="1" dirty="0">
                <a:solidFill>
                  <a:schemeClr val="accent1">
                    <a:lumMod val="75000"/>
                  </a:schemeClr>
                </a:solidFill>
              </a:rPr>
              <a:t>Measure of deviation or variation : </a:t>
            </a:r>
          </a:p>
          <a:p>
            <a:pPr>
              <a:buNone/>
            </a:pPr>
            <a:r>
              <a:rPr lang="en-US" dirty="0"/>
              <a:t>	Range, variance and standard deviation</a:t>
            </a:r>
          </a:p>
          <a:p>
            <a:r>
              <a:rPr lang="en-US" b="1" dirty="0">
                <a:solidFill>
                  <a:schemeClr val="accent1">
                    <a:lumMod val="75000"/>
                  </a:schemeClr>
                </a:solidFill>
              </a:rPr>
              <a:t>Measure of symmetry and shape :</a:t>
            </a:r>
            <a:r>
              <a:rPr lang="en-US" dirty="0"/>
              <a:t> </a:t>
            </a:r>
          </a:p>
          <a:p>
            <a:pPr>
              <a:buNone/>
            </a:pPr>
            <a:r>
              <a:rPr lang="en-US" dirty="0"/>
              <a:t>	</a:t>
            </a:r>
            <a:r>
              <a:rPr lang="en-US" dirty="0" err="1"/>
              <a:t>Skewness</a:t>
            </a:r>
            <a:r>
              <a:rPr lang="en-US" dirty="0"/>
              <a:t> and Kurtosis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lnSpcReduction="10000"/>
          </a:bodyPr>
          <a:lstStyle/>
          <a:p>
            <a:r>
              <a:rPr lang="en-US" dirty="0"/>
              <a:t>The shape of any distribution can be described by its various ‘moments’. The first four are:</a:t>
            </a:r>
          </a:p>
          <a:p>
            <a:r>
              <a:rPr lang="en-US" dirty="0"/>
              <a:t>1) The mean, which indicates the central tendency of a distribution.</a:t>
            </a:r>
          </a:p>
          <a:p>
            <a:r>
              <a:rPr lang="en-US" dirty="0"/>
              <a:t>2) The second moment is the variance, which indicates the width or deviation.</a:t>
            </a:r>
          </a:p>
          <a:p>
            <a:r>
              <a:rPr lang="en-US" dirty="0"/>
              <a:t>3) The third moment is the coefficient of </a:t>
            </a:r>
            <a:r>
              <a:rPr lang="en-US" dirty="0" err="1"/>
              <a:t>skewness</a:t>
            </a:r>
            <a:r>
              <a:rPr lang="en-US" dirty="0"/>
              <a:t>, which indicates any asymmetric ‘leaning’ to either left or right.</a:t>
            </a:r>
          </a:p>
          <a:p>
            <a:r>
              <a:rPr lang="en-US" dirty="0"/>
              <a:t>4) The fourth moment is the coefficient of Kurtosis, which indicates the degree of central ‘</a:t>
            </a:r>
            <a:r>
              <a:rPr lang="en-US" dirty="0" err="1"/>
              <a:t>peakedness</a:t>
            </a:r>
            <a:r>
              <a:rPr lang="en-US" dirty="0"/>
              <a:t>’ or, equivalently, the ‘fatness’ of the outer tails.</a:t>
            </a:r>
          </a:p>
          <a:p>
            <a:endParaRPr lang="en-US" dirty="0"/>
          </a:p>
        </p:txBody>
      </p:sp>
      <p:sp>
        <p:nvSpPr>
          <p:cNvPr id="4" name="Title 3"/>
          <p:cNvSpPr>
            <a:spLocks noGrp="1"/>
          </p:cNvSpPr>
          <p:nvPr>
            <p:ph type="title"/>
          </p:nvPr>
        </p:nvSpPr>
        <p:spPr/>
        <p:txBody>
          <a:bodyPr/>
          <a:lstStyle/>
          <a:p>
            <a:r>
              <a:rPr lang="en-US" dirty="0"/>
              <a:t>Moments [of Statistical Distribution]</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18331</TotalTime>
  <Words>5075</Words>
  <Application>Microsoft Office PowerPoint</Application>
  <PresentationFormat>On-screen Show (4:3)</PresentationFormat>
  <Paragraphs>438</Paragraphs>
  <Slides>91</Slides>
  <Notes>0</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91</vt:i4>
      </vt:variant>
    </vt:vector>
  </HeadingPairs>
  <TitlesOfParts>
    <vt:vector size="98" baseType="lpstr">
      <vt:lpstr>Arial Unicode MS</vt:lpstr>
      <vt:lpstr>Calibri</vt:lpstr>
      <vt:lpstr>Georgia</vt:lpstr>
      <vt:lpstr>Nunito</vt:lpstr>
      <vt:lpstr>Wingdings</vt:lpstr>
      <vt:lpstr>Wingdings 2</vt:lpstr>
      <vt:lpstr>Civic</vt:lpstr>
      <vt:lpstr>Collection, Presentation of Data, and Descriptive Statistics  </vt:lpstr>
      <vt:lpstr>Data</vt:lpstr>
      <vt:lpstr>Constant data</vt:lpstr>
      <vt:lpstr>Variable data</vt:lpstr>
      <vt:lpstr>Qualitative and Quantitative Variable Data</vt:lpstr>
      <vt:lpstr>Discrete Variable Data</vt:lpstr>
      <vt:lpstr>Continuous Variable Data</vt:lpstr>
      <vt:lpstr>Exercise</vt:lpstr>
      <vt:lpstr>Data Analytics vs Data Analysis</vt:lpstr>
      <vt:lpstr> Data Analysis</vt:lpstr>
      <vt:lpstr>Data Presentation</vt:lpstr>
      <vt:lpstr>Data analysis -Univariate,bivariate and Multivariate</vt:lpstr>
      <vt:lpstr>Data analysis -Univariate,bivariate and Multivariate</vt:lpstr>
      <vt:lpstr>Data analysis -Univariate,bivariate and Multivariate</vt:lpstr>
      <vt:lpstr>Data analysis -Univariate,bivariate and Multivariate</vt:lpstr>
      <vt:lpstr>Data analysis -Univariate,bivariate and Multivariate</vt:lpstr>
      <vt:lpstr>Data Measurement Scales</vt:lpstr>
      <vt:lpstr>Example : Scales of Measurement</vt:lpstr>
      <vt:lpstr>Situation 1 : Nominal variables </vt:lpstr>
      <vt:lpstr>Nominal variables</vt:lpstr>
      <vt:lpstr>Nominal variables</vt:lpstr>
      <vt:lpstr>Examples: Nominal variables</vt:lpstr>
      <vt:lpstr>Situation 2 : Ordinal variables </vt:lpstr>
      <vt:lpstr>Ordinal variables</vt:lpstr>
      <vt:lpstr>Examples: Ordinal variables</vt:lpstr>
      <vt:lpstr>Situation 3 :Interval variables</vt:lpstr>
      <vt:lpstr>Interval variables</vt:lpstr>
      <vt:lpstr>Situation 4 : Ratio variables</vt:lpstr>
      <vt:lpstr>Ratio variables</vt:lpstr>
      <vt:lpstr>Exercise</vt:lpstr>
      <vt:lpstr>Scale of Measurement</vt:lpstr>
      <vt:lpstr>Population and Sample</vt:lpstr>
      <vt:lpstr>Population and Sample</vt:lpstr>
      <vt:lpstr>Descriptive Statistics</vt:lpstr>
      <vt:lpstr>Descriptive Statistics</vt:lpstr>
      <vt:lpstr>Measures of Central Tendency</vt:lpstr>
      <vt:lpstr>Mean : Arithmetic Mean</vt:lpstr>
      <vt:lpstr>Individual observations</vt:lpstr>
      <vt:lpstr>Mode</vt:lpstr>
      <vt:lpstr>Mode</vt:lpstr>
      <vt:lpstr>Mode</vt:lpstr>
      <vt:lpstr>Median</vt:lpstr>
      <vt:lpstr>Median</vt:lpstr>
      <vt:lpstr>Median</vt:lpstr>
      <vt:lpstr>Other Measures of Location : Quantiles</vt:lpstr>
      <vt:lpstr>Quartiles</vt:lpstr>
      <vt:lpstr>Quartiles</vt:lpstr>
      <vt:lpstr>Quartiles</vt:lpstr>
      <vt:lpstr>Quartiles</vt:lpstr>
      <vt:lpstr>Deciles</vt:lpstr>
      <vt:lpstr>Deciles</vt:lpstr>
      <vt:lpstr>Deciles</vt:lpstr>
      <vt:lpstr>Percentiles</vt:lpstr>
      <vt:lpstr>Percentiles</vt:lpstr>
      <vt:lpstr>Relationship between Median, Quartiles, Deciles and Percentiles</vt:lpstr>
      <vt:lpstr>Measures of Variation</vt:lpstr>
      <vt:lpstr>PowerPoint Presentation</vt:lpstr>
      <vt:lpstr>measures of central tendency</vt:lpstr>
      <vt:lpstr>measures of central tendency</vt:lpstr>
      <vt:lpstr>measure of dispersion</vt:lpstr>
      <vt:lpstr>Objectives of Measures of Variation</vt:lpstr>
      <vt:lpstr>Types of Measures of Variation</vt:lpstr>
      <vt:lpstr>Types of Measures of Variation</vt:lpstr>
      <vt:lpstr>Measures of Variation or Deviation</vt:lpstr>
      <vt:lpstr>Measures of Variation or Deviation</vt:lpstr>
      <vt:lpstr>Variance and Standard Deviation</vt:lpstr>
      <vt:lpstr>Variance and Standard Deviation</vt:lpstr>
      <vt:lpstr>Variance and Standard Deviation</vt:lpstr>
      <vt:lpstr>Variance and Standard Deviation</vt:lpstr>
      <vt:lpstr>Variance and Standard Deviation</vt:lpstr>
      <vt:lpstr>Variance and Standard Deviation</vt:lpstr>
      <vt:lpstr>MEASURES OF SYMMETRY AND SHAPE </vt:lpstr>
      <vt:lpstr>Skewness</vt:lpstr>
      <vt:lpstr>Skewness</vt:lpstr>
      <vt:lpstr>Normal Skewness</vt:lpstr>
      <vt:lpstr>Frequency Curves :  Symmetric/Normal curve</vt:lpstr>
      <vt:lpstr>Symmetric/Normal curve</vt:lpstr>
      <vt:lpstr>Positive Skewnwss</vt:lpstr>
      <vt:lpstr>Frequency Curves :  Positively skewed curve</vt:lpstr>
      <vt:lpstr>Positively skewed curve</vt:lpstr>
      <vt:lpstr>Negative skewness</vt:lpstr>
      <vt:lpstr>Frequency Curves :  Negatively skewed curve</vt:lpstr>
      <vt:lpstr>Negatively skewed curve</vt:lpstr>
      <vt:lpstr>Kurtosis </vt:lpstr>
      <vt:lpstr>Kurtosis </vt:lpstr>
      <vt:lpstr>Kurtosis </vt:lpstr>
      <vt:lpstr>leptokurtic</vt:lpstr>
      <vt:lpstr>platykurtic</vt:lpstr>
      <vt:lpstr>mesokurtic</vt:lpstr>
      <vt:lpstr>Different Measurement of data</vt:lpstr>
      <vt:lpstr>Moments [of Statistical Distribution]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and Presentations</dc:title>
  <dc:creator>HOD_IT</dc:creator>
  <cp:lastModifiedBy>gcet</cp:lastModifiedBy>
  <cp:revision>215</cp:revision>
  <dcterms:created xsi:type="dcterms:W3CDTF">2021-02-28T05:50:01Z</dcterms:created>
  <dcterms:modified xsi:type="dcterms:W3CDTF">2024-07-29T08:46:57Z</dcterms:modified>
</cp:coreProperties>
</file>