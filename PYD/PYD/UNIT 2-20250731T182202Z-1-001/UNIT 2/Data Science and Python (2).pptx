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3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96" r:id="rId23"/>
    <p:sldId id="297" r:id="rId24"/>
    <p:sldId id="298"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Lst>
  <p:sldSz cx="9144000" cy="6858000" type="screen4x3"/>
  <p:notesSz cx="6858000" cy="9144000"/>
  <p:embeddedFontLst>
    <p:embeddedFont>
      <p:font typeface="Calibri" panose="020F0502020204030204" pitchFamily="34" charset="0"/>
      <p:regular r:id="rId40"/>
      <p:bold r:id="rId41"/>
      <p:italic r:id="rId42"/>
      <p:boldItalic r:id="rId43"/>
    </p:embeddedFont>
    <p:embeddedFont>
      <p:font typeface="Constantia" panose="02030602050306030303" pitchFamily="18"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jR+qohPj4RFsqR0U/zID9pMtfs5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4660"/>
  </p:normalViewPr>
  <p:slideViewPr>
    <p:cSldViewPr snapToGrid="0">
      <p:cViewPr varScale="1">
        <p:scale>
          <a:sx n="67" d="100"/>
          <a:sy n="67" d="100"/>
        </p:scale>
        <p:origin x="1410"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customschemas.google.com/relationships/presentationmetadata" Target="meta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40277543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1133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1403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2717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5649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5805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97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7483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848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0197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9319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066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6911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3506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6175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5909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026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2309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4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786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66457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4370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44823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0629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8045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1894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45188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9915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94321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20199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9312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56016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6297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86887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06441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60083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2395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16"/>
        <p:cNvGrpSpPr/>
        <p:nvPr/>
      </p:nvGrpSpPr>
      <p:grpSpPr>
        <a:xfrm>
          <a:off x="0" y="0"/>
          <a:ext cx="0" cy="0"/>
          <a:chOff x="0" y="0"/>
          <a:chExt cx="0" cy="0"/>
        </a:xfrm>
      </p:grpSpPr>
      <p:sp>
        <p:nvSpPr>
          <p:cNvPr id="17" name="Google Shape;17;p37"/>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7"/>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19" name="Google Shape;19;p3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3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6" name="Google Shape;36;p3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39"/>
        <p:cNvGrpSpPr/>
        <p:nvPr/>
      </p:nvGrpSpPr>
      <p:grpSpPr>
        <a:xfrm>
          <a:off x="0" y="0"/>
          <a:ext cx="0" cy="0"/>
          <a:chOff x="0" y="0"/>
          <a:chExt cx="0" cy="0"/>
        </a:xfrm>
      </p:grpSpPr>
      <p:sp>
        <p:nvSpPr>
          <p:cNvPr id="40" name="Google Shape;40;p36"/>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6"/>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42" name="Google Shape;42;p3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45"/>
        <p:cNvGrpSpPr/>
        <p:nvPr/>
      </p:nvGrpSpPr>
      <p:grpSpPr>
        <a:xfrm>
          <a:off x="0" y="0"/>
          <a:ext cx="0" cy="0"/>
          <a:chOff x="0" y="0"/>
          <a:chExt cx="0" cy="0"/>
        </a:xfrm>
      </p:grpSpPr>
      <p:sp>
        <p:nvSpPr>
          <p:cNvPr id="46" name="Google Shape;46;p39"/>
          <p:cNvSpPr txBox="1">
            <a:spLocks noGrp="1"/>
          </p:cNvSpPr>
          <p:nvPr>
            <p:ph type="title"/>
          </p:nvPr>
        </p:nvSpPr>
        <p:spPr>
          <a:xfrm>
            <a:off x="530352" y="1316736"/>
            <a:ext cx="7772400" cy="1362456"/>
          </a:xfrm>
          <a:prstGeom prst="rect">
            <a:avLst/>
          </a:prstGeom>
          <a:noFill/>
          <a:ln>
            <a:noFill/>
          </a:ln>
        </p:spPr>
        <p:txBody>
          <a:bodyPr spcFirstLastPara="1" wrap="square" lIns="0" tIns="0" rIns="0" bIns="0" anchor="b" anchorCtr="0">
            <a:noAutofit/>
          </a:bodyPr>
          <a:lstStyle>
            <a:lvl1pPr lvl="0" algn="l">
              <a:spcBef>
                <a:spcPts val="0"/>
              </a:spcBef>
              <a:spcAft>
                <a:spcPts val="0"/>
              </a:spcAft>
              <a:buClr>
                <a:srgbClr val="4AE3AC"/>
              </a:buClr>
              <a:buSzPts val="5600"/>
              <a:buFont typeface="Calibri"/>
              <a:buNone/>
              <a:defRPr sz="5600" b="1"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9"/>
          <p:cNvSpPr txBox="1">
            <a:spLocks noGrp="1"/>
          </p:cNvSpPr>
          <p:nvPr>
            <p:ph type="body" idx="1"/>
          </p:nvPr>
        </p:nvSpPr>
        <p:spPr>
          <a:xfrm>
            <a:off x="530352" y="2704664"/>
            <a:ext cx="7772400" cy="1509712"/>
          </a:xfrm>
          <a:prstGeom prst="rect">
            <a:avLst/>
          </a:prstGeom>
          <a:noFill/>
          <a:ln>
            <a:noFill/>
          </a:ln>
        </p:spPr>
        <p:txBody>
          <a:bodyPr spcFirstLastPara="1" wrap="square" lIns="45700" tIns="45700" rIns="45700" bIns="45700" anchor="t" anchorCtr="0">
            <a:normAutofit/>
          </a:bodyPr>
          <a:lstStyle>
            <a:lvl1pPr marL="457200" lvl="0" indent="-228600" algn="l">
              <a:spcBef>
                <a:spcPts val="440"/>
              </a:spcBef>
              <a:spcAft>
                <a:spcPts val="0"/>
              </a:spcAft>
              <a:buSzPts val="2090"/>
              <a:buNone/>
              <a:defRPr sz="2200">
                <a:solidFill>
                  <a:schemeClr val="lt1"/>
                </a:solidFill>
              </a:defRPr>
            </a:lvl1pPr>
            <a:lvl2pPr marL="914400" lvl="1" indent="-228600" algn="l">
              <a:spcBef>
                <a:spcPts val="360"/>
              </a:spcBef>
              <a:spcAft>
                <a:spcPts val="0"/>
              </a:spcAft>
              <a:buSzPts val="1530"/>
              <a:buNone/>
              <a:defRPr sz="1800">
                <a:solidFill>
                  <a:schemeClr val="lt1"/>
                </a:solidFill>
              </a:defRPr>
            </a:lvl2pPr>
            <a:lvl3pPr marL="1371600" lvl="2" indent="-228600" algn="l">
              <a:spcBef>
                <a:spcPts val="320"/>
              </a:spcBef>
              <a:spcAft>
                <a:spcPts val="0"/>
              </a:spcAft>
              <a:buSzPts val="1120"/>
              <a:buNone/>
              <a:defRPr sz="1600">
                <a:solidFill>
                  <a:schemeClr val="lt1"/>
                </a:solidFill>
              </a:defRPr>
            </a:lvl3pPr>
            <a:lvl4pPr marL="1828800" lvl="3" indent="-228600" algn="l">
              <a:spcBef>
                <a:spcPts val="280"/>
              </a:spcBef>
              <a:spcAft>
                <a:spcPts val="0"/>
              </a:spcAft>
              <a:buSzPts val="910"/>
              <a:buNone/>
              <a:defRPr sz="1400">
                <a:solidFill>
                  <a:schemeClr val="lt1"/>
                </a:solidFill>
              </a:defRPr>
            </a:lvl4pPr>
            <a:lvl5pPr marL="2286000" lvl="4" indent="-228600" algn="l">
              <a:spcBef>
                <a:spcPts val="280"/>
              </a:spcBef>
              <a:spcAft>
                <a:spcPts val="0"/>
              </a:spcAft>
              <a:buSzPts val="910"/>
              <a:buNone/>
              <a:defRPr sz="1400">
                <a:solidFill>
                  <a:schemeClr val="lt1"/>
                </a:solidFill>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8" name="Google Shape;48;p3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4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0"/>
          <p:cNvSpPr txBox="1">
            <a:spLocks noGrp="1"/>
          </p:cNvSpPr>
          <p:nvPr>
            <p:ph type="body" idx="1"/>
          </p:nvPr>
        </p:nvSpPr>
        <p:spPr>
          <a:xfrm>
            <a:off x="457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4" name="Google Shape;54;p40"/>
          <p:cNvSpPr txBox="1">
            <a:spLocks noGrp="1"/>
          </p:cNvSpPr>
          <p:nvPr>
            <p:ph type="body" idx="2"/>
          </p:nvPr>
        </p:nvSpPr>
        <p:spPr>
          <a:xfrm>
            <a:off x="4648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5" name="Google Shape;55;p4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0"/>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4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1"/>
          <p:cNvSpPr txBox="1">
            <a:spLocks noGrp="1"/>
          </p:cNvSpPr>
          <p:nvPr>
            <p:ph type="body" idx="1"/>
          </p:nvPr>
        </p:nvSpPr>
        <p:spPr>
          <a:xfrm>
            <a:off x="457200" y="1855248"/>
            <a:ext cx="4040188" cy="659352"/>
          </a:xfrm>
          <a:prstGeom prst="rect">
            <a:avLst/>
          </a:prstGeom>
          <a:noFill/>
          <a:ln>
            <a:noFill/>
          </a:ln>
        </p:spPr>
        <p:txBody>
          <a:bodyPr spcFirstLastPara="1" wrap="square" lIns="45700" tIns="0" rIns="45700" bIns="0" anchor="ctr" anchorCtr="0">
            <a:no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1" name="Google Shape;61;p41"/>
          <p:cNvSpPr txBox="1">
            <a:spLocks noGrp="1"/>
          </p:cNvSpPr>
          <p:nvPr>
            <p:ph type="body" idx="2"/>
          </p:nvPr>
        </p:nvSpPr>
        <p:spPr>
          <a:xfrm>
            <a:off x="4645025" y="1859757"/>
            <a:ext cx="4041775" cy="654843"/>
          </a:xfrm>
          <a:prstGeom prst="rect">
            <a:avLst/>
          </a:prstGeom>
          <a:noFill/>
          <a:ln>
            <a:noFill/>
          </a:ln>
        </p:spPr>
        <p:txBody>
          <a:bodyPr spcFirstLastPara="1" wrap="square" lIns="45700" tIns="0" rIns="45700" bIns="0" anchor="ctr" anchorCtr="0">
            <a:norm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2" name="Google Shape;62;p41"/>
          <p:cNvSpPr txBox="1">
            <a:spLocks noGrp="1"/>
          </p:cNvSpPr>
          <p:nvPr>
            <p:ph type="body" idx="3"/>
          </p:nvPr>
        </p:nvSpPr>
        <p:spPr>
          <a:xfrm>
            <a:off x="457200" y="2514600"/>
            <a:ext cx="4040188"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3" name="Google Shape;63;p41"/>
          <p:cNvSpPr txBox="1">
            <a:spLocks noGrp="1"/>
          </p:cNvSpPr>
          <p:nvPr>
            <p:ph type="body" idx="4"/>
          </p:nvPr>
        </p:nvSpPr>
        <p:spPr>
          <a:xfrm>
            <a:off x="4645025" y="2514600"/>
            <a:ext cx="4041775"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4" name="Google Shape;64;p4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42"/>
          <p:cNvSpPr txBox="1">
            <a:spLocks noGrp="1"/>
          </p:cNvSpPr>
          <p:nvPr>
            <p:ph type="title"/>
          </p:nvPr>
        </p:nvSpPr>
        <p:spPr>
          <a:xfrm>
            <a:off x="457200" y="704088"/>
            <a:ext cx="83058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sz="50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4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4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3"/>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3"/>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44"/>
          <p:cNvSpPr txBox="1">
            <a:spLocks noGrp="1"/>
          </p:cNvSpPr>
          <p:nvPr>
            <p:ph type="title"/>
          </p:nvPr>
        </p:nvSpPr>
        <p:spPr>
          <a:xfrm>
            <a:off x="685800" y="514352"/>
            <a:ext cx="2743200" cy="1162050"/>
          </a:xfrm>
          <a:prstGeom prst="rect">
            <a:avLst/>
          </a:prstGeom>
          <a:noFill/>
          <a:ln>
            <a:noFill/>
          </a:ln>
        </p:spPr>
        <p:txBody>
          <a:bodyPr spcFirstLastPara="1" wrap="square" lIns="0" tIns="45700" rIns="0" bIns="0" anchor="b" anchorCtr="0">
            <a:noAutofit/>
          </a:bodyPr>
          <a:lstStyle>
            <a:lvl1pPr lvl="0" algn="l">
              <a:spcBef>
                <a:spcPts val="0"/>
              </a:spcBef>
              <a:spcAft>
                <a:spcPts val="0"/>
              </a:spcAft>
              <a:buClr>
                <a:schemeClr val="dk2"/>
              </a:buClr>
              <a:buSzPts val="2600"/>
              <a:buFont typeface="Calibri"/>
              <a:buNone/>
              <a:defRPr sz="26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4"/>
          <p:cNvSpPr txBox="1">
            <a:spLocks noGrp="1"/>
          </p:cNvSpPr>
          <p:nvPr>
            <p:ph type="body" idx="1"/>
          </p:nvPr>
        </p:nvSpPr>
        <p:spPr>
          <a:xfrm>
            <a:off x="685800" y="1676400"/>
            <a:ext cx="2743200" cy="4572000"/>
          </a:xfrm>
          <a:prstGeom prst="rect">
            <a:avLst/>
          </a:prstGeom>
          <a:noFill/>
          <a:ln>
            <a:noFill/>
          </a:ln>
        </p:spPr>
        <p:txBody>
          <a:bodyPr spcFirstLastPara="1" wrap="square" lIns="18275" tIns="45700" rIns="18275" bIns="45700" anchor="t" anchorCtr="0">
            <a:normAutofit/>
          </a:bodyPr>
          <a:lstStyle>
            <a:lvl1pPr marL="457200" lvl="0" indent="-228600" algn="l">
              <a:spcBef>
                <a:spcPts val="280"/>
              </a:spcBef>
              <a:spcAft>
                <a:spcPts val="0"/>
              </a:spcAft>
              <a:buSzPts val="1330"/>
              <a:buNone/>
              <a:defRPr sz="1400"/>
            </a:lvl1pPr>
            <a:lvl2pPr marL="914400" lvl="1" indent="-228600" algn="l">
              <a:spcBef>
                <a:spcPts val="240"/>
              </a:spcBef>
              <a:spcAft>
                <a:spcPts val="0"/>
              </a:spcAft>
              <a:buSzPts val="1020"/>
              <a:buNone/>
              <a:defRPr sz="1200"/>
            </a:lvl2pPr>
            <a:lvl3pPr marL="1371600" lvl="2" indent="-228600" algn="l">
              <a:spcBef>
                <a:spcPts val="200"/>
              </a:spcBef>
              <a:spcAft>
                <a:spcPts val="0"/>
              </a:spcAft>
              <a:buSzPts val="700"/>
              <a:buNone/>
              <a:defRPr sz="1000"/>
            </a:lvl3pPr>
            <a:lvl4pPr marL="1828800" lvl="3" indent="-228600" algn="l">
              <a:spcBef>
                <a:spcPts val="180"/>
              </a:spcBef>
              <a:spcAft>
                <a:spcPts val="0"/>
              </a:spcAft>
              <a:buSzPts val="585"/>
              <a:buNone/>
              <a:defRPr sz="900"/>
            </a:lvl4pPr>
            <a:lvl5pPr marL="2286000" lvl="4" indent="-228600" algn="l">
              <a:spcBef>
                <a:spcPts val="180"/>
              </a:spcBef>
              <a:spcAft>
                <a:spcPts val="0"/>
              </a:spcAft>
              <a:buSzPts val="585"/>
              <a:buNone/>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9" name="Google Shape;79;p44"/>
          <p:cNvSpPr txBox="1">
            <a:spLocks noGrp="1"/>
          </p:cNvSpPr>
          <p:nvPr>
            <p:ph type="body" idx="2"/>
          </p:nvPr>
        </p:nvSpPr>
        <p:spPr>
          <a:xfrm>
            <a:off x="3575050" y="1676400"/>
            <a:ext cx="5111750" cy="4572000"/>
          </a:xfrm>
          <a:prstGeom prst="rect">
            <a:avLst/>
          </a:prstGeom>
          <a:noFill/>
          <a:ln>
            <a:noFill/>
          </a:ln>
        </p:spPr>
        <p:txBody>
          <a:bodyPr spcFirstLastPara="1" wrap="square" lIns="91425" tIns="0" rIns="91425" bIns="45700" anchor="t" anchorCtr="0">
            <a:normAutofit/>
          </a:bodyPr>
          <a:lstStyle>
            <a:lvl1pPr marL="457200" lvl="0" indent="-397510" algn="l">
              <a:spcBef>
                <a:spcPts val="560"/>
              </a:spcBef>
              <a:spcAft>
                <a:spcPts val="0"/>
              </a:spcAft>
              <a:buSzPts val="2660"/>
              <a:buChar char="⚫"/>
              <a:defRPr sz="2800"/>
            </a:lvl1pPr>
            <a:lvl2pPr marL="914400" lvl="1" indent="-368935" algn="l">
              <a:spcBef>
                <a:spcPts val="520"/>
              </a:spcBef>
              <a:spcAft>
                <a:spcPts val="0"/>
              </a:spcAft>
              <a:buSzPts val="2210"/>
              <a:buChar char="⚫"/>
              <a:defRPr sz="2600"/>
            </a:lvl2pPr>
            <a:lvl3pPr marL="1371600" lvl="2" indent="-335280" algn="l">
              <a:spcBef>
                <a:spcPts val="480"/>
              </a:spcBef>
              <a:spcAft>
                <a:spcPts val="0"/>
              </a:spcAft>
              <a:buSzPts val="1680"/>
              <a:buChar char="⚫"/>
              <a:defRPr sz="2400"/>
            </a:lvl3pPr>
            <a:lvl4pPr marL="1828800" lvl="3" indent="-311150" algn="l">
              <a:spcBef>
                <a:spcPts val="400"/>
              </a:spcBef>
              <a:spcAft>
                <a:spcPts val="0"/>
              </a:spcAft>
              <a:buSzPts val="1300"/>
              <a:buChar char="⚫"/>
              <a:defRPr sz="20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0" name="Google Shape;80;p4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3"/>
        <p:cNvGrpSpPr/>
        <p:nvPr/>
      </p:nvGrpSpPr>
      <p:grpSpPr>
        <a:xfrm>
          <a:off x="0" y="0"/>
          <a:ext cx="0" cy="0"/>
          <a:chOff x="0" y="0"/>
          <a:chExt cx="0" cy="0"/>
        </a:xfrm>
      </p:grpSpPr>
      <p:sp>
        <p:nvSpPr>
          <p:cNvPr id="84" name="Google Shape;84;p45"/>
          <p:cNvSpPr/>
          <p:nvPr/>
        </p:nvSpPr>
        <p:spPr>
          <a:xfrm rot="-10380000" flipH="1">
            <a:off x="3165753" y="1108077"/>
            <a:ext cx="52578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85" name="Google Shape;85;p45"/>
          <p:cNvSpPr/>
          <p:nvPr/>
        </p:nvSpPr>
        <p:spPr>
          <a:xfrm rot="-10380000" flipH="1">
            <a:off x="8004134" y="5359769"/>
            <a:ext cx="155448" cy="155448"/>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86" name="Google Shape;86;p45"/>
          <p:cNvSpPr txBox="1">
            <a:spLocks noGrp="1"/>
          </p:cNvSpPr>
          <p:nvPr>
            <p:ph type="title"/>
          </p:nvPr>
        </p:nvSpPr>
        <p:spPr>
          <a:xfrm>
            <a:off x="609600" y="1176996"/>
            <a:ext cx="2212848" cy="1582621"/>
          </a:xfrm>
          <a:prstGeom prst="rect">
            <a:avLst/>
          </a:prstGeom>
          <a:noFill/>
          <a:ln>
            <a:noFill/>
          </a:ln>
        </p:spPr>
        <p:txBody>
          <a:bodyPr spcFirstLastPara="1" wrap="square" lIns="45700" tIns="45700" rIns="45700" bIns="45700" anchor="b" anchorCtr="0">
            <a:normAutofit/>
          </a:bodyPr>
          <a:lstStyle>
            <a:lvl1pPr lvl="0" algn="l">
              <a:spcBef>
                <a:spcPts val="0"/>
              </a:spcBef>
              <a:spcAft>
                <a:spcPts val="0"/>
              </a:spcAft>
              <a:buClr>
                <a:schemeClr val="dk2"/>
              </a:buClr>
              <a:buSzPts val="2000"/>
              <a:buFont typeface="Calibri"/>
              <a:buNone/>
              <a:defRPr sz="20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45"/>
          <p:cNvSpPr txBox="1">
            <a:spLocks noGrp="1"/>
          </p:cNvSpPr>
          <p:nvPr>
            <p:ph type="body" idx="1"/>
          </p:nvPr>
        </p:nvSpPr>
        <p:spPr>
          <a:xfrm>
            <a:off x="609600" y="2828785"/>
            <a:ext cx="2209800" cy="2179320"/>
          </a:xfrm>
          <a:prstGeom prst="rect">
            <a:avLst/>
          </a:prstGeom>
          <a:noFill/>
          <a:ln>
            <a:noFill/>
          </a:ln>
        </p:spPr>
        <p:txBody>
          <a:bodyPr spcFirstLastPara="1" wrap="square" lIns="64000" tIns="45700" rIns="45700" bIns="45700" anchor="t" anchorCtr="0">
            <a:normAutofit/>
          </a:bodyPr>
          <a:lstStyle>
            <a:lvl1pPr marL="457200" lvl="0" indent="-228600" algn="l">
              <a:spcBef>
                <a:spcPts val="250"/>
              </a:spcBef>
              <a:spcAft>
                <a:spcPts val="0"/>
              </a:spcAft>
              <a:buSzPts val="1235"/>
              <a:buFont typeface="Constantia"/>
              <a:buNone/>
              <a:defRPr sz="1300"/>
            </a:lvl1pPr>
            <a:lvl2pPr marL="914400" lvl="1" indent="-293369" algn="l">
              <a:spcBef>
                <a:spcPts val="240"/>
              </a:spcBef>
              <a:spcAft>
                <a:spcPts val="0"/>
              </a:spcAft>
              <a:buSzPts val="1020"/>
              <a:buChar char="⚫"/>
              <a:defRPr sz="1200"/>
            </a:lvl2pPr>
            <a:lvl3pPr marL="1371600" lvl="2" indent="-273050" algn="l">
              <a:spcBef>
                <a:spcPts val="200"/>
              </a:spcBef>
              <a:spcAft>
                <a:spcPts val="0"/>
              </a:spcAft>
              <a:buSzPts val="700"/>
              <a:buChar char="⚫"/>
              <a:defRPr sz="1000"/>
            </a:lvl3pPr>
            <a:lvl4pPr marL="1828800" lvl="3" indent="-265747" algn="l">
              <a:spcBef>
                <a:spcPts val="180"/>
              </a:spcBef>
              <a:spcAft>
                <a:spcPts val="0"/>
              </a:spcAft>
              <a:buSzPts val="585"/>
              <a:buChar char="⚫"/>
              <a:defRPr sz="900"/>
            </a:lvl4pPr>
            <a:lvl5pPr marL="2286000" lvl="4" indent="-265747" algn="l">
              <a:spcBef>
                <a:spcPts val="180"/>
              </a:spcBef>
              <a:spcAft>
                <a:spcPts val="0"/>
              </a:spcAft>
              <a:buSzPts val="585"/>
              <a:buChar char="⚫"/>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8" name="Google Shape;88;p4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45"/>
          <p:cNvSpPr txBox="1">
            <a:spLocks noGrp="1"/>
          </p:cNvSpPr>
          <p:nvPr>
            <p:ph type="sldNum" idx="12"/>
          </p:nvPr>
        </p:nvSpPr>
        <p:spPr>
          <a:xfrm>
            <a:off x="8077200" y="6356350"/>
            <a:ext cx="6096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91" name="Google Shape;91;p45"/>
          <p:cNvSpPr>
            <a:spLocks noGrp="1"/>
          </p:cNvSpPr>
          <p:nvPr>
            <p:ph type="pic" idx="2"/>
          </p:nvPr>
        </p:nvSpPr>
        <p:spPr>
          <a:xfrm rot="420000">
            <a:off x="3485793" y="1199517"/>
            <a:ext cx="4617720" cy="3931920"/>
          </a:xfrm>
          <a:prstGeom prst="rect">
            <a:avLst/>
          </a:prstGeom>
          <a:solidFill>
            <a:schemeClr val="lt2"/>
          </a:solidFill>
          <a:ln w="9525" cap="rnd" cmpd="sng">
            <a:solidFill>
              <a:srgbClr val="C0C0C0"/>
            </a:solidFill>
            <a:prstDash val="solid"/>
            <a:round/>
            <a:headEnd type="none" w="sm" len="sm"/>
            <a:tailEnd type="none" w="sm" len="sm"/>
          </a:ln>
        </p:spPr>
      </p:sp>
      <p:sp>
        <p:nvSpPr>
          <p:cNvPr id="92" name="Google Shape;92;p45"/>
          <p:cNvSpPr/>
          <p:nvPr/>
        </p:nvSpPr>
        <p:spPr>
          <a:xfrm rot="10800000" flipH="1">
            <a:off x="-9525" y="5816600"/>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93" name="Google Shape;93;p45"/>
          <p:cNvSpPr/>
          <p:nvPr/>
        </p:nvSpPr>
        <p:spPr>
          <a:xfrm rot="10800000" flipH="1">
            <a:off x="4381500" y="6219825"/>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4"/>
        <p:cNvGrpSpPr/>
        <p:nvPr/>
      </p:nvGrpSpPr>
      <p:grpSpPr>
        <a:xfrm>
          <a:off x="0" y="0"/>
          <a:ext cx="0" cy="0"/>
          <a:chOff x="0" y="0"/>
          <a:chExt cx="0" cy="0"/>
        </a:xfrm>
      </p:grpSpPr>
      <p:sp>
        <p:nvSpPr>
          <p:cNvPr id="95" name="Google Shape;95;p4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46"/>
          <p:cNvSpPr txBox="1">
            <a:spLocks noGrp="1"/>
          </p:cNvSpPr>
          <p:nvPr>
            <p:ph type="body" idx="1"/>
          </p:nvPr>
        </p:nvSpPr>
        <p:spPr>
          <a:xfrm rot="5400000">
            <a:off x="2377440" y="15240"/>
            <a:ext cx="4389120" cy="82296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7" name="Google Shape;97;p4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4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4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47"/>
          <p:cNvSpPr txBox="1">
            <a:spLocks noGrp="1"/>
          </p:cNvSpPr>
          <p:nvPr>
            <p:ph type="title"/>
          </p:nvPr>
        </p:nvSpPr>
        <p:spPr>
          <a:xfrm rot="5400000">
            <a:off x="5052219" y="2491582"/>
            <a:ext cx="5211763" cy="20574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47"/>
          <p:cNvSpPr txBox="1">
            <a:spLocks noGrp="1"/>
          </p:cNvSpPr>
          <p:nvPr>
            <p:ph type="body" idx="1"/>
          </p:nvPr>
        </p:nvSpPr>
        <p:spPr>
          <a:xfrm rot="5400000">
            <a:off x="861219" y="510382"/>
            <a:ext cx="5211763" cy="60198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3" name="Google Shape;103;p4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4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4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alphaModFix/>
          </a:blip>
          <a:tile tx="0" ty="0" sx="65000" sy="65000" flip="none" algn="tl"/>
        </a:blipFill>
        <a:effectLst/>
      </p:bgPr>
    </p:bg>
    <p:spTree>
      <p:nvGrpSpPr>
        <p:cNvPr id="1" name="Shape 5"/>
        <p:cNvGrpSpPr/>
        <p:nvPr/>
      </p:nvGrpSpPr>
      <p:grpSpPr>
        <a:xfrm>
          <a:off x="0" y="0"/>
          <a:ext cx="0" cy="0"/>
          <a:chOff x="0" y="0"/>
          <a:chExt cx="0" cy="0"/>
        </a:xfrm>
      </p:grpSpPr>
      <p:sp>
        <p:nvSpPr>
          <p:cNvPr id="6" name="Google Shape;6;p35"/>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7" name="Google Shape;7;p35"/>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8" name="Google Shape;8;p3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lt2"/>
              </a:buClr>
              <a:buSzPts val="5000"/>
              <a:buFont typeface="Calibri"/>
              <a:buNone/>
              <a:defRPr sz="5000" b="0" i="0" u="none" strike="noStrike" cap="non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3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lt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lt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lt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lt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lt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lt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lt1"/>
                </a:solidFill>
                <a:latin typeface="Constantia"/>
                <a:ea typeface="Constantia"/>
                <a:cs typeface="Constantia"/>
                <a:sym typeface="Constantia"/>
              </a:defRPr>
            </a:lvl7pPr>
            <a:lvl8pPr marL="3657600" marR="0" lvl="7" indent="-330200" algn="l" rtl="0">
              <a:spcBef>
                <a:spcPts val="320"/>
              </a:spcBef>
              <a:spcAft>
                <a:spcPts val="0"/>
              </a:spcAft>
              <a:buClr>
                <a:schemeClr val="lt2"/>
              </a:buClr>
              <a:buSzPts val="1600"/>
              <a:buFont typeface="Constantia"/>
              <a:buChar char="•"/>
              <a:defRPr sz="1600" b="0" i="0" u="none" strike="noStrike" cap="none">
                <a:solidFill>
                  <a:schemeClr val="lt1"/>
                </a:solidFill>
                <a:latin typeface="Constantia"/>
                <a:ea typeface="Constantia"/>
                <a:cs typeface="Constantia"/>
                <a:sym typeface="Constantia"/>
              </a:defRPr>
            </a:lvl8pPr>
            <a:lvl9pPr marL="4114800" marR="0" lvl="8" indent="-317500" algn="l" rtl="0">
              <a:spcBef>
                <a:spcPts val="280"/>
              </a:spcBef>
              <a:spcAft>
                <a:spcPts val="0"/>
              </a:spcAft>
              <a:buClr>
                <a:schemeClr val="lt2"/>
              </a:buClr>
              <a:buSzPts val="1400"/>
              <a:buFont typeface="Constantia"/>
              <a:buChar char="•"/>
              <a:defRPr sz="1400" b="0" i="0" u="none" strike="noStrike" cap="none">
                <a:solidFill>
                  <a:schemeClr val="lt1"/>
                </a:solidFill>
                <a:latin typeface="Constantia"/>
                <a:ea typeface="Constantia"/>
                <a:cs typeface="Constantia"/>
                <a:sym typeface="Constantia"/>
              </a:defRPr>
            </a:lvl9pPr>
          </a:lstStyle>
          <a:p>
            <a:endParaRPr/>
          </a:p>
        </p:txBody>
      </p:sp>
      <p:sp>
        <p:nvSpPr>
          <p:cNvPr id="10" name="Google Shape;10;p3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1" name="Google Shape;11;p3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2" name="Google Shape;12;p3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i="0" u="none" strike="noStrike" cap="none">
                <a:solidFill>
                  <a:srgbClr val="D0E9ED"/>
                </a:solidFill>
                <a:latin typeface="Constantia"/>
                <a:ea typeface="Constantia"/>
                <a:cs typeface="Constantia"/>
                <a:sym typeface="Constantia"/>
              </a:defRPr>
            </a:lvl1pPr>
            <a:lvl2pPr marL="0" marR="0" lvl="1" indent="0" algn="r" rtl="0">
              <a:spcBef>
                <a:spcPts val="0"/>
              </a:spcBef>
              <a:buNone/>
              <a:defRPr sz="1200" b="0" i="0" u="none" strike="noStrike" cap="none">
                <a:solidFill>
                  <a:srgbClr val="D0E9ED"/>
                </a:solidFill>
                <a:latin typeface="Constantia"/>
                <a:ea typeface="Constantia"/>
                <a:cs typeface="Constantia"/>
                <a:sym typeface="Constantia"/>
              </a:defRPr>
            </a:lvl2pPr>
            <a:lvl3pPr marL="0" marR="0" lvl="2" indent="0" algn="r" rtl="0">
              <a:spcBef>
                <a:spcPts val="0"/>
              </a:spcBef>
              <a:buNone/>
              <a:defRPr sz="1200" b="0" i="0" u="none" strike="noStrike" cap="none">
                <a:solidFill>
                  <a:srgbClr val="D0E9ED"/>
                </a:solidFill>
                <a:latin typeface="Constantia"/>
                <a:ea typeface="Constantia"/>
                <a:cs typeface="Constantia"/>
                <a:sym typeface="Constantia"/>
              </a:defRPr>
            </a:lvl3pPr>
            <a:lvl4pPr marL="0" marR="0" lvl="3" indent="0" algn="r" rtl="0">
              <a:spcBef>
                <a:spcPts val="0"/>
              </a:spcBef>
              <a:buNone/>
              <a:defRPr sz="1200" b="0" i="0" u="none" strike="noStrike" cap="none">
                <a:solidFill>
                  <a:srgbClr val="D0E9ED"/>
                </a:solidFill>
                <a:latin typeface="Constantia"/>
                <a:ea typeface="Constantia"/>
                <a:cs typeface="Constantia"/>
                <a:sym typeface="Constantia"/>
              </a:defRPr>
            </a:lvl4pPr>
            <a:lvl5pPr marL="0" marR="0" lvl="4" indent="0" algn="r" rtl="0">
              <a:spcBef>
                <a:spcPts val="0"/>
              </a:spcBef>
              <a:buNone/>
              <a:defRPr sz="1200" b="0" i="0" u="none" strike="noStrike" cap="none">
                <a:solidFill>
                  <a:srgbClr val="D0E9ED"/>
                </a:solidFill>
                <a:latin typeface="Constantia"/>
                <a:ea typeface="Constantia"/>
                <a:cs typeface="Constantia"/>
                <a:sym typeface="Constantia"/>
              </a:defRPr>
            </a:lvl5pPr>
            <a:lvl6pPr marL="0" marR="0" lvl="5" indent="0" algn="r" rtl="0">
              <a:spcBef>
                <a:spcPts val="0"/>
              </a:spcBef>
              <a:buNone/>
              <a:defRPr sz="1200" b="0" i="0" u="none" strike="noStrike" cap="none">
                <a:solidFill>
                  <a:srgbClr val="D0E9ED"/>
                </a:solidFill>
                <a:latin typeface="Constantia"/>
                <a:ea typeface="Constantia"/>
                <a:cs typeface="Constantia"/>
                <a:sym typeface="Constantia"/>
              </a:defRPr>
            </a:lvl6pPr>
            <a:lvl7pPr marL="0" marR="0" lvl="6" indent="0" algn="r" rtl="0">
              <a:spcBef>
                <a:spcPts val="0"/>
              </a:spcBef>
              <a:buNone/>
              <a:defRPr sz="1200" b="0" i="0" u="none" strike="noStrike" cap="none">
                <a:solidFill>
                  <a:srgbClr val="D0E9ED"/>
                </a:solidFill>
                <a:latin typeface="Constantia"/>
                <a:ea typeface="Constantia"/>
                <a:cs typeface="Constantia"/>
                <a:sym typeface="Constantia"/>
              </a:defRPr>
            </a:lvl7pPr>
            <a:lvl8pPr marL="0" marR="0" lvl="7" indent="0" algn="r" rtl="0">
              <a:spcBef>
                <a:spcPts val="0"/>
              </a:spcBef>
              <a:buNone/>
              <a:defRPr sz="1200" b="0" i="0" u="none" strike="noStrike" cap="none">
                <a:solidFill>
                  <a:srgbClr val="D0E9ED"/>
                </a:solidFill>
                <a:latin typeface="Constantia"/>
                <a:ea typeface="Constantia"/>
                <a:cs typeface="Constantia"/>
                <a:sym typeface="Constantia"/>
              </a:defRPr>
            </a:lvl8pPr>
            <a:lvl9pPr marL="0" marR="0" lvl="8" indent="0" algn="r" rtl="0">
              <a:spcBef>
                <a:spcPts val="0"/>
              </a:spcBef>
              <a:buNone/>
              <a:defRPr sz="1200" b="0" i="0" u="none" strike="noStrike" cap="none">
                <a:solidFill>
                  <a:srgbClr val="D0E9ED"/>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IN"/>
              <a:t>‹#›</a:t>
            </a:fld>
            <a:endParaRPr/>
          </a:p>
        </p:txBody>
      </p:sp>
      <p:grpSp>
        <p:nvGrpSpPr>
          <p:cNvPr id="13" name="Google Shape;13;p35"/>
          <p:cNvGrpSpPr/>
          <p:nvPr/>
        </p:nvGrpSpPr>
        <p:grpSpPr>
          <a:xfrm>
            <a:off x="-29294" y="-16113"/>
            <a:ext cx="9198255" cy="1086266"/>
            <a:chOff x="-29322" y="-1971"/>
            <a:chExt cx="9198255" cy="1086266"/>
          </a:xfrm>
        </p:grpSpPr>
        <p:sp>
          <p:nvSpPr>
            <p:cNvPr id="14" name="Google Shape;14;p35"/>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15" name="Google Shape;15;p35"/>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65000" sy="65000" flip="none" algn="tl"/>
        </a:blipFill>
        <a:effectLst/>
      </p:bgPr>
    </p:bg>
    <p:spTree>
      <p:nvGrpSpPr>
        <p:cNvPr id="1" name="Shape 22"/>
        <p:cNvGrpSpPr/>
        <p:nvPr/>
      </p:nvGrpSpPr>
      <p:grpSpPr>
        <a:xfrm>
          <a:off x="0" y="0"/>
          <a:ext cx="0" cy="0"/>
          <a:chOff x="0" y="0"/>
          <a:chExt cx="0" cy="0"/>
        </a:xfrm>
      </p:grpSpPr>
      <p:sp>
        <p:nvSpPr>
          <p:cNvPr id="23" name="Google Shape;23;p34"/>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4" name="Google Shape;24;p34"/>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5" name="Google Shape;25;p3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dk2"/>
              </a:buClr>
              <a:buSzPts val="5000"/>
              <a:buFont typeface="Calibri"/>
              <a:buNone/>
              <a:defRPr sz="5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3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dk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dk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dk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dk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dk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dk1"/>
                </a:solidFill>
                <a:latin typeface="Constantia"/>
                <a:ea typeface="Constantia"/>
                <a:cs typeface="Constantia"/>
                <a:sym typeface="Constantia"/>
              </a:defRPr>
            </a:lvl7pPr>
            <a:lvl8pPr marL="3657600" marR="0" lvl="7" indent="-330200" algn="l" rtl="0">
              <a:spcBef>
                <a:spcPts val="320"/>
              </a:spcBef>
              <a:spcAft>
                <a:spcPts val="0"/>
              </a:spcAft>
              <a:buClr>
                <a:schemeClr val="dk2"/>
              </a:buClr>
              <a:buSzPts val="1600"/>
              <a:buFont typeface="Constantia"/>
              <a:buChar char="•"/>
              <a:defRPr sz="1600" b="0" i="0" u="none" strike="noStrike" cap="none">
                <a:solidFill>
                  <a:schemeClr val="dk1"/>
                </a:solidFill>
                <a:latin typeface="Constantia"/>
                <a:ea typeface="Constantia"/>
                <a:cs typeface="Constantia"/>
                <a:sym typeface="Constantia"/>
              </a:defRPr>
            </a:lvl8pPr>
            <a:lvl9pPr marL="4114800" marR="0" lvl="8" indent="-317500" algn="l" rtl="0">
              <a:spcBef>
                <a:spcPts val="280"/>
              </a:spcBef>
              <a:spcAft>
                <a:spcPts val="0"/>
              </a:spcAft>
              <a:buClr>
                <a:schemeClr val="dk2"/>
              </a:buClr>
              <a:buSzPts val="1400"/>
              <a:buFont typeface="Constantia"/>
              <a:buChar char="•"/>
              <a:defRPr sz="1400" b="0" i="0" u="none" strike="noStrike" cap="none">
                <a:solidFill>
                  <a:schemeClr val="dk1"/>
                </a:solidFill>
                <a:latin typeface="Constantia"/>
                <a:ea typeface="Constantia"/>
                <a:cs typeface="Constantia"/>
                <a:sym typeface="Constantia"/>
              </a:defRPr>
            </a:lvl9pPr>
          </a:lstStyle>
          <a:p>
            <a:endParaRPr/>
          </a:p>
        </p:txBody>
      </p:sp>
      <p:sp>
        <p:nvSpPr>
          <p:cNvPr id="27" name="Google Shape;27;p3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28" name="Google Shape;28;p3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29" name="Google Shape;29;p3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u="none">
                <a:solidFill>
                  <a:srgbClr val="035C75"/>
                </a:solidFill>
                <a:latin typeface="Constantia"/>
                <a:ea typeface="Constantia"/>
                <a:cs typeface="Constantia"/>
                <a:sym typeface="Constantia"/>
              </a:defRPr>
            </a:lvl1pPr>
            <a:lvl2pPr marL="0" marR="0" lvl="1" indent="0" algn="r" rtl="0">
              <a:spcBef>
                <a:spcPts val="0"/>
              </a:spcBef>
              <a:buNone/>
              <a:defRPr sz="1200" b="0" u="none">
                <a:solidFill>
                  <a:srgbClr val="035C75"/>
                </a:solidFill>
                <a:latin typeface="Constantia"/>
                <a:ea typeface="Constantia"/>
                <a:cs typeface="Constantia"/>
                <a:sym typeface="Constantia"/>
              </a:defRPr>
            </a:lvl2pPr>
            <a:lvl3pPr marL="0" marR="0" lvl="2" indent="0" algn="r" rtl="0">
              <a:spcBef>
                <a:spcPts val="0"/>
              </a:spcBef>
              <a:buNone/>
              <a:defRPr sz="1200" b="0" u="none">
                <a:solidFill>
                  <a:srgbClr val="035C75"/>
                </a:solidFill>
                <a:latin typeface="Constantia"/>
                <a:ea typeface="Constantia"/>
                <a:cs typeface="Constantia"/>
                <a:sym typeface="Constantia"/>
              </a:defRPr>
            </a:lvl3pPr>
            <a:lvl4pPr marL="0" marR="0" lvl="3" indent="0" algn="r" rtl="0">
              <a:spcBef>
                <a:spcPts val="0"/>
              </a:spcBef>
              <a:buNone/>
              <a:defRPr sz="1200" b="0" u="none">
                <a:solidFill>
                  <a:srgbClr val="035C75"/>
                </a:solidFill>
                <a:latin typeface="Constantia"/>
                <a:ea typeface="Constantia"/>
                <a:cs typeface="Constantia"/>
                <a:sym typeface="Constantia"/>
              </a:defRPr>
            </a:lvl4pPr>
            <a:lvl5pPr marL="0" marR="0" lvl="4" indent="0" algn="r" rtl="0">
              <a:spcBef>
                <a:spcPts val="0"/>
              </a:spcBef>
              <a:buNone/>
              <a:defRPr sz="1200" b="0" u="none">
                <a:solidFill>
                  <a:srgbClr val="035C75"/>
                </a:solidFill>
                <a:latin typeface="Constantia"/>
                <a:ea typeface="Constantia"/>
                <a:cs typeface="Constantia"/>
                <a:sym typeface="Constantia"/>
              </a:defRPr>
            </a:lvl5pPr>
            <a:lvl6pPr marL="0" marR="0" lvl="5" indent="0" algn="r" rtl="0">
              <a:spcBef>
                <a:spcPts val="0"/>
              </a:spcBef>
              <a:buNone/>
              <a:defRPr sz="1200" b="0" u="none">
                <a:solidFill>
                  <a:srgbClr val="035C75"/>
                </a:solidFill>
                <a:latin typeface="Constantia"/>
                <a:ea typeface="Constantia"/>
                <a:cs typeface="Constantia"/>
                <a:sym typeface="Constantia"/>
              </a:defRPr>
            </a:lvl6pPr>
            <a:lvl7pPr marL="0" marR="0" lvl="6" indent="0" algn="r" rtl="0">
              <a:spcBef>
                <a:spcPts val="0"/>
              </a:spcBef>
              <a:buNone/>
              <a:defRPr sz="1200" b="0" u="none">
                <a:solidFill>
                  <a:srgbClr val="035C75"/>
                </a:solidFill>
                <a:latin typeface="Constantia"/>
                <a:ea typeface="Constantia"/>
                <a:cs typeface="Constantia"/>
                <a:sym typeface="Constantia"/>
              </a:defRPr>
            </a:lvl7pPr>
            <a:lvl8pPr marL="0" marR="0" lvl="7" indent="0" algn="r" rtl="0">
              <a:spcBef>
                <a:spcPts val="0"/>
              </a:spcBef>
              <a:buNone/>
              <a:defRPr sz="1200" b="0" u="none">
                <a:solidFill>
                  <a:srgbClr val="035C75"/>
                </a:solidFill>
                <a:latin typeface="Constantia"/>
                <a:ea typeface="Constantia"/>
                <a:cs typeface="Constantia"/>
                <a:sym typeface="Constantia"/>
              </a:defRPr>
            </a:lvl8pPr>
            <a:lvl9pPr marL="0" marR="0" lvl="8" indent="0" algn="r" rtl="0">
              <a:spcBef>
                <a:spcPts val="0"/>
              </a:spcBef>
              <a:buNone/>
              <a:defRPr sz="1200" b="0" u="none">
                <a:solidFill>
                  <a:srgbClr val="035C75"/>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IN"/>
              <a:t>‹#›</a:t>
            </a:fld>
            <a:endParaRPr/>
          </a:p>
        </p:txBody>
      </p:sp>
      <p:grpSp>
        <p:nvGrpSpPr>
          <p:cNvPr id="30" name="Google Shape;30;p34"/>
          <p:cNvGrpSpPr/>
          <p:nvPr/>
        </p:nvGrpSpPr>
        <p:grpSpPr>
          <a:xfrm>
            <a:off x="-29294" y="-16113"/>
            <a:ext cx="9198255" cy="1086266"/>
            <a:chOff x="-29322" y="-1971"/>
            <a:chExt cx="9198255" cy="1086266"/>
          </a:xfrm>
        </p:grpSpPr>
        <p:sp>
          <p:nvSpPr>
            <p:cNvPr id="31" name="Google Shape;31;p34"/>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32" name="Google Shape;32;p34"/>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p>
            <a:pPr marL="0" lvl="0" indent="0" algn="ctr" rtl="0">
              <a:spcBef>
                <a:spcPts val="0"/>
              </a:spcBef>
              <a:spcAft>
                <a:spcPts val="0"/>
              </a:spcAft>
              <a:buClr>
                <a:srgbClr val="4CE0EA"/>
              </a:buClr>
              <a:buSzPts val="6000"/>
              <a:buFont typeface="Calibri"/>
              <a:buNone/>
            </a:pPr>
            <a:r>
              <a:rPr lang="en-IN" sz="6000"/>
              <a:t>Data Science and Python</a:t>
            </a:r>
            <a:endParaRPr sz="6000"/>
          </a:p>
        </p:txBody>
      </p:sp>
      <p:sp>
        <p:nvSpPr>
          <p:cNvPr id="111" name="Google Shape;111;p1"/>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p>
            <a:pPr marL="0" lvl="0" indent="0" algn="ctr" rtl="0">
              <a:spcBef>
                <a:spcPts val="0"/>
              </a:spcBef>
              <a:spcAft>
                <a:spcPts val="0"/>
              </a:spcAft>
              <a:buSzPts val="2470"/>
              <a:buNone/>
            </a:pPr>
            <a:r>
              <a:rPr lang="en-IN"/>
              <a:t>Unit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t" anchorCtr="0">
            <a:normAutofit fontScale="90000"/>
          </a:bodyPr>
          <a:lstStyle/>
          <a:p>
            <a:pPr marL="0" lvl="0" indent="0" algn="l" rtl="0">
              <a:spcBef>
                <a:spcPts val="0"/>
              </a:spcBef>
              <a:spcAft>
                <a:spcPts val="0"/>
              </a:spcAft>
              <a:buClr>
                <a:schemeClr val="dk2"/>
              </a:buClr>
              <a:buSzPct val="100000"/>
              <a:buFont typeface="Calibri"/>
              <a:buNone/>
            </a:pPr>
            <a:r>
              <a:rPr lang="en-IN"/>
              <a:t>What is Data Science</a:t>
            </a:r>
            <a:br>
              <a:rPr lang="en-IN"/>
            </a:br>
            <a:endParaRPr/>
          </a:p>
        </p:txBody>
      </p:sp>
      <p:sp>
        <p:nvSpPr>
          <p:cNvPr id="117" name="Google Shape;117;p2"/>
          <p:cNvSpPr txBox="1">
            <a:spLocks noGrp="1"/>
          </p:cNvSpPr>
          <p:nvPr>
            <p:ph type="body" idx="1"/>
          </p:nvPr>
        </p:nvSpPr>
        <p:spPr>
          <a:xfrm>
            <a:off x="381000" y="1905000"/>
            <a:ext cx="8229600" cy="438912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just" rtl="0">
              <a:spcBef>
                <a:spcPts val="0"/>
              </a:spcBef>
              <a:spcAft>
                <a:spcPts val="0"/>
              </a:spcAft>
              <a:buSzPct val="95000"/>
              <a:buChar char="⚫"/>
            </a:pPr>
            <a:r>
              <a:rPr lang="en-IN"/>
              <a:t>Data science – getting insight from data</a:t>
            </a:r>
            <a:endParaRPr/>
          </a:p>
          <a:p>
            <a:pPr marL="274320" lvl="0" indent="-141001" algn="just" rtl="0">
              <a:spcBef>
                <a:spcPts val="442"/>
              </a:spcBef>
              <a:spcAft>
                <a:spcPts val="0"/>
              </a:spcAft>
              <a:buSzPct val="95000"/>
              <a:buNone/>
            </a:pPr>
            <a:endParaRPr/>
          </a:p>
          <a:p>
            <a:pPr marL="274320" lvl="0" indent="-274320" algn="just" rtl="0">
              <a:spcBef>
                <a:spcPts val="442"/>
              </a:spcBef>
              <a:spcAft>
                <a:spcPts val="0"/>
              </a:spcAft>
              <a:buSzPct val="95000"/>
              <a:buChar char="⚫"/>
            </a:pPr>
            <a:r>
              <a:rPr lang="en-IN"/>
              <a:t>Data Science is a blend of various tools, algorithms, and machine learning principles with the goal to discover hidden patterns from the raw data.</a:t>
            </a:r>
            <a:endParaRPr/>
          </a:p>
          <a:p>
            <a:pPr marL="274320" lvl="0" indent="-141001" algn="just" rtl="0">
              <a:spcBef>
                <a:spcPts val="442"/>
              </a:spcBef>
              <a:spcAft>
                <a:spcPts val="0"/>
              </a:spcAft>
              <a:buSzPct val="95000"/>
              <a:buNone/>
            </a:pPr>
            <a:endParaRPr/>
          </a:p>
          <a:p>
            <a:pPr marL="274320" lvl="0" indent="-274320" algn="just" rtl="0">
              <a:spcBef>
                <a:spcPts val="442"/>
              </a:spcBef>
              <a:spcAft>
                <a:spcPts val="0"/>
              </a:spcAft>
              <a:buSzPct val="95000"/>
              <a:buChar char="⚫"/>
            </a:pPr>
            <a:r>
              <a:rPr lang="en-IN"/>
              <a:t>This aspect of data science is all about uncovering findings from data. Diving in at a granular level to mine and understand complex behaviors, trends, and inferences. It's about surfacing hidden insight that can help enable companies to make smarter business decisions. </a:t>
            </a:r>
            <a:endParaRPr/>
          </a:p>
          <a:p>
            <a:pPr marL="274320" lvl="0" indent="-141001" algn="just" rtl="0">
              <a:spcBef>
                <a:spcPts val="442"/>
              </a:spcBef>
              <a:spcAft>
                <a:spcPts val="0"/>
              </a:spcAft>
              <a:buSzPct val="95000"/>
              <a:buNone/>
            </a:pPr>
            <a:endParaRPr/>
          </a:p>
          <a:p>
            <a:pPr marL="274320" lvl="0" indent="-274320" algn="just" rtl="0">
              <a:spcBef>
                <a:spcPts val="442"/>
              </a:spcBef>
              <a:spcAft>
                <a:spcPts val="0"/>
              </a:spcAft>
              <a:buSzPct val="95000"/>
              <a:buChar char="⚫"/>
            </a:pPr>
            <a:r>
              <a:rPr lang="en-IN"/>
              <a:t>“Data science is the discipline of making data useful.”</a:t>
            </a:r>
            <a:endParaRPr/>
          </a:p>
          <a:p>
            <a:pPr marL="274320" lvl="0" indent="-141001" algn="just" rtl="0">
              <a:spcBef>
                <a:spcPts val="442"/>
              </a:spcBef>
              <a:spcAft>
                <a:spcPts val="0"/>
              </a:spcAft>
              <a:buSzPct val="950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3" descr="Data Sciences|Bigdata"/>
          <p:cNvPicPr preferRelativeResize="0">
            <a:picLocks noGrp="1"/>
          </p:cNvPicPr>
          <p:nvPr>
            <p:ph type="body" idx="1"/>
          </p:nvPr>
        </p:nvPicPr>
        <p:blipFill rotWithShape="1">
          <a:blip r:embed="rId3">
            <a:alphaModFix/>
          </a:blip>
          <a:srcRect/>
          <a:stretch/>
        </p:blipFill>
        <p:spPr>
          <a:xfrm>
            <a:off x="2133600" y="838200"/>
            <a:ext cx="4876800" cy="4953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457200" y="304800"/>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5000"/>
              <a:buFont typeface="Calibri"/>
              <a:buNone/>
            </a:pPr>
            <a:r>
              <a:rPr lang="en-IN"/>
              <a:t>Data All Around</a:t>
            </a:r>
            <a:endParaRPr/>
          </a:p>
        </p:txBody>
      </p:sp>
      <p:sp>
        <p:nvSpPr>
          <p:cNvPr id="128" name="Google Shape;128;p4"/>
          <p:cNvSpPr txBox="1">
            <a:spLocks noGrp="1"/>
          </p:cNvSpPr>
          <p:nvPr>
            <p:ph type="body" idx="1"/>
          </p:nvPr>
        </p:nvSpPr>
        <p:spPr>
          <a:xfrm>
            <a:off x="76200" y="12496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IN"/>
              <a:t>Lots of data is being collected and warehoused </a:t>
            </a:r>
            <a:endParaRPr/>
          </a:p>
          <a:p>
            <a:pPr marL="640080" lvl="1" indent="-246888" algn="l" rtl="0">
              <a:spcBef>
                <a:spcPts val="480"/>
              </a:spcBef>
              <a:spcAft>
                <a:spcPts val="0"/>
              </a:spcAft>
              <a:buSzPts val="2040"/>
              <a:buChar char="⚫"/>
            </a:pPr>
            <a:r>
              <a:rPr lang="en-IN"/>
              <a:t>Web data, e-commerce</a:t>
            </a:r>
            <a:endParaRPr/>
          </a:p>
          <a:p>
            <a:pPr marL="640080" lvl="1" indent="-246888" algn="l" rtl="0">
              <a:spcBef>
                <a:spcPts val="480"/>
              </a:spcBef>
              <a:spcAft>
                <a:spcPts val="0"/>
              </a:spcAft>
              <a:buSzPts val="2040"/>
              <a:buChar char="⚫"/>
            </a:pPr>
            <a:r>
              <a:rPr lang="en-IN"/>
              <a:t>Financial transactions, bank/credit transactions</a:t>
            </a:r>
            <a:endParaRPr/>
          </a:p>
          <a:p>
            <a:pPr marL="640080" lvl="1" indent="-246888" algn="l" rtl="0">
              <a:spcBef>
                <a:spcPts val="480"/>
              </a:spcBef>
              <a:spcAft>
                <a:spcPts val="0"/>
              </a:spcAft>
              <a:buSzPts val="2040"/>
              <a:buChar char="⚫"/>
            </a:pPr>
            <a:r>
              <a:rPr lang="en-IN"/>
              <a:t>Online trading and purchasing</a:t>
            </a:r>
            <a:endParaRPr/>
          </a:p>
          <a:p>
            <a:pPr marL="640080" lvl="1" indent="-246888" algn="l" rtl="0">
              <a:spcBef>
                <a:spcPts val="480"/>
              </a:spcBef>
              <a:spcAft>
                <a:spcPts val="0"/>
              </a:spcAft>
              <a:buSzPts val="2040"/>
              <a:buChar char="⚫"/>
            </a:pPr>
            <a:r>
              <a:rPr lang="en-IN"/>
              <a:t>Social Network</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pic>
        <p:nvPicPr>
          <p:cNvPr id="129" name="Google Shape;129;p4"/>
          <p:cNvPicPr preferRelativeResize="0"/>
          <p:nvPr/>
        </p:nvPicPr>
        <p:blipFill rotWithShape="1">
          <a:blip r:embed="rId3">
            <a:alphaModFix/>
          </a:blip>
          <a:srcRect/>
          <a:stretch/>
        </p:blipFill>
        <p:spPr>
          <a:xfrm>
            <a:off x="990600" y="4426527"/>
            <a:ext cx="2425700" cy="1631834"/>
          </a:xfrm>
          <a:prstGeom prst="rect">
            <a:avLst/>
          </a:prstGeom>
          <a:noFill/>
          <a:ln>
            <a:noFill/>
          </a:ln>
        </p:spPr>
      </p:pic>
      <p:pic>
        <p:nvPicPr>
          <p:cNvPr id="130" name="Google Shape;130;p4"/>
          <p:cNvPicPr preferRelativeResize="0"/>
          <p:nvPr/>
        </p:nvPicPr>
        <p:blipFill rotWithShape="1">
          <a:blip r:embed="rId4">
            <a:alphaModFix/>
          </a:blip>
          <a:srcRect/>
          <a:stretch/>
        </p:blipFill>
        <p:spPr>
          <a:xfrm>
            <a:off x="3962400" y="4681728"/>
            <a:ext cx="2495550" cy="1497330"/>
          </a:xfrm>
          <a:prstGeom prst="rect">
            <a:avLst/>
          </a:prstGeom>
          <a:noFill/>
          <a:ln>
            <a:noFill/>
          </a:ln>
        </p:spPr>
      </p:pic>
      <p:pic>
        <p:nvPicPr>
          <p:cNvPr id="131" name="Google Shape;131;p4"/>
          <p:cNvPicPr preferRelativeResize="0"/>
          <p:nvPr/>
        </p:nvPicPr>
        <p:blipFill rotWithShape="1">
          <a:blip r:embed="rId5">
            <a:alphaModFix/>
          </a:blip>
          <a:srcRect/>
          <a:stretch/>
        </p:blipFill>
        <p:spPr>
          <a:xfrm>
            <a:off x="6705600" y="3352800"/>
            <a:ext cx="2220252" cy="13289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IN"/>
              <a:t>Types of Data We Have</a:t>
            </a:r>
            <a:endParaRPr/>
          </a:p>
        </p:txBody>
      </p:sp>
      <p:sp>
        <p:nvSpPr>
          <p:cNvPr id="137" name="Google Shape;137;p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IN"/>
              <a:t>Relational Data (Tables/Transaction/Legacy Data)</a:t>
            </a:r>
            <a:endParaRPr/>
          </a:p>
          <a:p>
            <a:pPr marL="274320" lvl="0" indent="-274320" algn="l" rtl="0">
              <a:spcBef>
                <a:spcPts val="520"/>
              </a:spcBef>
              <a:spcAft>
                <a:spcPts val="0"/>
              </a:spcAft>
              <a:buSzPts val="2470"/>
              <a:buChar char="⚫"/>
            </a:pPr>
            <a:r>
              <a:rPr lang="en-IN"/>
              <a:t>Text Data (Web)</a:t>
            </a:r>
            <a:endParaRPr/>
          </a:p>
          <a:p>
            <a:pPr marL="274320" lvl="0" indent="-274320" algn="l" rtl="0">
              <a:spcBef>
                <a:spcPts val="520"/>
              </a:spcBef>
              <a:spcAft>
                <a:spcPts val="0"/>
              </a:spcAft>
              <a:buSzPts val="2470"/>
              <a:buChar char="⚫"/>
            </a:pPr>
            <a:r>
              <a:rPr lang="en-IN"/>
              <a:t>Semi-structured Data (XML) </a:t>
            </a:r>
            <a:endParaRPr/>
          </a:p>
          <a:p>
            <a:pPr marL="274320" lvl="0" indent="-274320" algn="l" rtl="0">
              <a:spcBef>
                <a:spcPts val="520"/>
              </a:spcBef>
              <a:spcAft>
                <a:spcPts val="0"/>
              </a:spcAft>
              <a:buSzPts val="2470"/>
              <a:buChar char="⚫"/>
            </a:pPr>
            <a:r>
              <a:rPr lang="en-IN"/>
              <a:t>Graph Data</a:t>
            </a:r>
            <a:endParaRPr/>
          </a:p>
          <a:p>
            <a:pPr marL="274320" lvl="0" indent="-274320" algn="l" rtl="0">
              <a:spcBef>
                <a:spcPts val="520"/>
              </a:spcBef>
              <a:spcAft>
                <a:spcPts val="0"/>
              </a:spcAft>
              <a:buSzPts val="2470"/>
              <a:buChar char="⚫"/>
            </a:pPr>
            <a:r>
              <a:rPr lang="en-IN"/>
              <a:t>Social Network, Semantic Web (RDF), … </a:t>
            </a:r>
            <a:endParaRPr/>
          </a:p>
          <a:p>
            <a:pPr marL="274320" lvl="0" indent="-274320" algn="l" rtl="0">
              <a:spcBef>
                <a:spcPts val="520"/>
              </a:spcBef>
              <a:spcAft>
                <a:spcPts val="0"/>
              </a:spcAft>
              <a:buSzPts val="2470"/>
              <a:buChar char="⚫"/>
            </a:pPr>
            <a:r>
              <a:rPr lang="en-IN"/>
              <a:t>Streaming Data </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IN"/>
              <a:t>Big Data and Data Science</a:t>
            </a:r>
            <a:endParaRPr/>
          </a:p>
        </p:txBody>
      </p:sp>
      <p:sp>
        <p:nvSpPr>
          <p:cNvPr id="143" name="Google Shape;143;p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280"/>
              <a:buChar char="⚫"/>
            </a:pPr>
            <a:r>
              <a:rPr lang="en-IN" sz="2400"/>
              <a:t>Over the last decade there’s been a massive explosion in both the data generated and retained by companies. Sometimes we call this “big data,” we’d like to build something with it.</a:t>
            </a:r>
            <a:endParaRPr/>
          </a:p>
          <a:p>
            <a:pPr marL="274320" lvl="0" indent="-129540" algn="just" rtl="0">
              <a:spcBef>
                <a:spcPts val="480"/>
              </a:spcBef>
              <a:spcAft>
                <a:spcPts val="0"/>
              </a:spcAft>
              <a:buSzPts val="2280"/>
              <a:buNone/>
            </a:pPr>
            <a:endParaRPr sz="2400"/>
          </a:p>
          <a:p>
            <a:pPr marL="274320" lvl="0" indent="-274320" algn="just" rtl="0">
              <a:spcBef>
                <a:spcPts val="480"/>
              </a:spcBef>
              <a:spcAft>
                <a:spcPts val="0"/>
              </a:spcAft>
              <a:buSzPts val="2280"/>
              <a:buChar char="⚫"/>
            </a:pPr>
            <a:r>
              <a:rPr lang="en-IN" sz="2400"/>
              <a:t>Data scientists are the people who make sense out of all this data and figure out just what can be done with it.</a:t>
            </a:r>
            <a:endParaRPr/>
          </a:p>
          <a:p>
            <a:pPr marL="274320" lvl="0" indent="-129540" algn="just" rtl="0">
              <a:spcBef>
                <a:spcPts val="480"/>
              </a:spcBef>
              <a:spcAft>
                <a:spcPts val="0"/>
              </a:spcAft>
              <a:buSzPts val="2280"/>
              <a:buNone/>
            </a:pPr>
            <a:endParaRPr sz="2400"/>
          </a:p>
          <a:p>
            <a:pPr marL="274320" lvl="0" indent="-274320" algn="just" rtl="0">
              <a:spcBef>
                <a:spcPts val="480"/>
              </a:spcBef>
              <a:spcAft>
                <a:spcPts val="0"/>
              </a:spcAft>
              <a:buSzPts val="2280"/>
              <a:buChar char="⚫"/>
            </a:pPr>
            <a:r>
              <a:rPr lang="en-IN" sz="2400" i="1"/>
              <a:t>Data Scientist</a:t>
            </a:r>
            <a:r>
              <a:rPr lang="en-IN" sz="2400"/>
              <a:t> is the“sexiest job title of the 21</a:t>
            </a:r>
            <a:r>
              <a:rPr lang="en-IN" sz="2400" baseline="30000"/>
              <a:t>st</a:t>
            </a:r>
            <a:r>
              <a:rPr lang="en-IN" sz="2400"/>
              <a:t> century.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4000"/>
              <a:buFont typeface="Calibri"/>
              <a:buNone/>
            </a:pPr>
            <a:r>
              <a:rPr lang="en-IN" sz="4000"/>
              <a:t>Data Science---Multidisciplinary field</a:t>
            </a:r>
            <a:endParaRPr sz="4000"/>
          </a:p>
        </p:txBody>
      </p:sp>
      <p:sp>
        <p:nvSpPr>
          <p:cNvPr id="149" name="Google Shape;149;p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lnSpcReduction="10000"/>
          </a:bodyPr>
          <a:lstStyle/>
          <a:p>
            <a:pPr marL="274320" lvl="0" indent="-274320" algn="just" rtl="0">
              <a:spcBef>
                <a:spcPts val="0"/>
              </a:spcBef>
              <a:spcAft>
                <a:spcPts val="0"/>
              </a:spcAft>
              <a:buSzPts val="2280"/>
              <a:buChar char="⚫"/>
            </a:pPr>
            <a:r>
              <a:rPr lang="en-IN" sz="2400"/>
              <a:t>Data science is an extension of various data analysis fields such as data mining, statistics, predictive analysis and many more. </a:t>
            </a:r>
            <a:endParaRPr sz="2400"/>
          </a:p>
          <a:p>
            <a:pPr marL="274320" lvl="0" indent="-129540" algn="just" rtl="0">
              <a:spcBef>
                <a:spcPts val="480"/>
              </a:spcBef>
              <a:spcAft>
                <a:spcPts val="0"/>
              </a:spcAft>
              <a:buSzPts val="2280"/>
              <a:buNone/>
            </a:pPr>
            <a:endParaRPr sz="2400"/>
          </a:p>
          <a:p>
            <a:pPr marL="274320" lvl="0" indent="-274320" algn="just" rtl="0">
              <a:spcBef>
                <a:spcPts val="480"/>
              </a:spcBef>
              <a:spcAft>
                <a:spcPts val="0"/>
              </a:spcAft>
              <a:buSzPts val="2280"/>
              <a:buChar char="⚫"/>
            </a:pPr>
            <a:r>
              <a:rPr lang="en-IN" sz="2400"/>
              <a:t>Data Science is a huge field that uses a lot of methods and concepts which belongs to other fields like information science, statistics, mathematics, and computer science. </a:t>
            </a:r>
            <a:endParaRPr sz="2400"/>
          </a:p>
          <a:p>
            <a:pPr marL="274320" lvl="0" indent="-129540" algn="just" rtl="0">
              <a:spcBef>
                <a:spcPts val="480"/>
              </a:spcBef>
              <a:spcAft>
                <a:spcPts val="0"/>
              </a:spcAft>
              <a:buSzPts val="2280"/>
              <a:buNone/>
            </a:pPr>
            <a:endParaRPr sz="2400"/>
          </a:p>
          <a:p>
            <a:pPr marL="274320" lvl="0" indent="-274320" algn="just" rtl="0">
              <a:spcBef>
                <a:spcPts val="480"/>
              </a:spcBef>
              <a:spcAft>
                <a:spcPts val="0"/>
              </a:spcAft>
              <a:buSzPts val="2280"/>
              <a:buChar char="⚫"/>
            </a:pPr>
            <a:r>
              <a:rPr lang="en-IN" sz="2400"/>
              <a:t>Some of the techniques utilized in Data Science encompasses machine learning, visualization, pattern recognition, probability model, data engineering, signal processing, etc.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8" descr="[image%255B3%255D.png]"/>
          <p:cNvPicPr preferRelativeResize="0">
            <a:picLocks noGrp="1"/>
          </p:cNvPicPr>
          <p:nvPr>
            <p:ph type="body" idx="1"/>
          </p:nvPr>
        </p:nvPicPr>
        <p:blipFill rotWithShape="1">
          <a:blip r:embed="rId3">
            <a:alphaModFix/>
          </a:blip>
          <a:srcRect/>
          <a:stretch/>
        </p:blipFill>
        <p:spPr>
          <a:xfrm>
            <a:off x="1143000" y="533400"/>
            <a:ext cx="6705600" cy="59566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4500"/>
              <a:buFont typeface="Calibri"/>
              <a:buNone/>
            </a:pPr>
            <a:r>
              <a:rPr lang="en-IN" sz="4500"/>
              <a:t>What do Data Scientists do?</a:t>
            </a:r>
            <a:endParaRPr sz="4500"/>
          </a:p>
        </p:txBody>
      </p:sp>
      <p:sp>
        <p:nvSpPr>
          <p:cNvPr id="160" name="Google Shape;160;p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10000"/>
          </a:bodyPr>
          <a:lstStyle/>
          <a:p>
            <a:pPr marL="274320" lvl="0" indent="-274320" algn="just" rtl="0">
              <a:spcBef>
                <a:spcPts val="0"/>
              </a:spcBef>
              <a:spcAft>
                <a:spcPts val="0"/>
              </a:spcAft>
              <a:buSzPct val="95000"/>
              <a:buChar char="⚫"/>
            </a:pPr>
            <a:r>
              <a:rPr lang="en-IN" sz="2400"/>
              <a:t>Data scientists are the key to realizing the opportunities presented by big data. </a:t>
            </a:r>
            <a:endParaRPr sz="2400"/>
          </a:p>
          <a:p>
            <a:pPr marL="274320" lvl="0" indent="-274320" algn="just" rtl="0">
              <a:spcBef>
                <a:spcPts val="408"/>
              </a:spcBef>
              <a:spcAft>
                <a:spcPts val="0"/>
              </a:spcAft>
              <a:buSzPct val="95000"/>
              <a:buChar char="⚫"/>
            </a:pPr>
            <a:r>
              <a:rPr lang="en-IN" sz="2400"/>
              <a:t>They bring structure to it, find compelling patterns in it, and advise executives on the implications for products, processes, and decisions</a:t>
            </a:r>
            <a:endParaRPr/>
          </a:p>
          <a:p>
            <a:pPr marL="274320" lvl="0" indent="-274320" algn="just" rtl="0">
              <a:spcBef>
                <a:spcPts val="408"/>
              </a:spcBef>
              <a:spcAft>
                <a:spcPts val="0"/>
              </a:spcAft>
              <a:buSzPct val="95000"/>
              <a:buChar char="⚫"/>
            </a:pPr>
            <a:r>
              <a:rPr lang="en-IN" sz="2400"/>
              <a:t>Some of them are:</a:t>
            </a:r>
            <a:endParaRPr/>
          </a:p>
          <a:p>
            <a:pPr marL="640080" lvl="1" indent="-246888" algn="just" rtl="0">
              <a:spcBef>
                <a:spcPts val="374"/>
              </a:spcBef>
              <a:spcAft>
                <a:spcPts val="0"/>
              </a:spcAft>
              <a:buSzPct val="85000"/>
              <a:buChar char="⚫"/>
            </a:pPr>
            <a:r>
              <a:rPr lang="en-IN" sz="2200"/>
              <a:t>Internet Search</a:t>
            </a:r>
            <a:endParaRPr/>
          </a:p>
          <a:p>
            <a:pPr marL="640080" lvl="1" indent="-246888" algn="just" rtl="0">
              <a:spcBef>
                <a:spcPts val="374"/>
              </a:spcBef>
              <a:spcAft>
                <a:spcPts val="0"/>
              </a:spcAft>
              <a:buSzPct val="85000"/>
              <a:buChar char="⚫"/>
            </a:pPr>
            <a:r>
              <a:rPr lang="en-IN" sz="2200"/>
              <a:t>Digital Advertisements</a:t>
            </a:r>
            <a:endParaRPr/>
          </a:p>
          <a:p>
            <a:pPr marL="640080" lvl="1" indent="-246888" algn="just" rtl="0">
              <a:spcBef>
                <a:spcPts val="374"/>
              </a:spcBef>
              <a:spcAft>
                <a:spcPts val="0"/>
              </a:spcAft>
              <a:buSzPct val="85000"/>
              <a:buChar char="⚫"/>
            </a:pPr>
            <a:r>
              <a:rPr lang="en-IN" sz="2200"/>
              <a:t>Recommender Systems like  </a:t>
            </a:r>
            <a:r>
              <a:rPr lang="en-IN" sz="2000"/>
              <a:t>Amazon, Netflix</a:t>
            </a:r>
            <a:endParaRPr/>
          </a:p>
          <a:p>
            <a:pPr marL="640080" lvl="1" indent="-246888" algn="just" rtl="0">
              <a:spcBef>
                <a:spcPts val="374"/>
              </a:spcBef>
              <a:spcAft>
                <a:spcPts val="0"/>
              </a:spcAft>
              <a:buSzPct val="85000"/>
              <a:buChar char="⚫"/>
            </a:pPr>
            <a:r>
              <a:rPr lang="en-IN" sz="2200"/>
              <a:t>Image Recognition e.g. </a:t>
            </a:r>
            <a:r>
              <a:rPr lang="en-IN" sz="2000"/>
              <a:t> tag your friends</a:t>
            </a:r>
            <a:endParaRPr sz="2200"/>
          </a:p>
          <a:p>
            <a:pPr marL="640080" lvl="1" indent="-246888" algn="just" rtl="0">
              <a:spcBef>
                <a:spcPts val="374"/>
              </a:spcBef>
              <a:spcAft>
                <a:spcPts val="0"/>
              </a:spcAft>
              <a:buSzPct val="85000"/>
              <a:buChar char="⚫"/>
            </a:pPr>
            <a:r>
              <a:rPr lang="en-IN" sz="2200"/>
              <a:t>Speech Recognition e.g. g</a:t>
            </a:r>
            <a:r>
              <a:rPr lang="en-IN" sz="2000"/>
              <a:t>oogle Voice, Siri, Cortana etc.</a:t>
            </a:r>
            <a:endParaRPr/>
          </a:p>
          <a:p>
            <a:pPr marL="640080" lvl="1" indent="-246888" algn="just" rtl="0">
              <a:spcBef>
                <a:spcPts val="340"/>
              </a:spcBef>
              <a:spcAft>
                <a:spcPts val="0"/>
              </a:spcAft>
              <a:buSzPct val="85000"/>
              <a:buChar char="⚫"/>
            </a:pPr>
            <a:r>
              <a:rPr lang="en-IN" sz="2000"/>
              <a:t>Healthcare eg. Disease prediction</a:t>
            </a:r>
            <a:endParaRPr/>
          </a:p>
          <a:p>
            <a:pPr marL="640080" lvl="1" indent="-246888" algn="just" rtl="0">
              <a:spcBef>
                <a:spcPts val="374"/>
              </a:spcBef>
              <a:spcAft>
                <a:spcPts val="0"/>
              </a:spcAft>
              <a:buSzPct val="85000"/>
              <a:buChar char="⚫"/>
            </a:pPr>
            <a:r>
              <a:rPr lang="en-IN" sz="2200"/>
              <a:t>Airline Route Planning</a:t>
            </a:r>
            <a:endParaRPr/>
          </a:p>
          <a:p>
            <a:pPr marL="640080" lvl="1" indent="-246888" algn="just" rtl="0">
              <a:spcBef>
                <a:spcPts val="374"/>
              </a:spcBef>
              <a:spcAft>
                <a:spcPts val="0"/>
              </a:spcAft>
              <a:buSzPct val="85000"/>
              <a:buChar char="⚫"/>
            </a:pPr>
            <a:r>
              <a:rPr lang="en-IN" sz="2200"/>
              <a:t>Fraud and Risk Detection</a:t>
            </a:r>
            <a:endParaRPr/>
          </a:p>
          <a:p>
            <a:pPr marL="640080" lvl="1" indent="-246888" algn="just" rtl="0">
              <a:spcBef>
                <a:spcPts val="374"/>
              </a:spcBef>
              <a:spcAft>
                <a:spcPts val="0"/>
              </a:spcAft>
              <a:buSzPct val="85000"/>
              <a:buChar char="⚫"/>
            </a:pPr>
            <a:r>
              <a:rPr lang="en-IN" sz="2200"/>
              <a:t>Delivery logistics e.g. </a:t>
            </a:r>
            <a:r>
              <a:rPr lang="en-IN" sz="1800"/>
              <a:t>DHL, FedEx</a:t>
            </a:r>
            <a:endParaRPr sz="2200"/>
          </a:p>
          <a:p>
            <a:pPr marL="274320" lvl="0" indent="-151257" algn="just" rtl="0">
              <a:spcBef>
                <a:spcPts val="408"/>
              </a:spcBef>
              <a:spcAft>
                <a:spcPts val="0"/>
              </a:spcAft>
              <a:buSzPct val="95000"/>
              <a:buNone/>
            </a:pP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10"/>
          <p:cNvPicPr preferRelativeResize="0">
            <a:picLocks noGrp="1"/>
          </p:cNvPicPr>
          <p:nvPr>
            <p:ph type="body" idx="1"/>
          </p:nvPr>
        </p:nvPicPr>
        <p:blipFill rotWithShape="1">
          <a:blip r:embed="rId3">
            <a:alphaModFix/>
          </a:blip>
          <a:srcRect/>
          <a:stretch/>
        </p:blipFill>
        <p:spPr>
          <a:xfrm>
            <a:off x="228600" y="990600"/>
            <a:ext cx="8636514" cy="5410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IN"/>
              <a:t>Choosing a data science language</a:t>
            </a:r>
            <a:endParaRPr/>
          </a:p>
        </p:txBody>
      </p:sp>
      <p:sp>
        <p:nvSpPr>
          <p:cNvPr id="171" name="Google Shape;171;p1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090"/>
              <a:buChar char="⚫"/>
            </a:pPr>
            <a:r>
              <a:rPr lang="en-IN" sz="2200"/>
              <a:t>Choosing the correct tool makes your life easier. </a:t>
            </a:r>
            <a:endParaRPr sz="2200"/>
          </a:p>
          <a:p>
            <a:pPr marL="274320" lvl="0" indent="-274320" algn="just" rtl="0">
              <a:spcBef>
                <a:spcPts val="440"/>
              </a:spcBef>
              <a:spcAft>
                <a:spcPts val="0"/>
              </a:spcAft>
              <a:buSzPts val="2090"/>
              <a:buChar char="⚫"/>
            </a:pPr>
            <a:r>
              <a:rPr lang="en-IN" sz="2200"/>
              <a:t>Data scientists usually use only a few languages because they make working with data easier. </a:t>
            </a:r>
            <a:endParaRPr sz="2200"/>
          </a:p>
          <a:p>
            <a:pPr marL="274320" lvl="0" indent="-274320" algn="just" rtl="0">
              <a:spcBef>
                <a:spcPts val="440"/>
              </a:spcBef>
              <a:spcAft>
                <a:spcPts val="0"/>
              </a:spcAft>
              <a:buSzPts val="2090"/>
              <a:buChar char="⚫"/>
            </a:pPr>
            <a:r>
              <a:rPr lang="en-IN" sz="2200"/>
              <a:t>With this in mind, here are the four top languages for data science work in order of preference (used by 91 percent of the data scientists out there): </a:t>
            </a:r>
            <a:endParaRPr sz="2200"/>
          </a:p>
          <a:p>
            <a:pPr marL="640080" lvl="1" indent="-246888" algn="just" rtl="0">
              <a:spcBef>
                <a:spcPts val="400"/>
              </a:spcBef>
              <a:spcAft>
                <a:spcPts val="0"/>
              </a:spcAft>
              <a:buSzPts val="1700"/>
              <a:buChar char="⚫"/>
            </a:pPr>
            <a:r>
              <a:rPr lang="en-IN" sz="2000"/>
              <a:t>Python</a:t>
            </a:r>
            <a:endParaRPr/>
          </a:p>
          <a:p>
            <a:pPr marL="640080" lvl="1" indent="-246888" algn="just" rtl="0">
              <a:spcBef>
                <a:spcPts val="400"/>
              </a:spcBef>
              <a:spcAft>
                <a:spcPts val="0"/>
              </a:spcAft>
              <a:buSzPts val="1700"/>
              <a:buChar char="⚫"/>
            </a:pPr>
            <a:r>
              <a:rPr lang="en-IN" sz="2000"/>
              <a:t>R </a:t>
            </a:r>
            <a:endParaRPr/>
          </a:p>
          <a:p>
            <a:pPr marL="640080" lvl="1" indent="-246888" algn="just" rtl="0">
              <a:spcBef>
                <a:spcPts val="400"/>
              </a:spcBef>
              <a:spcAft>
                <a:spcPts val="0"/>
              </a:spcAft>
              <a:buSzPts val="1700"/>
              <a:buChar char="⚫"/>
            </a:pPr>
            <a:r>
              <a:rPr lang="en-IN" sz="2000"/>
              <a:t>SAS</a:t>
            </a:r>
            <a:endParaRPr/>
          </a:p>
          <a:p>
            <a:pPr marL="640080" lvl="1" indent="-246888" algn="just" rtl="0">
              <a:spcBef>
                <a:spcPts val="400"/>
              </a:spcBef>
              <a:spcAft>
                <a:spcPts val="0"/>
              </a:spcAft>
              <a:buSzPts val="1700"/>
              <a:buChar char="⚫"/>
            </a:pPr>
            <a:r>
              <a:rPr lang="en-IN" sz="2000"/>
              <a:t>SQL</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Autofit/>
          </a:bodyPr>
          <a:lstStyle/>
          <a:p>
            <a:pPr marL="0" lvl="0" indent="0" algn="l" rtl="0">
              <a:spcBef>
                <a:spcPts val="0"/>
              </a:spcBef>
              <a:spcAft>
                <a:spcPts val="0"/>
              </a:spcAft>
              <a:buClr>
                <a:schemeClr val="dk2"/>
              </a:buClr>
              <a:buSzPts val="4000"/>
              <a:buFont typeface="Calibri"/>
              <a:buNone/>
            </a:pPr>
            <a:r>
              <a:rPr lang="en-IN" sz="4000"/>
              <a:t>Outlining the core competencies of a data scientist</a:t>
            </a:r>
            <a:endParaRPr/>
          </a:p>
        </p:txBody>
      </p:sp>
      <p:sp>
        <p:nvSpPr>
          <p:cNvPr id="177" name="Google Shape;177;p1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a:bodyPr>
          <a:lstStyle/>
          <a:p>
            <a:pPr marL="274320" lvl="0" indent="-274320" algn="just" rtl="0">
              <a:spcBef>
                <a:spcPts val="0"/>
              </a:spcBef>
              <a:spcAft>
                <a:spcPts val="0"/>
              </a:spcAft>
              <a:buSzPct val="95000"/>
              <a:buChar char="⚫"/>
            </a:pPr>
            <a:r>
              <a:rPr lang="en-IN" sz="2400"/>
              <a:t>data scientist requires knowledge of a broad range of skills in order to perform the required tasks. In fact, so many different skills are required that data scientists often work in teams. </a:t>
            </a:r>
            <a:endParaRPr sz="2400"/>
          </a:p>
          <a:p>
            <a:pPr marL="274320" lvl="0" indent="-274320" algn="just" rtl="0">
              <a:spcBef>
                <a:spcPts val="444"/>
              </a:spcBef>
              <a:spcAft>
                <a:spcPts val="0"/>
              </a:spcAft>
              <a:buSzPct val="95000"/>
              <a:buChar char="⚫"/>
            </a:pPr>
            <a:r>
              <a:rPr lang="en-IN" sz="2400"/>
              <a:t>Someone who is good at gathering data might team up with an analyst and someone gifted in presenting information.</a:t>
            </a:r>
            <a:endParaRPr/>
          </a:p>
          <a:p>
            <a:pPr marL="274320" lvl="0" indent="-274320" algn="just" rtl="0">
              <a:spcBef>
                <a:spcPts val="444"/>
              </a:spcBef>
              <a:spcAft>
                <a:spcPts val="0"/>
              </a:spcAft>
              <a:buSzPct val="95000"/>
              <a:buChar char="⚫"/>
            </a:pPr>
            <a:r>
              <a:rPr lang="en-IN" sz="2400"/>
              <a:t>It would be hard to find a single person with all the required skills. </a:t>
            </a:r>
            <a:endParaRPr sz="2400"/>
          </a:p>
          <a:p>
            <a:pPr marL="274320" lvl="0" indent="-274320" algn="just" rtl="0">
              <a:spcBef>
                <a:spcPts val="444"/>
              </a:spcBef>
              <a:spcAft>
                <a:spcPts val="0"/>
              </a:spcAft>
              <a:buSzPct val="95000"/>
              <a:buChar char="⚫"/>
            </a:pPr>
            <a:r>
              <a:rPr lang="en-IN" sz="2400"/>
              <a:t>following list describes areas in which a data scientist could excel </a:t>
            </a:r>
            <a:endParaRPr sz="2400"/>
          </a:p>
          <a:p>
            <a:pPr marL="640080" lvl="1" indent="-246888" algn="just" rtl="0">
              <a:spcBef>
                <a:spcPts val="370"/>
              </a:spcBef>
              <a:spcAft>
                <a:spcPts val="0"/>
              </a:spcAft>
              <a:buSzPct val="85000"/>
              <a:buChar char="⚫"/>
            </a:pPr>
            <a:r>
              <a:rPr lang="en-IN" sz="2000"/>
              <a:t>Data capture</a:t>
            </a:r>
            <a:endParaRPr/>
          </a:p>
          <a:p>
            <a:pPr marL="640080" lvl="1" indent="-246888" algn="just" rtl="0">
              <a:spcBef>
                <a:spcPts val="370"/>
              </a:spcBef>
              <a:spcAft>
                <a:spcPts val="0"/>
              </a:spcAft>
              <a:buSzPct val="85000"/>
              <a:buChar char="⚫"/>
            </a:pPr>
            <a:r>
              <a:rPr lang="en-IN" sz="2000"/>
              <a:t>Analysis</a:t>
            </a:r>
            <a:endParaRPr/>
          </a:p>
          <a:p>
            <a:pPr marL="640080" lvl="1" indent="-246888" algn="just" rtl="0">
              <a:spcBef>
                <a:spcPts val="370"/>
              </a:spcBef>
              <a:spcAft>
                <a:spcPts val="0"/>
              </a:spcAft>
              <a:buSzPct val="85000"/>
              <a:buChar char="⚫"/>
            </a:pPr>
            <a:r>
              <a:rPr lang="en-IN" sz="2000"/>
              <a:t>Presentation</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3500"/>
              <a:buFont typeface="Calibri"/>
              <a:buNone/>
            </a:pPr>
            <a:r>
              <a:rPr lang="en-IN" sz="3500"/>
              <a:t>Outlining the core competencies of a data scientist</a:t>
            </a:r>
            <a:endParaRPr/>
          </a:p>
        </p:txBody>
      </p:sp>
      <p:sp>
        <p:nvSpPr>
          <p:cNvPr id="183" name="Google Shape;183;p1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IN"/>
              <a:t>Data capture:</a:t>
            </a:r>
            <a:endParaRPr/>
          </a:p>
          <a:p>
            <a:pPr marL="640080" lvl="1" indent="-246888" algn="just" rtl="0">
              <a:spcBef>
                <a:spcPts val="480"/>
              </a:spcBef>
              <a:spcAft>
                <a:spcPts val="0"/>
              </a:spcAft>
              <a:buSzPts val="1700"/>
              <a:buChar char="⚫"/>
            </a:pPr>
            <a:r>
              <a:rPr lang="en-IN" sz="2000"/>
              <a:t>Capturing data begins by managing a data source using database management skills. However, raw data isn’t particularly useful in many situations— you must also understand the data domain. Finally, you must have data‐modeling skills so that you understand how the data is connected and whether the data is structured</a:t>
            </a:r>
            <a:r>
              <a:rPr lang="en-IN"/>
              <a:t>.</a:t>
            </a:r>
            <a:endParaRPr/>
          </a:p>
          <a:p>
            <a:pPr marL="274320" lvl="1" indent="-274320" algn="l" rtl="0">
              <a:spcBef>
                <a:spcPts val="520"/>
              </a:spcBef>
              <a:spcAft>
                <a:spcPts val="0"/>
              </a:spcAft>
              <a:buClr>
                <a:schemeClr val="accent3"/>
              </a:buClr>
              <a:buSzPts val="2470"/>
              <a:buChar char="⚫"/>
            </a:pPr>
            <a:r>
              <a:rPr lang="en-IN" sz="2600"/>
              <a:t>Analysis:</a:t>
            </a:r>
            <a:endParaRPr/>
          </a:p>
          <a:p>
            <a:pPr marL="548640" lvl="2" indent="-274320" algn="just" rtl="0">
              <a:spcBef>
                <a:spcPts val="400"/>
              </a:spcBef>
              <a:spcAft>
                <a:spcPts val="0"/>
              </a:spcAft>
              <a:buClr>
                <a:schemeClr val="accent3"/>
              </a:buClr>
              <a:buSzPts val="1900"/>
              <a:buChar char="⚫"/>
            </a:pPr>
            <a:r>
              <a:rPr lang="en-IN" sz="2000"/>
              <a:t>You perform some analysis using basic statistical tool skills, much like those that just about everyone learns in college. However, the use of specialized math tricks and algorithms can make patterns in the data more obvious or help you draw conclusions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3500"/>
              <a:buFont typeface="Calibri"/>
              <a:buNone/>
            </a:pPr>
            <a:r>
              <a:rPr lang="en-IN" sz="3500"/>
              <a:t>Outlining the core competencies of a data scientist</a:t>
            </a:r>
            <a:endParaRPr/>
          </a:p>
        </p:txBody>
      </p:sp>
      <p:sp>
        <p:nvSpPr>
          <p:cNvPr id="189" name="Google Shape;189;p1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470"/>
              <a:buChar char="⚫"/>
            </a:pPr>
            <a:r>
              <a:rPr lang="en-IN"/>
              <a:t>Presentation</a:t>
            </a:r>
            <a:r>
              <a:rPr lang="en-IN" sz="2000"/>
              <a:t>:</a:t>
            </a:r>
            <a:endParaRPr/>
          </a:p>
          <a:p>
            <a:pPr marL="640080" lvl="1" indent="-246888" algn="just" rtl="0">
              <a:spcBef>
                <a:spcPts val="400"/>
              </a:spcBef>
              <a:spcAft>
                <a:spcPts val="0"/>
              </a:spcAft>
              <a:buSzPts val="1700"/>
              <a:buChar char="⚫"/>
            </a:pPr>
            <a:r>
              <a:rPr lang="en-IN" sz="2000"/>
              <a:t>It’s important to provide a graphical presentation of these patterns to help others visualize what the numbers mean and how to apply them in a meaningful way. More important, the presentation must tell a specific story so that the impact of the data isn’t lost.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5"/>
          <p:cNvSpPr txBox="1">
            <a:spLocks noGrp="1"/>
          </p:cNvSpPr>
          <p:nvPr>
            <p:ph type="title"/>
          </p:nvPr>
        </p:nvSpPr>
        <p:spPr>
          <a:xfrm>
            <a:off x="457200" y="381000"/>
            <a:ext cx="8229600" cy="1143000"/>
          </a:xfrm>
          <a:prstGeom prst="rect">
            <a:avLst/>
          </a:prstGeom>
          <a:noFill/>
          <a:ln>
            <a:noFill/>
          </a:ln>
        </p:spPr>
        <p:txBody>
          <a:bodyPr spcFirstLastPara="1" wrap="square" lIns="0" tIns="45700" rIns="0" bIns="0" anchor="t" anchorCtr="0">
            <a:normAutofit fontScale="90000"/>
          </a:bodyPr>
          <a:lstStyle/>
          <a:p>
            <a:pPr marL="0" lvl="0" indent="0" algn="l" rtl="0">
              <a:spcBef>
                <a:spcPts val="0"/>
              </a:spcBef>
              <a:spcAft>
                <a:spcPts val="0"/>
              </a:spcAft>
              <a:buClr>
                <a:schemeClr val="dk2"/>
              </a:buClr>
              <a:buSzPts val="4000"/>
              <a:buFont typeface="Calibri"/>
              <a:buNone/>
            </a:pPr>
            <a:r>
              <a:rPr lang="en-IN" sz="4000"/>
              <a:t>Understanding the role of programming</a:t>
            </a:r>
            <a:endParaRPr/>
          </a:p>
        </p:txBody>
      </p:sp>
      <p:sp>
        <p:nvSpPr>
          <p:cNvPr id="195" name="Google Shape;195;p15"/>
          <p:cNvSpPr txBox="1">
            <a:spLocks noGrp="1"/>
          </p:cNvSpPr>
          <p:nvPr>
            <p:ph type="body" idx="1"/>
          </p:nvPr>
        </p:nvSpPr>
        <p:spPr>
          <a:xfrm>
            <a:off x="457200" y="1524000"/>
            <a:ext cx="8229600" cy="4953000"/>
          </a:xfrm>
          <a:prstGeom prst="rect">
            <a:avLst/>
          </a:prstGeom>
          <a:noFill/>
          <a:ln>
            <a:noFill/>
          </a:ln>
        </p:spPr>
        <p:txBody>
          <a:bodyPr spcFirstLastPara="1" wrap="square" lIns="91425" tIns="45700" rIns="91425" bIns="45700" anchor="t" anchorCtr="0">
            <a:normAutofit lnSpcReduction="10000"/>
          </a:bodyPr>
          <a:lstStyle/>
          <a:p>
            <a:pPr marL="274320" lvl="0" indent="-274320" algn="just" rtl="0">
              <a:spcBef>
                <a:spcPts val="0"/>
              </a:spcBef>
              <a:spcAft>
                <a:spcPts val="0"/>
              </a:spcAft>
              <a:buSzPts val="1900"/>
              <a:buChar char="⚫"/>
            </a:pPr>
            <a:r>
              <a:rPr lang="en-IN" sz="2000"/>
              <a:t>A data scientist may need to know several programming languages in order to achieve specific goals.</a:t>
            </a:r>
            <a:endParaRPr/>
          </a:p>
          <a:p>
            <a:pPr marL="274320" lvl="0" indent="-274320" algn="just" rtl="0">
              <a:spcBef>
                <a:spcPts val="400"/>
              </a:spcBef>
              <a:spcAft>
                <a:spcPts val="0"/>
              </a:spcAft>
              <a:buSzPts val="1900"/>
              <a:buChar char="⚫"/>
            </a:pPr>
            <a:r>
              <a:rPr lang="en-IN" sz="2000"/>
              <a:t>Manually performing these tasks is time consuming and error prone, so programming presents the best method for achieving the goal.</a:t>
            </a:r>
            <a:endParaRPr/>
          </a:p>
          <a:p>
            <a:pPr marL="274320" lvl="0" indent="-274320" algn="just" rtl="0">
              <a:spcBef>
                <a:spcPts val="400"/>
              </a:spcBef>
              <a:spcAft>
                <a:spcPts val="0"/>
              </a:spcAft>
              <a:buSzPts val="1900"/>
              <a:buChar char="⚫"/>
            </a:pPr>
            <a:r>
              <a:rPr lang="en-IN" sz="2000"/>
              <a:t>Given the number of products that most data scientists use, it may not be possible to use just one programming language. </a:t>
            </a:r>
            <a:endParaRPr sz="2000"/>
          </a:p>
          <a:p>
            <a:pPr marL="274320" lvl="0" indent="-274320" algn="just" rtl="0">
              <a:spcBef>
                <a:spcPts val="400"/>
              </a:spcBef>
              <a:spcAft>
                <a:spcPts val="0"/>
              </a:spcAft>
              <a:buSzPts val="1900"/>
              <a:buChar char="⚫"/>
            </a:pPr>
            <a:r>
              <a:rPr lang="en-IN" sz="2000"/>
              <a:t>Yes, Python can load data, transform it, analyze it, and even present it to the end user, but it works only when the language provides the required functionality.</a:t>
            </a:r>
            <a:endParaRPr/>
          </a:p>
          <a:p>
            <a:pPr marL="274320" lvl="0" indent="-153670" algn="just" rtl="0">
              <a:spcBef>
                <a:spcPts val="400"/>
              </a:spcBef>
              <a:spcAft>
                <a:spcPts val="0"/>
              </a:spcAft>
              <a:buSzPts val="1900"/>
              <a:buNone/>
            </a:pPr>
            <a:endParaRPr sz="2000"/>
          </a:p>
          <a:p>
            <a:pPr marL="274320" lvl="0" indent="-274320" algn="just" rtl="0">
              <a:spcBef>
                <a:spcPts val="400"/>
              </a:spcBef>
              <a:spcAft>
                <a:spcPts val="0"/>
              </a:spcAft>
              <a:buSzPts val="1900"/>
              <a:buChar char="⚫"/>
            </a:pPr>
            <a:r>
              <a:rPr lang="en-IN" sz="2000"/>
              <a:t>The languages you choose depend on a number of criteria. </a:t>
            </a:r>
            <a:endParaRPr sz="2000"/>
          </a:p>
          <a:p>
            <a:pPr marL="640080" lvl="1" indent="-246888" algn="just" rtl="0">
              <a:spcBef>
                <a:spcPts val="360"/>
              </a:spcBef>
              <a:spcAft>
                <a:spcPts val="0"/>
              </a:spcAft>
              <a:buSzPts val="1530"/>
              <a:buChar char="⚫"/>
            </a:pPr>
            <a:r>
              <a:rPr lang="en-IN" sz="1800"/>
              <a:t>How you intend to use data science in your code </a:t>
            </a:r>
            <a:endParaRPr sz="1800"/>
          </a:p>
          <a:p>
            <a:pPr marL="640080" lvl="1" indent="-246888" algn="just" rtl="0">
              <a:spcBef>
                <a:spcPts val="360"/>
              </a:spcBef>
              <a:spcAft>
                <a:spcPts val="0"/>
              </a:spcAft>
              <a:buSzPts val="1530"/>
              <a:buChar char="⚫"/>
            </a:pPr>
            <a:r>
              <a:rPr lang="en-IN" sz="1800"/>
              <a:t>Your familiarity with the language</a:t>
            </a:r>
            <a:endParaRPr/>
          </a:p>
          <a:p>
            <a:pPr marL="640080" lvl="1" indent="-246888" algn="just" rtl="0">
              <a:spcBef>
                <a:spcPts val="360"/>
              </a:spcBef>
              <a:spcAft>
                <a:spcPts val="0"/>
              </a:spcAft>
              <a:buSzPts val="1530"/>
              <a:buChar char="⚫"/>
            </a:pPr>
            <a:r>
              <a:rPr lang="en-IN" sz="1800"/>
              <a:t>The need to interact with other languages </a:t>
            </a:r>
            <a:endParaRPr sz="1800"/>
          </a:p>
          <a:p>
            <a:pPr marL="640080" lvl="1" indent="-246888" algn="just" rtl="0">
              <a:spcBef>
                <a:spcPts val="360"/>
              </a:spcBef>
              <a:spcAft>
                <a:spcPts val="0"/>
              </a:spcAft>
              <a:buSzPts val="1530"/>
              <a:buChar char="⚫"/>
            </a:pPr>
            <a:r>
              <a:rPr lang="en-IN" sz="1800"/>
              <a:t>The availability of tools to enhance the development environment</a:t>
            </a:r>
            <a:endParaRPr/>
          </a:p>
          <a:p>
            <a:pPr marL="640080" lvl="1" indent="-246888" algn="just" rtl="0">
              <a:spcBef>
                <a:spcPts val="360"/>
              </a:spcBef>
              <a:spcAft>
                <a:spcPts val="0"/>
              </a:spcAft>
              <a:buSzPts val="1530"/>
              <a:buChar char="⚫"/>
            </a:pPr>
            <a:r>
              <a:rPr lang="en-IN" sz="1800"/>
              <a:t>The availability of APIs and libraries to make performing tasks easier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6"/>
          <p:cNvSpPr txBox="1">
            <a:spLocks noGrp="1"/>
          </p:cNvSpPr>
          <p:nvPr>
            <p:ph type="title"/>
          </p:nvPr>
        </p:nvSpPr>
        <p:spPr>
          <a:xfrm>
            <a:off x="457200" y="304800"/>
            <a:ext cx="8229600" cy="1143000"/>
          </a:xfrm>
          <a:prstGeom prst="rect">
            <a:avLst/>
          </a:prstGeom>
          <a:noFill/>
          <a:ln>
            <a:noFill/>
          </a:ln>
        </p:spPr>
        <p:txBody>
          <a:bodyPr spcFirstLastPara="1" wrap="square" lIns="0" tIns="45700" rIns="0" bIns="0" anchor="t" anchorCtr="0">
            <a:normAutofit fontScale="90000"/>
          </a:bodyPr>
          <a:lstStyle/>
          <a:p>
            <a:pPr marL="0" lvl="0" indent="0" algn="l" rtl="0">
              <a:spcBef>
                <a:spcPts val="0"/>
              </a:spcBef>
              <a:spcAft>
                <a:spcPts val="0"/>
              </a:spcAft>
              <a:buClr>
                <a:schemeClr val="dk2"/>
              </a:buClr>
              <a:buSzPct val="100000"/>
              <a:buFont typeface="Calibri"/>
              <a:buNone/>
            </a:pPr>
            <a:r>
              <a:rPr lang="en-IN"/>
              <a:t>Creating the Data Science Pipeline</a:t>
            </a:r>
            <a:endParaRPr/>
          </a:p>
        </p:txBody>
      </p:sp>
      <p:sp>
        <p:nvSpPr>
          <p:cNvPr id="201" name="Google Shape;201;p16"/>
          <p:cNvSpPr txBox="1">
            <a:spLocks noGrp="1"/>
          </p:cNvSpPr>
          <p:nvPr>
            <p:ph type="body" idx="1"/>
          </p:nvPr>
        </p:nvSpPr>
        <p:spPr>
          <a:xfrm>
            <a:off x="457200" y="144780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spcBef>
                <a:spcPts val="0"/>
              </a:spcBef>
              <a:spcAft>
                <a:spcPts val="0"/>
              </a:spcAft>
              <a:buSzPct val="95000"/>
              <a:buNone/>
            </a:pPr>
            <a:r>
              <a:rPr lang="en-IN" sz="2000" dirty="0"/>
              <a:t>Data science pipeline, which requires the data scientist to follow particular steps in the preparation, analysis, and presentation of the data.</a:t>
            </a:r>
            <a:endParaRPr dirty="0"/>
          </a:p>
          <a:p>
            <a:pPr marL="0" lvl="0" indent="0" algn="just" rtl="0">
              <a:spcBef>
                <a:spcPts val="370"/>
              </a:spcBef>
              <a:spcAft>
                <a:spcPts val="0"/>
              </a:spcAft>
              <a:buSzPct val="95000"/>
              <a:buNone/>
            </a:pPr>
            <a:endParaRPr sz="2000" dirty="0"/>
          </a:p>
          <a:p>
            <a:pPr marL="274320" lvl="0" indent="-274320" algn="just" rtl="0">
              <a:spcBef>
                <a:spcPts val="370"/>
              </a:spcBef>
              <a:spcAft>
                <a:spcPts val="0"/>
              </a:spcAft>
              <a:buSzPct val="95000"/>
              <a:buChar char="⚫"/>
            </a:pPr>
            <a:r>
              <a:rPr lang="en-IN" sz="2000" b="1" dirty="0"/>
              <a:t>Preparing the data-</a:t>
            </a:r>
            <a:r>
              <a:rPr lang="en-IN" sz="2000" dirty="0"/>
              <a:t> The data that you access from various sources doesn’t come in an easily packaged form, ready for analysis. you may also need to transform it to make all the data sources cohesive and amenable to analysis. Transformation may require changing data types, the order in which data appears, and even the creation of data entries based on the information provided by existing entries.</a:t>
            </a:r>
            <a:endParaRPr dirty="0"/>
          </a:p>
          <a:p>
            <a:pPr marL="274320" lvl="0" indent="-162718" algn="just" rtl="0">
              <a:spcBef>
                <a:spcPts val="370"/>
              </a:spcBef>
              <a:spcAft>
                <a:spcPts val="0"/>
              </a:spcAft>
              <a:buSzPct val="95000"/>
              <a:buNone/>
            </a:pPr>
            <a:endParaRPr sz="2000" dirty="0"/>
          </a:p>
          <a:p>
            <a:pPr marL="274320" lvl="0" indent="-274320" algn="just" rtl="0">
              <a:spcBef>
                <a:spcPts val="370"/>
              </a:spcBef>
              <a:spcAft>
                <a:spcPts val="0"/>
              </a:spcAft>
              <a:buSzPct val="95000"/>
              <a:buChar char="⚫"/>
            </a:pPr>
            <a:r>
              <a:rPr lang="en-IN" sz="2000" b="1" dirty="0"/>
              <a:t>Performing exploratory data analysis-</a:t>
            </a:r>
            <a:r>
              <a:rPr lang="en-IN" sz="2000" dirty="0"/>
              <a:t>data science provides access to a wealth of statistical methods and algorithms that help you discover patterns in the data. A single approach doesn’t ordinarily do the trick. You typically use an iterative process to rework the data from a number of perspectives. </a:t>
            </a:r>
            <a:endParaRPr sz="20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7"/>
          <p:cNvSpPr txBox="1">
            <a:spLocks noGrp="1"/>
          </p:cNvSpPr>
          <p:nvPr>
            <p:ph type="title"/>
          </p:nvPr>
        </p:nvSpPr>
        <p:spPr>
          <a:xfrm>
            <a:off x="457200" y="152400"/>
            <a:ext cx="8229600" cy="1143000"/>
          </a:xfrm>
          <a:prstGeom prst="rect">
            <a:avLst/>
          </a:prstGeom>
          <a:noFill/>
          <a:ln>
            <a:noFill/>
          </a:ln>
        </p:spPr>
        <p:txBody>
          <a:bodyPr spcFirstLastPara="1" wrap="square" lIns="0" tIns="45700" rIns="0" bIns="0" anchor="t" anchorCtr="0">
            <a:normAutofit fontScale="90000"/>
          </a:bodyPr>
          <a:lstStyle/>
          <a:p>
            <a:pPr marL="0" lvl="0" indent="0" algn="l" rtl="0">
              <a:spcBef>
                <a:spcPts val="0"/>
              </a:spcBef>
              <a:spcAft>
                <a:spcPts val="0"/>
              </a:spcAft>
              <a:buClr>
                <a:schemeClr val="dk2"/>
              </a:buClr>
              <a:buSzPct val="100000"/>
              <a:buFont typeface="Calibri"/>
              <a:buNone/>
            </a:pPr>
            <a:r>
              <a:rPr lang="en-IN"/>
              <a:t>Creating the Data Science Pipeline</a:t>
            </a:r>
            <a:endParaRPr/>
          </a:p>
        </p:txBody>
      </p:sp>
      <p:sp>
        <p:nvSpPr>
          <p:cNvPr id="207" name="Google Shape;207;p17"/>
          <p:cNvSpPr txBox="1">
            <a:spLocks noGrp="1"/>
          </p:cNvSpPr>
          <p:nvPr>
            <p:ph type="body" idx="1"/>
          </p:nvPr>
        </p:nvSpPr>
        <p:spPr>
          <a:xfrm>
            <a:off x="457200" y="1219200"/>
            <a:ext cx="8229600" cy="502920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just" rtl="0">
              <a:spcBef>
                <a:spcPts val="0"/>
              </a:spcBef>
              <a:spcAft>
                <a:spcPts val="0"/>
              </a:spcAft>
              <a:buSzPct val="95000"/>
              <a:buChar char="⚫"/>
            </a:pPr>
            <a:r>
              <a:rPr lang="en-IN" sz="2000" b="1"/>
              <a:t>Learning from data-</a:t>
            </a:r>
            <a:r>
              <a:rPr lang="en-IN" sz="2000"/>
              <a:t>As you iterate through various statistical analysis methods and apply algorithms to detect patterns, you begin learning from the data. . In fact, it’s the fun part of data science because you can’t ever know in advance precisely what the data will reveal to you. Of course, the imprecise nature of data and the finding of seemingly random patterns in it means keeping an open mind.</a:t>
            </a:r>
            <a:endParaRPr/>
          </a:p>
          <a:p>
            <a:pPr marL="274320" lvl="0" indent="-162718" algn="just" rtl="0">
              <a:spcBef>
                <a:spcPts val="370"/>
              </a:spcBef>
              <a:spcAft>
                <a:spcPts val="0"/>
              </a:spcAft>
              <a:buSzPct val="95000"/>
              <a:buNone/>
            </a:pPr>
            <a:endParaRPr sz="2000" b="1"/>
          </a:p>
          <a:p>
            <a:pPr marL="274320" lvl="0" indent="-274320" algn="just" rtl="0">
              <a:spcBef>
                <a:spcPts val="370"/>
              </a:spcBef>
              <a:spcAft>
                <a:spcPts val="0"/>
              </a:spcAft>
              <a:buSzPct val="95000"/>
              <a:buChar char="⚫"/>
            </a:pPr>
            <a:r>
              <a:rPr lang="en-IN" sz="2000" b="1"/>
              <a:t>Visualizing-</a:t>
            </a:r>
            <a:r>
              <a:rPr lang="en-IN" sz="2000"/>
              <a:t>Visualization means seeing the patterns in the data and then being able to react to those patterns. It also means being able to see when data is not part of the pattern. Think of yourself as a data sculptor — removing the data that lies outside the patterns (the outliers) so that others can see the masterpiece of information beneath.</a:t>
            </a:r>
            <a:endParaRPr/>
          </a:p>
          <a:p>
            <a:pPr marL="274320" lvl="0" indent="-162718" algn="just" rtl="0">
              <a:spcBef>
                <a:spcPts val="370"/>
              </a:spcBef>
              <a:spcAft>
                <a:spcPts val="0"/>
              </a:spcAft>
              <a:buSzPct val="95000"/>
              <a:buNone/>
            </a:pPr>
            <a:endParaRPr sz="2000" b="1"/>
          </a:p>
          <a:p>
            <a:pPr marL="274320" lvl="0" indent="-274320" algn="just" rtl="0">
              <a:spcBef>
                <a:spcPts val="370"/>
              </a:spcBef>
              <a:spcAft>
                <a:spcPts val="0"/>
              </a:spcAft>
              <a:buSzPct val="95000"/>
              <a:buChar char="⚫"/>
            </a:pPr>
            <a:r>
              <a:rPr lang="en-IN" sz="2000" b="1"/>
              <a:t>Obtaining insights and data products-</a:t>
            </a:r>
            <a:r>
              <a:rPr lang="en-IN" sz="2000"/>
              <a:t>The insights you obtain from manipulating and analyzing the data help you to perform real‐world tasks. For example, you can use the results of an analysis to make a business decision.</a:t>
            </a:r>
            <a:endParaRPr sz="200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3500"/>
              <a:buFont typeface="Calibri"/>
              <a:buNone/>
            </a:pPr>
            <a:r>
              <a:rPr lang="en-IN" sz="3500"/>
              <a:t>Understanding Python’s Role in Data Science</a:t>
            </a:r>
            <a:endParaRPr/>
          </a:p>
        </p:txBody>
      </p:sp>
      <p:sp>
        <p:nvSpPr>
          <p:cNvPr id="213" name="Google Shape;213;p1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70000" lnSpcReduction="20000"/>
          </a:bodyPr>
          <a:lstStyle/>
          <a:p>
            <a:pPr marL="274320" lvl="0" indent="-274320" algn="just" rtl="0">
              <a:spcBef>
                <a:spcPts val="0"/>
              </a:spcBef>
              <a:spcAft>
                <a:spcPts val="0"/>
              </a:spcAft>
              <a:buSzPct val="95000"/>
              <a:buChar char="⚫"/>
            </a:pPr>
            <a:r>
              <a:rPr lang="en-IN"/>
              <a:t>Many different ways are available for accomplishing data science tasks.</a:t>
            </a:r>
            <a:endParaRPr/>
          </a:p>
          <a:p>
            <a:pPr marL="274320" lvl="0" indent="-274320" algn="just" rtl="0">
              <a:spcBef>
                <a:spcPts val="403"/>
              </a:spcBef>
              <a:spcAft>
                <a:spcPts val="0"/>
              </a:spcAft>
              <a:buSzPct val="95000"/>
              <a:buChar char="⚫"/>
            </a:pPr>
            <a:r>
              <a:rPr lang="en-IN"/>
              <a:t>Python represents one of the few single‐stop solutions that you can use to solve complex data science problems.</a:t>
            </a:r>
            <a:endParaRPr/>
          </a:p>
          <a:p>
            <a:pPr marL="274320" lvl="0" indent="-274320" algn="just" rtl="0">
              <a:spcBef>
                <a:spcPts val="403"/>
              </a:spcBef>
              <a:spcAft>
                <a:spcPts val="0"/>
              </a:spcAft>
              <a:buSzPct val="95000"/>
              <a:buChar char="⚫"/>
            </a:pPr>
            <a:r>
              <a:rPr lang="en-IN"/>
              <a:t>Instead of having to use a number of tools to perform a task, you can simply use a single language, Python, to get the job done. </a:t>
            </a:r>
            <a:endParaRPr/>
          </a:p>
          <a:p>
            <a:pPr marL="274320" lvl="0" indent="-274320" algn="just" rtl="0">
              <a:spcBef>
                <a:spcPts val="403"/>
              </a:spcBef>
              <a:spcAft>
                <a:spcPts val="0"/>
              </a:spcAft>
              <a:buSzPct val="95000"/>
              <a:buChar char="⚫"/>
            </a:pPr>
            <a:r>
              <a:rPr lang="en-IN"/>
              <a:t>The Python difference is the large number scientific and math libraries created for it by third parties. Plugging in these libraries greatly extends Python and allows it to easily perform tasks that other languages could perform, but with great difficulty.</a:t>
            </a:r>
            <a:endParaRPr/>
          </a:p>
          <a:p>
            <a:pPr marL="274320" lvl="0" indent="-152765" algn="just" rtl="0">
              <a:spcBef>
                <a:spcPts val="403"/>
              </a:spcBef>
              <a:spcAft>
                <a:spcPts val="0"/>
              </a:spcAft>
              <a:buSzPct val="95000"/>
              <a:buNone/>
            </a:pPr>
            <a:endParaRPr/>
          </a:p>
          <a:p>
            <a:pPr marL="274320" lvl="0" indent="-274320" algn="just" rtl="0">
              <a:spcBef>
                <a:spcPts val="403"/>
              </a:spcBef>
              <a:spcAft>
                <a:spcPts val="0"/>
              </a:spcAft>
              <a:buSzPct val="95000"/>
              <a:buChar char="⚫"/>
            </a:pPr>
            <a:r>
              <a:rPr lang="en-IN"/>
              <a:t>Python is that it supports four different coding styles:</a:t>
            </a:r>
            <a:endParaRPr/>
          </a:p>
          <a:p>
            <a:pPr marL="640080" lvl="1" indent="-246888" algn="just" rtl="0">
              <a:spcBef>
                <a:spcPts val="372"/>
              </a:spcBef>
              <a:spcAft>
                <a:spcPts val="0"/>
              </a:spcAft>
              <a:buSzPct val="85000"/>
              <a:buChar char="⚫"/>
            </a:pPr>
            <a:r>
              <a:rPr lang="en-IN"/>
              <a:t>Functional</a:t>
            </a:r>
            <a:endParaRPr/>
          </a:p>
          <a:p>
            <a:pPr marL="640080" lvl="1" indent="-246888" algn="just" rtl="0">
              <a:spcBef>
                <a:spcPts val="372"/>
              </a:spcBef>
              <a:spcAft>
                <a:spcPts val="0"/>
              </a:spcAft>
              <a:buSzPct val="85000"/>
              <a:buChar char="⚫"/>
            </a:pPr>
            <a:r>
              <a:rPr lang="en-IN"/>
              <a:t>Procedural</a:t>
            </a:r>
            <a:endParaRPr/>
          </a:p>
          <a:p>
            <a:pPr marL="640080" lvl="1" indent="-246888" algn="just" rtl="0">
              <a:spcBef>
                <a:spcPts val="372"/>
              </a:spcBef>
              <a:spcAft>
                <a:spcPts val="0"/>
              </a:spcAft>
              <a:buSzPct val="85000"/>
              <a:buChar char="⚫"/>
            </a:pPr>
            <a:r>
              <a:rPr lang="en-IN"/>
              <a:t>Object Oriented </a:t>
            </a:r>
            <a:endParaRPr/>
          </a:p>
          <a:p>
            <a:pPr marL="640080" lvl="1" indent="-246888" algn="just" rtl="0">
              <a:spcBef>
                <a:spcPts val="372"/>
              </a:spcBef>
              <a:spcAft>
                <a:spcPts val="0"/>
              </a:spcAft>
              <a:buSzPct val="85000"/>
              <a:buChar char="⚫"/>
            </a:pPr>
            <a:r>
              <a:rPr lang="en-IN"/>
              <a:t>imparative</a:t>
            </a:r>
            <a:endParaRPr/>
          </a:p>
          <a:p>
            <a:pPr marL="274320" lvl="0" indent="-152765" algn="l" rtl="0">
              <a:spcBef>
                <a:spcPts val="403"/>
              </a:spcBef>
              <a:spcAft>
                <a:spcPts val="0"/>
              </a:spcAft>
              <a:buSzPct val="950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4000"/>
              <a:buFont typeface="Calibri"/>
              <a:buNone/>
            </a:pPr>
            <a:r>
              <a:rPr lang="en-IN" sz="4000"/>
              <a:t>Learning to Use Python Fast</a:t>
            </a:r>
            <a:endParaRPr/>
          </a:p>
        </p:txBody>
      </p:sp>
      <p:sp>
        <p:nvSpPr>
          <p:cNvPr id="219" name="Google Shape;219;p1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090"/>
              <a:buChar char="⚫"/>
            </a:pPr>
            <a:r>
              <a:rPr lang="en-IN" sz="2200"/>
              <a:t>As part of Data Science many things are required to be done. Python can be used to perform various task of data science pipeline like:</a:t>
            </a:r>
            <a:endParaRPr/>
          </a:p>
          <a:p>
            <a:pPr marL="640080" lvl="1" indent="-246888" algn="just" rtl="0">
              <a:spcBef>
                <a:spcPts val="440"/>
              </a:spcBef>
              <a:spcAft>
                <a:spcPts val="0"/>
              </a:spcAft>
              <a:buSzPts val="1870"/>
              <a:buChar char="⚫"/>
            </a:pPr>
            <a:r>
              <a:rPr lang="en-IN" sz="2200"/>
              <a:t>Loading data</a:t>
            </a:r>
            <a:endParaRPr/>
          </a:p>
          <a:p>
            <a:pPr marL="640080" lvl="1" indent="-246888" algn="just" rtl="0">
              <a:spcBef>
                <a:spcPts val="440"/>
              </a:spcBef>
              <a:spcAft>
                <a:spcPts val="0"/>
              </a:spcAft>
              <a:buSzPts val="1870"/>
              <a:buChar char="⚫"/>
            </a:pPr>
            <a:r>
              <a:rPr lang="en-IN" sz="2200"/>
              <a:t>Training model</a:t>
            </a:r>
            <a:endParaRPr/>
          </a:p>
          <a:p>
            <a:pPr marL="640080" lvl="1" indent="-246888" algn="just" rtl="0">
              <a:spcBef>
                <a:spcPts val="440"/>
              </a:spcBef>
              <a:spcAft>
                <a:spcPts val="0"/>
              </a:spcAft>
              <a:buSzPts val="1870"/>
              <a:buChar char="⚫"/>
            </a:pPr>
            <a:r>
              <a:rPr lang="en-IN" sz="2200"/>
              <a:t>Visualizing data</a:t>
            </a:r>
            <a:endParaRPr/>
          </a:p>
          <a:p>
            <a:pPr marL="640080" lvl="1" indent="-128143" algn="just" rtl="0">
              <a:spcBef>
                <a:spcPts val="440"/>
              </a:spcBef>
              <a:spcAft>
                <a:spcPts val="0"/>
              </a:spcAft>
              <a:buSzPts val="1870"/>
              <a:buNone/>
            </a:pP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224" name="Google Shape;224;p20"/>
          <p:cNvPicPr preferRelativeResize="0">
            <a:picLocks noGrp="1"/>
          </p:cNvPicPr>
          <p:nvPr>
            <p:ph type="body" idx="1"/>
          </p:nvPr>
        </p:nvPicPr>
        <p:blipFill rotWithShape="1">
          <a:blip r:embed="rId3">
            <a:alphaModFix/>
          </a:blip>
          <a:srcRect/>
          <a:stretch/>
        </p:blipFill>
        <p:spPr>
          <a:xfrm>
            <a:off x="421383" y="762000"/>
            <a:ext cx="8708762" cy="5486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61962" y="1466849"/>
            <a:ext cx="7694247" cy="4519613"/>
          </a:xfrm>
          <a:prstGeom prst="rect">
            <a:avLst/>
          </a:prstGeom>
        </p:spPr>
      </p:pic>
    </p:spTree>
    <p:extLst>
      <p:ext uri="{BB962C8B-B14F-4D97-AF65-F5344CB8AC3E}">
        <p14:creationId xmlns:p14="http://schemas.microsoft.com/office/powerpoint/2010/main" val="3848243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565900" y="1643062"/>
            <a:ext cx="8216150" cy="4129088"/>
          </a:xfrm>
          <a:prstGeom prst="rect">
            <a:avLst/>
          </a:prstGeom>
        </p:spPr>
      </p:pic>
    </p:spTree>
    <p:extLst>
      <p:ext uri="{BB962C8B-B14F-4D97-AF65-F5344CB8AC3E}">
        <p14:creationId xmlns:p14="http://schemas.microsoft.com/office/powerpoint/2010/main" val="2705092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19475" y="1504950"/>
            <a:ext cx="8373984" cy="4095750"/>
          </a:xfrm>
          <a:prstGeom prst="rect">
            <a:avLst/>
          </a:prstGeom>
        </p:spPr>
      </p:pic>
    </p:spTree>
    <p:extLst>
      <p:ext uri="{BB962C8B-B14F-4D97-AF65-F5344CB8AC3E}">
        <p14:creationId xmlns:p14="http://schemas.microsoft.com/office/powerpoint/2010/main" val="3407243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Autofit/>
          </a:bodyPr>
          <a:lstStyle/>
          <a:p>
            <a:pPr marL="0" lvl="0" indent="0" algn="l" rtl="0">
              <a:spcBef>
                <a:spcPts val="0"/>
              </a:spcBef>
              <a:spcAft>
                <a:spcPts val="0"/>
              </a:spcAft>
              <a:buClr>
                <a:schemeClr val="dk2"/>
              </a:buClr>
              <a:buSzPts val="4000"/>
              <a:buFont typeface="Calibri"/>
              <a:buNone/>
            </a:pPr>
            <a:r>
              <a:rPr lang="en-IN" sz="4000"/>
              <a:t>Performing Rapid Prototyping and Experimentation</a:t>
            </a:r>
            <a:endParaRPr/>
          </a:p>
        </p:txBody>
      </p:sp>
      <p:sp>
        <p:nvSpPr>
          <p:cNvPr id="275" name="Google Shape;275;p2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Autofit/>
          </a:bodyPr>
          <a:lstStyle/>
          <a:p>
            <a:pPr marL="274320" lvl="0" indent="-274320" algn="just" rtl="0">
              <a:spcBef>
                <a:spcPts val="0"/>
              </a:spcBef>
              <a:spcAft>
                <a:spcPts val="0"/>
              </a:spcAft>
              <a:buSzPts val="2090"/>
              <a:buChar char="⚫"/>
            </a:pPr>
            <a:r>
              <a:rPr lang="en-IN" sz="2200"/>
              <a:t>Python is all about creating applications quickly and then experimenting with them to see how things work. </a:t>
            </a:r>
            <a:endParaRPr sz="2200"/>
          </a:p>
          <a:p>
            <a:pPr marL="274320" lvl="0" indent="-274320" algn="just" rtl="0">
              <a:spcBef>
                <a:spcPts val="440"/>
              </a:spcBef>
              <a:spcAft>
                <a:spcPts val="0"/>
              </a:spcAft>
              <a:buSzPts val="2090"/>
              <a:buChar char="⚫"/>
            </a:pPr>
            <a:r>
              <a:rPr lang="en-IN" sz="2200"/>
              <a:t>The act of creating an application design in code without necessarily filling in all the details is prototyping and is faster in python.</a:t>
            </a:r>
            <a:endParaRPr/>
          </a:p>
          <a:p>
            <a:pPr marL="274320" lvl="0" indent="-274320" algn="just" rtl="0">
              <a:spcBef>
                <a:spcPts val="440"/>
              </a:spcBef>
              <a:spcAft>
                <a:spcPts val="0"/>
              </a:spcAft>
              <a:buSzPts val="2090"/>
              <a:buChar char="⚫"/>
            </a:pPr>
            <a:r>
              <a:rPr lang="en-IN" sz="2200"/>
              <a:t>Data science doesn’t rely on static solutions. You may have to try multiple solutions to find the particular solution that works best. </a:t>
            </a:r>
            <a:endParaRPr sz="2200"/>
          </a:p>
          <a:p>
            <a:pPr marL="274320" lvl="0" indent="-274320" algn="just" rtl="0">
              <a:spcBef>
                <a:spcPts val="440"/>
              </a:spcBef>
              <a:spcAft>
                <a:spcPts val="0"/>
              </a:spcAft>
              <a:buSzPts val="2090"/>
              <a:buChar char="⚫"/>
            </a:pPr>
            <a:r>
              <a:rPr lang="en-IN" sz="2200"/>
              <a:t>After you create a prototype, you use it to experiment with various algorithms to determine which algorithm works best in a particular situation.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9"/>
          <p:cNvSpPr txBox="1">
            <a:spLocks noGrp="1"/>
          </p:cNvSpPr>
          <p:nvPr>
            <p:ph type="title"/>
          </p:nvPr>
        </p:nvSpPr>
        <p:spPr>
          <a:xfrm>
            <a:off x="381000" y="381000"/>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4500"/>
              <a:buFont typeface="Calibri"/>
              <a:buNone/>
            </a:pPr>
            <a:r>
              <a:rPr lang="en-IN" sz="4500"/>
              <a:t>Considering Speed of Execution</a:t>
            </a:r>
            <a:endParaRPr/>
          </a:p>
        </p:txBody>
      </p:sp>
      <p:sp>
        <p:nvSpPr>
          <p:cNvPr id="281" name="Google Shape;281;p29"/>
          <p:cNvSpPr txBox="1">
            <a:spLocks noGrp="1"/>
          </p:cNvSpPr>
          <p:nvPr>
            <p:ph type="body" idx="1"/>
          </p:nvPr>
        </p:nvSpPr>
        <p:spPr>
          <a:xfrm>
            <a:off x="457200" y="137160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IN"/>
              <a:t>Following factors control the speed of execution for your data science application:</a:t>
            </a:r>
            <a:endParaRPr/>
          </a:p>
          <a:p>
            <a:pPr marL="640080" lvl="1" indent="-246888" algn="l" rtl="0">
              <a:spcBef>
                <a:spcPts val="480"/>
              </a:spcBef>
              <a:spcAft>
                <a:spcPts val="0"/>
              </a:spcAft>
              <a:buSzPts val="2040"/>
              <a:buChar char="⚫"/>
            </a:pPr>
            <a:r>
              <a:rPr lang="en-IN"/>
              <a:t>Dataset size</a:t>
            </a:r>
            <a:endParaRPr/>
          </a:p>
          <a:p>
            <a:pPr marL="640080" lvl="1" indent="-246888" algn="l" rtl="0">
              <a:spcBef>
                <a:spcPts val="480"/>
              </a:spcBef>
              <a:spcAft>
                <a:spcPts val="0"/>
              </a:spcAft>
              <a:buSzPts val="2040"/>
              <a:buChar char="⚫"/>
            </a:pPr>
            <a:r>
              <a:rPr lang="en-IN"/>
              <a:t>Loading technique</a:t>
            </a:r>
            <a:endParaRPr/>
          </a:p>
          <a:p>
            <a:pPr marL="640080" lvl="1" indent="-246888" algn="l" rtl="0">
              <a:spcBef>
                <a:spcPts val="480"/>
              </a:spcBef>
              <a:spcAft>
                <a:spcPts val="0"/>
              </a:spcAft>
              <a:buSzPts val="2040"/>
              <a:buChar char="⚫"/>
            </a:pPr>
            <a:r>
              <a:rPr lang="en-IN"/>
              <a:t>Coding style</a:t>
            </a:r>
            <a:endParaRPr/>
          </a:p>
          <a:p>
            <a:pPr marL="640080" lvl="1" indent="-246888" algn="l" rtl="0">
              <a:spcBef>
                <a:spcPts val="480"/>
              </a:spcBef>
              <a:spcAft>
                <a:spcPts val="0"/>
              </a:spcAft>
              <a:buSzPts val="2040"/>
              <a:buChar char="⚫"/>
            </a:pPr>
            <a:r>
              <a:rPr lang="en-IN"/>
              <a:t>Machine capability</a:t>
            </a:r>
            <a:endParaRPr/>
          </a:p>
          <a:p>
            <a:pPr marL="640080" lvl="1" indent="-246888" algn="l" rtl="0">
              <a:spcBef>
                <a:spcPts val="480"/>
              </a:spcBef>
              <a:spcAft>
                <a:spcPts val="0"/>
              </a:spcAft>
              <a:buSzPts val="2040"/>
              <a:buChar char="⚫"/>
            </a:pPr>
            <a:r>
              <a:rPr lang="en-IN"/>
              <a:t>Analysis algorithm</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0"/>
          <p:cNvSpPr txBox="1">
            <a:spLocks noGrp="1"/>
          </p:cNvSpPr>
          <p:nvPr>
            <p:ph type="title"/>
          </p:nvPr>
        </p:nvSpPr>
        <p:spPr>
          <a:xfrm>
            <a:off x="457200" y="304800"/>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3500"/>
              <a:buFont typeface="Calibri"/>
              <a:buNone/>
            </a:pPr>
            <a:r>
              <a:rPr lang="en-IN" sz="3500"/>
              <a:t>Using the Python Ecosystem for Data Science</a:t>
            </a:r>
            <a:endParaRPr/>
          </a:p>
        </p:txBody>
      </p:sp>
      <p:sp>
        <p:nvSpPr>
          <p:cNvPr id="287" name="Google Shape;287;p30"/>
          <p:cNvSpPr txBox="1">
            <a:spLocks noGrp="1"/>
          </p:cNvSpPr>
          <p:nvPr>
            <p:ph type="body" idx="1"/>
          </p:nvPr>
        </p:nvSpPr>
        <p:spPr>
          <a:xfrm>
            <a:off x="457200" y="1143000"/>
            <a:ext cx="8229600" cy="5410200"/>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spcBef>
                <a:spcPts val="0"/>
              </a:spcBef>
              <a:spcAft>
                <a:spcPts val="0"/>
              </a:spcAft>
              <a:buSzPct val="95000"/>
              <a:buNone/>
            </a:pPr>
            <a:r>
              <a:rPr lang="en-IN" sz="2200"/>
              <a:t>This section provides an overview of the libraries you use for the data science examples</a:t>
            </a:r>
            <a:endParaRPr/>
          </a:p>
          <a:p>
            <a:pPr marL="274320" lvl="0" indent="-274320" algn="just" rtl="0">
              <a:spcBef>
                <a:spcPts val="444"/>
              </a:spcBef>
              <a:spcAft>
                <a:spcPts val="0"/>
              </a:spcAft>
              <a:buSzPct val="95000"/>
              <a:buChar char="⚫"/>
            </a:pPr>
            <a:r>
              <a:rPr lang="en-IN" sz="2400" b="1"/>
              <a:t>Accessing scientific tools using SciPy</a:t>
            </a:r>
            <a:endParaRPr sz="2400" b="1"/>
          </a:p>
          <a:p>
            <a:pPr marL="0" lvl="0" indent="0" algn="just" rtl="0">
              <a:spcBef>
                <a:spcPts val="407"/>
              </a:spcBef>
              <a:spcAft>
                <a:spcPts val="0"/>
              </a:spcAft>
              <a:buSzPct val="95000"/>
              <a:buNone/>
            </a:pPr>
            <a:r>
              <a:rPr lang="en-IN" sz="2200"/>
              <a:t>The SciPy stack (http://www.scipy.org/) contains a host of other libraries that you can also download separately. These libraries provide support for mathematics, science, and engineering. </a:t>
            </a:r>
            <a:endParaRPr sz="2200"/>
          </a:p>
          <a:p>
            <a:pPr marL="274320" lvl="0" indent="-274320" algn="just" rtl="0">
              <a:spcBef>
                <a:spcPts val="444"/>
              </a:spcBef>
              <a:spcAft>
                <a:spcPts val="0"/>
              </a:spcAft>
              <a:buSzPct val="95000"/>
              <a:buChar char="⚫"/>
            </a:pPr>
            <a:r>
              <a:rPr lang="en-IN" sz="2400"/>
              <a:t>These libraries are </a:t>
            </a:r>
            <a:endParaRPr/>
          </a:p>
          <a:p>
            <a:pPr marL="640080" lvl="1" indent="-246888" algn="just" rtl="0">
              <a:spcBef>
                <a:spcPts val="407"/>
              </a:spcBef>
              <a:spcAft>
                <a:spcPts val="0"/>
              </a:spcAft>
              <a:buSzPct val="85000"/>
              <a:buChar char="⚫"/>
            </a:pPr>
            <a:r>
              <a:rPr lang="en-IN" sz="2200"/>
              <a:t>NumPy </a:t>
            </a:r>
            <a:endParaRPr/>
          </a:p>
          <a:p>
            <a:pPr marL="640080" lvl="1" indent="-246888" algn="just" rtl="0">
              <a:spcBef>
                <a:spcPts val="407"/>
              </a:spcBef>
              <a:spcAft>
                <a:spcPts val="0"/>
              </a:spcAft>
              <a:buSzPct val="85000"/>
              <a:buChar char="⚫"/>
            </a:pPr>
            <a:r>
              <a:rPr lang="en-IN" sz="2200"/>
              <a:t>SciPy </a:t>
            </a:r>
            <a:endParaRPr/>
          </a:p>
          <a:p>
            <a:pPr marL="640080" lvl="1" indent="-246888" algn="just" rtl="0">
              <a:spcBef>
                <a:spcPts val="407"/>
              </a:spcBef>
              <a:spcAft>
                <a:spcPts val="0"/>
              </a:spcAft>
              <a:buSzPct val="85000"/>
              <a:buChar char="⚫"/>
            </a:pPr>
            <a:r>
              <a:rPr lang="en-IN" sz="2200"/>
              <a:t>matplotlib </a:t>
            </a:r>
            <a:endParaRPr/>
          </a:p>
          <a:p>
            <a:pPr marL="640080" lvl="1" indent="-246888" algn="just" rtl="0">
              <a:spcBef>
                <a:spcPts val="407"/>
              </a:spcBef>
              <a:spcAft>
                <a:spcPts val="0"/>
              </a:spcAft>
              <a:buSzPct val="85000"/>
              <a:buChar char="⚫"/>
            </a:pPr>
            <a:r>
              <a:rPr lang="en-IN" sz="2200"/>
              <a:t>IPython </a:t>
            </a:r>
            <a:endParaRPr/>
          </a:p>
          <a:p>
            <a:pPr marL="640080" lvl="1" indent="-246888" algn="just" rtl="0">
              <a:spcBef>
                <a:spcPts val="407"/>
              </a:spcBef>
              <a:spcAft>
                <a:spcPts val="0"/>
              </a:spcAft>
              <a:buSzPct val="85000"/>
              <a:buChar char="⚫"/>
            </a:pPr>
            <a:r>
              <a:rPr lang="en-IN" sz="2200"/>
              <a:t>Sympy </a:t>
            </a:r>
            <a:endParaRPr/>
          </a:p>
          <a:p>
            <a:pPr marL="640080" lvl="1" indent="-246888" algn="just" rtl="0">
              <a:spcBef>
                <a:spcPts val="407"/>
              </a:spcBef>
              <a:spcAft>
                <a:spcPts val="0"/>
              </a:spcAft>
              <a:buSzPct val="85000"/>
              <a:buChar char="⚫"/>
            </a:pPr>
            <a:r>
              <a:rPr lang="en-IN" sz="2200"/>
              <a:t>Pandas</a:t>
            </a:r>
            <a:endParaRPr/>
          </a:p>
          <a:p>
            <a:pPr marL="274320" lvl="1" indent="-274320" algn="just" rtl="0">
              <a:spcBef>
                <a:spcPts val="444"/>
              </a:spcBef>
              <a:spcAft>
                <a:spcPts val="0"/>
              </a:spcAft>
              <a:buClr>
                <a:schemeClr val="accent3"/>
              </a:buClr>
              <a:buSzPct val="95000"/>
              <a:buChar char="⚫"/>
            </a:pPr>
            <a:r>
              <a:rPr lang="en-IN"/>
              <a:t>SciPy is a general‐purpose library that provides functionality for multiple problem domains. It also provides support for domain‐specific libraries, such as Scikit‐learn, Scikit‐image, and statsmodels.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Autofit/>
          </a:bodyPr>
          <a:lstStyle/>
          <a:p>
            <a:pPr marL="0" lvl="0" indent="0" algn="l" rtl="0">
              <a:spcBef>
                <a:spcPts val="0"/>
              </a:spcBef>
              <a:spcAft>
                <a:spcPts val="0"/>
              </a:spcAft>
              <a:buClr>
                <a:schemeClr val="dk2"/>
              </a:buClr>
              <a:buSzPts val="3500"/>
              <a:buFont typeface="Calibri"/>
              <a:buNone/>
            </a:pPr>
            <a:r>
              <a:rPr lang="en-IN" sz="3500"/>
              <a:t>Using the Python Ecosystem for Data Science</a:t>
            </a:r>
            <a:endParaRPr/>
          </a:p>
        </p:txBody>
      </p:sp>
      <p:sp>
        <p:nvSpPr>
          <p:cNvPr id="293" name="Google Shape;293;p3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090"/>
              <a:buChar char="⚫"/>
            </a:pPr>
            <a:r>
              <a:rPr lang="en-IN" sz="2200" b="1"/>
              <a:t>Performing fundamental scientific computing using NumPy</a:t>
            </a:r>
            <a:endParaRPr sz="2200" b="1"/>
          </a:p>
          <a:p>
            <a:pPr marL="0" lvl="0" indent="0" algn="just" rtl="0">
              <a:spcBef>
                <a:spcPts val="440"/>
              </a:spcBef>
              <a:spcAft>
                <a:spcPts val="0"/>
              </a:spcAft>
              <a:buSzPts val="2090"/>
              <a:buNone/>
            </a:pPr>
            <a:r>
              <a:rPr lang="en-IN" sz="2200"/>
              <a:t>The NumPy library (http://www.numpy.org/) provides the means for performing n‐dimensional array manipulation. NumPy functions that include support for linear algebra, Fourier transform, and random‐number generation.</a:t>
            </a:r>
            <a:endParaRPr/>
          </a:p>
          <a:p>
            <a:pPr marL="0" lvl="0" indent="0" algn="just" rtl="0">
              <a:spcBef>
                <a:spcPts val="440"/>
              </a:spcBef>
              <a:spcAft>
                <a:spcPts val="0"/>
              </a:spcAft>
              <a:buSzPts val="2090"/>
              <a:buNone/>
            </a:pPr>
            <a:endParaRPr sz="2200"/>
          </a:p>
          <a:p>
            <a:pPr marL="274320" lvl="0" indent="-274320" algn="just" rtl="0">
              <a:spcBef>
                <a:spcPts val="440"/>
              </a:spcBef>
              <a:spcAft>
                <a:spcPts val="0"/>
              </a:spcAft>
              <a:buSzPts val="2090"/>
              <a:buChar char="⚫"/>
            </a:pPr>
            <a:r>
              <a:rPr lang="en-IN" sz="2200" b="1"/>
              <a:t>Performing data analysis using pandas </a:t>
            </a:r>
            <a:endParaRPr/>
          </a:p>
          <a:p>
            <a:pPr marL="0" lvl="0" indent="0" algn="just" rtl="0">
              <a:spcBef>
                <a:spcPts val="440"/>
              </a:spcBef>
              <a:spcAft>
                <a:spcPts val="0"/>
              </a:spcAft>
              <a:buSzPts val="2090"/>
              <a:buNone/>
            </a:pPr>
            <a:r>
              <a:rPr lang="en-IN" sz="2200"/>
              <a:t>The pandas library (http://pandas.pydata.org/) provides support for data structures and data analysis tools. The basic principle behind pandas is to provide data analysis and modeling support for Python.</a:t>
            </a:r>
            <a:endParaRPr/>
          </a:p>
          <a:p>
            <a:pPr marL="274320" lvl="0" indent="-141605" algn="just" rtl="0">
              <a:spcBef>
                <a:spcPts val="440"/>
              </a:spcBef>
              <a:spcAft>
                <a:spcPts val="0"/>
              </a:spcAft>
              <a:buSzPts val="2090"/>
              <a:buNone/>
            </a:pPr>
            <a:endParaRPr sz="2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3500"/>
              <a:buFont typeface="Calibri"/>
              <a:buNone/>
            </a:pPr>
            <a:r>
              <a:rPr lang="en-IN" sz="3500"/>
              <a:t>Using the Python Ecosystem for Data Science</a:t>
            </a:r>
            <a:endParaRPr/>
          </a:p>
        </p:txBody>
      </p:sp>
      <p:sp>
        <p:nvSpPr>
          <p:cNvPr id="299" name="Google Shape;299;p3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Autofit/>
          </a:bodyPr>
          <a:lstStyle/>
          <a:p>
            <a:pPr marL="274320" lvl="0" indent="-274320" algn="just" rtl="0">
              <a:spcBef>
                <a:spcPts val="0"/>
              </a:spcBef>
              <a:spcAft>
                <a:spcPts val="0"/>
              </a:spcAft>
              <a:buSzPts val="1900"/>
              <a:buChar char="⚫"/>
            </a:pPr>
            <a:r>
              <a:rPr lang="en-IN" sz="2000" b="1"/>
              <a:t>Implementing machine learning using Scikit‐learn</a:t>
            </a:r>
            <a:endParaRPr/>
          </a:p>
          <a:p>
            <a:pPr marL="274320" lvl="0" indent="-274320" algn="just" rtl="0">
              <a:spcBef>
                <a:spcPts val="400"/>
              </a:spcBef>
              <a:spcAft>
                <a:spcPts val="0"/>
              </a:spcAft>
              <a:buSzPts val="1900"/>
              <a:buChar char="⚫"/>
            </a:pPr>
            <a:r>
              <a:rPr lang="en-IN" sz="2000"/>
              <a:t>The Scikit‐learn library (http://scikit‐learn.org/stable/) is one of a number of Scikit libraries that build on the capabilities provided by NumPy and SciPy to allow Python developers to perform domain‐specific tasks. It provides access to the following sorts of functionality: </a:t>
            </a:r>
            <a:endParaRPr sz="2000"/>
          </a:p>
          <a:p>
            <a:pPr marL="640080" lvl="1" indent="-246888" algn="just" rtl="0">
              <a:spcBef>
                <a:spcPts val="400"/>
              </a:spcBef>
              <a:spcAft>
                <a:spcPts val="0"/>
              </a:spcAft>
              <a:buSzPts val="1700"/>
              <a:buChar char="⚫"/>
            </a:pPr>
            <a:r>
              <a:rPr lang="en-IN" sz="2000"/>
              <a:t>Classification </a:t>
            </a:r>
            <a:endParaRPr/>
          </a:p>
          <a:p>
            <a:pPr marL="640080" lvl="1" indent="-246888" algn="just" rtl="0">
              <a:spcBef>
                <a:spcPts val="400"/>
              </a:spcBef>
              <a:spcAft>
                <a:spcPts val="0"/>
              </a:spcAft>
              <a:buSzPts val="1700"/>
              <a:buChar char="⚫"/>
            </a:pPr>
            <a:r>
              <a:rPr lang="en-IN" sz="2000"/>
              <a:t>Regression </a:t>
            </a:r>
            <a:endParaRPr/>
          </a:p>
          <a:p>
            <a:pPr marL="640080" lvl="1" indent="-246888" algn="just" rtl="0">
              <a:spcBef>
                <a:spcPts val="400"/>
              </a:spcBef>
              <a:spcAft>
                <a:spcPts val="0"/>
              </a:spcAft>
              <a:buSzPts val="1700"/>
              <a:buChar char="⚫"/>
            </a:pPr>
            <a:r>
              <a:rPr lang="en-IN" sz="2000"/>
              <a:t>Clustering </a:t>
            </a:r>
            <a:endParaRPr/>
          </a:p>
          <a:p>
            <a:pPr marL="640080" lvl="1" indent="-246888" algn="just" rtl="0">
              <a:spcBef>
                <a:spcPts val="400"/>
              </a:spcBef>
              <a:spcAft>
                <a:spcPts val="0"/>
              </a:spcAft>
              <a:buSzPts val="1700"/>
              <a:buChar char="⚫"/>
            </a:pPr>
            <a:r>
              <a:rPr lang="en-IN" sz="2000"/>
              <a:t>Dimensionality reduction </a:t>
            </a:r>
            <a:endParaRPr sz="2000"/>
          </a:p>
          <a:p>
            <a:pPr marL="640080" lvl="1" indent="-246888" algn="just" rtl="0">
              <a:spcBef>
                <a:spcPts val="400"/>
              </a:spcBef>
              <a:spcAft>
                <a:spcPts val="0"/>
              </a:spcAft>
              <a:buSzPts val="1700"/>
              <a:buChar char="⚫"/>
            </a:pPr>
            <a:r>
              <a:rPr lang="en-IN" sz="2000"/>
              <a:t>Model selection </a:t>
            </a:r>
            <a:endParaRPr sz="2000"/>
          </a:p>
          <a:p>
            <a:pPr marL="640080" lvl="1" indent="-246888" algn="just" rtl="0">
              <a:spcBef>
                <a:spcPts val="400"/>
              </a:spcBef>
              <a:spcAft>
                <a:spcPts val="0"/>
              </a:spcAft>
              <a:buSzPts val="1700"/>
              <a:buChar char="⚫"/>
            </a:pPr>
            <a:r>
              <a:rPr lang="en-IN" sz="2000"/>
              <a:t>Preprocessing</a:t>
            </a:r>
            <a:endParaRPr sz="2000"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3"/>
          <p:cNvSpPr txBox="1">
            <a:spLocks noGrp="1"/>
          </p:cNvSpPr>
          <p:nvPr>
            <p:ph type="title"/>
          </p:nvPr>
        </p:nvSpPr>
        <p:spPr>
          <a:xfrm>
            <a:off x="457200" y="457200"/>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3500"/>
              <a:buFont typeface="Calibri"/>
              <a:buNone/>
            </a:pPr>
            <a:r>
              <a:rPr lang="en-IN" sz="3500"/>
              <a:t>Using the Python Ecosystem for Data Science</a:t>
            </a:r>
            <a:endParaRPr/>
          </a:p>
        </p:txBody>
      </p:sp>
      <p:sp>
        <p:nvSpPr>
          <p:cNvPr id="305" name="Google Shape;305;p33"/>
          <p:cNvSpPr txBox="1">
            <a:spLocks noGrp="1"/>
          </p:cNvSpPr>
          <p:nvPr>
            <p:ph type="body" idx="1"/>
          </p:nvPr>
        </p:nvSpPr>
        <p:spPr>
          <a:xfrm>
            <a:off x="457200" y="1447800"/>
            <a:ext cx="8229600" cy="4876800"/>
          </a:xfrm>
          <a:prstGeom prst="rect">
            <a:avLst/>
          </a:prstGeom>
          <a:noFill/>
          <a:ln>
            <a:noFill/>
          </a:ln>
        </p:spPr>
        <p:txBody>
          <a:bodyPr spcFirstLastPara="1" wrap="square" lIns="91425" tIns="45700" rIns="91425" bIns="45700" anchor="t" anchorCtr="0">
            <a:normAutofit lnSpcReduction="10000"/>
          </a:bodyPr>
          <a:lstStyle/>
          <a:p>
            <a:pPr marL="274320" lvl="0" indent="-274320" algn="just" rtl="0">
              <a:spcBef>
                <a:spcPts val="0"/>
              </a:spcBef>
              <a:spcAft>
                <a:spcPts val="0"/>
              </a:spcAft>
              <a:buSzPts val="1900"/>
              <a:buChar char="⚫"/>
            </a:pPr>
            <a:r>
              <a:rPr lang="en-IN" sz="2000" b="1"/>
              <a:t>Plotting the data using matplotlib</a:t>
            </a:r>
            <a:endParaRPr sz="2000" b="1"/>
          </a:p>
          <a:p>
            <a:pPr marL="0" lvl="0" indent="0" algn="just" rtl="0">
              <a:spcBef>
                <a:spcPts val="400"/>
              </a:spcBef>
              <a:spcAft>
                <a:spcPts val="0"/>
              </a:spcAft>
              <a:buSzPts val="1900"/>
              <a:buNone/>
            </a:pPr>
            <a:r>
              <a:rPr lang="en-IN" sz="2000"/>
              <a:t>The matplotlib library (http://matplotlib.org/) provides you with a MATLAB‐like interface for creating data presentations of the analysis you perform. </a:t>
            </a:r>
            <a:endParaRPr sz="2000"/>
          </a:p>
          <a:p>
            <a:pPr marL="0" lvl="0" indent="0" algn="just" rtl="0">
              <a:spcBef>
                <a:spcPts val="400"/>
              </a:spcBef>
              <a:spcAft>
                <a:spcPts val="0"/>
              </a:spcAft>
              <a:buSzPts val="1900"/>
              <a:buNone/>
            </a:pPr>
            <a:r>
              <a:rPr lang="en-IN" sz="2000"/>
              <a:t>The library is currently limited to 2D output, but it still provides you with the means to express graphically the data patterns you see in the data you analyze. Without this library, you couldn’t create output that people outside the data science community could easily understand.</a:t>
            </a:r>
            <a:endParaRPr/>
          </a:p>
          <a:p>
            <a:pPr marL="0" lvl="0" indent="0" algn="just" rtl="0">
              <a:spcBef>
                <a:spcPts val="400"/>
              </a:spcBef>
              <a:spcAft>
                <a:spcPts val="0"/>
              </a:spcAft>
              <a:buSzPts val="1900"/>
              <a:buNone/>
            </a:pPr>
            <a:endParaRPr sz="2000"/>
          </a:p>
          <a:p>
            <a:pPr marL="274320" lvl="0" indent="-274320" algn="just" rtl="0">
              <a:spcBef>
                <a:spcPts val="400"/>
              </a:spcBef>
              <a:spcAft>
                <a:spcPts val="0"/>
              </a:spcAft>
              <a:buSzPts val="1900"/>
              <a:buChar char="⚫"/>
            </a:pPr>
            <a:r>
              <a:rPr lang="en-IN" sz="2000" b="1"/>
              <a:t>Parsing HTML documents using Beautiful Soup</a:t>
            </a:r>
            <a:endParaRPr/>
          </a:p>
          <a:p>
            <a:pPr marL="0" lvl="0" indent="0" algn="just" rtl="0">
              <a:spcBef>
                <a:spcPts val="400"/>
              </a:spcBef>
              <a:spcAft>
                <a:spcPts val="0"/>
              </a:spcAft>
              <a:buSzPts val="1900"/>
              <a:buNone/>
            </a:pPr>
            <a:r>
              <a:rPr lang="en-IN" sz="2000"/>
              <a:t>The Beautiful Soup library (http://www.crummy.com/software/ BeautifulSoup/) download is actually found at https://pypi.python. org/pypi/beautifulsoup4/4.3.2. This library provides the means for parsing HTML or XML data in a manner that Python understands. It allows you to work with tree‐based data.</a:t>
            </a:r>
            <a:endParaRPr sz="20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1"/>
          <p:cNvSpPr txBox="1">
            <a:spLocks noGrp="1"/>
          </p:cNvSpPr>
          <p:nvPr>
            <p:ph type="title"/>
          </p:nvPr>
        </p:nvSpPr>
        <p:spPr>
          <a:xfrm>
            <a:off x="457200" y="381000"/>
            <a:ext cx="8229600" cy="1143000"/>
          </a:xfrm>
          <a:prstGeom prst="rect">
            <a:avLst/>
          </a:prstGeom>
          <a:noFill/>
          <a:ln>
            <a:noFill/>
          </a:ln>
        </p:spPr>
        <p:txBody>
          <a:bodyPr spcFirstLastPara="1" wrap="square" lIns="0" tIns="45700" rIns="0" bIns="0" anchor="t" anchorCtr="0">
            <a:noAutofit/>
          </a:bodyPr>
          <a:lstStyle/>
          <a:p>
            <a:pPr marL="0" lvl="0" indent="0" algn="l" rtl="0">
              <a:spcBef>
                <a:spcPts val="0"/>
              </a:spcBef>
              <a:spcAft>
                <a:spcPts val="0"/>
              </a:spcAft>
              <a:buClr>
                <a:schemeClr val="dk2"/>
              </a:buClr>
              <a:buSzPts val="3500"/>
              <a:buFont typeface="Calibri"/>
              <a:buNone/>
            </a:pPr>
            <a:r>
              <a:rPr lang="en-IN" sz="3500"/>
              <a:t>Working at the command line or in the IDE </a:t>
            </a:r>
            <a:endParaRPr/>
          </a:p>
        </p:txBody>
      </p:sp>
      <p:sp>
        <p:nvSpPr>
          <p:cNvPr id="230" name="Google Shape;230;p21"/>
          <p:cNvSpPr txBox="1">
            <a:spLocks noGrp="1"/>
          </p:cNvSpPr>
          <p:nvPr>
            <p:ph type="body" idx="1"/>
          </p:nvPr>
        </p:nvSpPr>
        <p:spPr>
          <a:xfrm>
            <a:off x="457200" y="137160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00"/>
              <a:buChar char="⚫"/>
            </a:pPr>
            <a:r>
              <a:rPr lang="en-IN" sz="2000"/>
              <a:t>Anaconda is a product that makes using Python even easier. It comes with a number of utilities that help you work with Python in a variety of ways. </a:t>
            </a:r>
            <a:endParaRPr sz="2000"/>
          </a:p>
          <a:p>
            <a:pPr marL="274320" lvl="0" indent="-274320" algn="l" rtl="0">
              <a:spcBef>
                <a:spcPts val="400"/>
              </a:spcBef>
              <a:spcAft>
                <a:spcPts val="0"/>
              </a:spcAft>
              <a:buSzPts val="1900"/>
              <a:buChar char="⚫"/>
            </a:pPr>
            <a:r>
              <a:rPr lang="en-IN" sz="2000"/>
              <a:t>Anaconda is actually a compilation of several open source applications. You can use these applications individually or in cooperation with each other to achieve specific coding goals. </a:t>
            </a:r>
            <a:endParaRPr sz="2000"/>
          </a:p>
          <a:p>
            <a:pPr marL="274320" lvl="0" indent="-153670" algn="l" rtl="0">
              <a:spcBef>
                <a:spcPts val="400"/>
              </a:spcBef>
              <a:spcAft>
                <a:spcPts val="0"/>
              </a:spcAft>
              <a:buSzPts val="1900"/>
              <a:buNone/>
            </a:pPr>
            <a:endParaRPr sz="2000"/>
          </a:p>
          <a:p>
            <a:pPr marL="640080" lvl="1" indent="-246888" algn="l" rtl="0">
              <a:spcBef>
                <a:spcPts val="360"/>
              </a:spcBef>
              <a:spcAft>
                <a:spcPts val="0"/>
              </a:spcAft>
              <a:buSzPts val="1530"/>
              <a:buChar char="⚫"/>
            </a:pPr>
            <a:r>
              <a:rPr lang="en-IN" sz="1800"/>
              <a:t>Jupyter  Notebook/IPython Notebook</a:t>
            </a:r>
            <a:endParaRPr/>
          </a:p>
          <a:p>
            <a:pPr marL="640080" lvl="1" indent="-246888" algn="l" rtl="0">
              <a:spcBef>
                <a:spcPts val="360"/>
              </a:spcBef>
              <a:spcAft>
                <a:spcPts val="0"/>
              </a:spcAft>
              <a:buSzPts val="1530"/>
              <a:buChar char="⚫"/>
            </a:pPr>
            <a:r>
              <a:rPr lang="en-IN" sz="1800"/>
              <a:t>Spyder</a:t>
            </a:r>
            <a:endParaRPr sz="1800"/>
          </a:p>
          <a:p>
            <a:pPr marL="640080" lvl="1" indent="-246888" algn="l" rtl="0">
              <a:spcBef>
                <a:spcPts val="360"/>
              </a:spcBef>
              <a:spcAft>
                <a:spcPts val="0"/>
              </a:spcAft>
              <a:buSzPts val="1530"/>
              <a:buChar char="⚫"/>
            </a:pPr>
            <a:r>
              <a:rPr lang="en-IN" sz="1800"/>
              <a:t>IPython QT  Console</a:t>
            </a:r>
            <a:endParaRPr/>
          </a:p>
          <a:p>
            <a:pPr marL="640080" lvl="1" indent="-246888" algn="l" rtl="0">
              <a:spcBef>
                <a:spcPts val="360"/>
              </a:spcBef>
              <a:spcAft>
                <a:spcPts val="0"/>
              </a:spcAft>
              <a:buSzPts val="1530"/>
              <a:buChar char="⚫"/>
            </a:pPr>
            <a:r>
              <a:rPr lang="en-IN" sz="1800"/>
              <a:t>Anaconda Command Prompt</a:t>
            </a:r>
            <a:endParaRPr/>
          </a:p>
          <a:p>
            <a:pPr marL="914400" lvl="2" indent="-246887" algn="l" rtl="0">
              <a:spcBef>
                <a:spcPts val="300"/>
              </a:spcBef>
              <a:spcAft>
                <a:spcPts val="0"/>
              </a:spcAft>
              <a:buSzPts val="1050"/>
              <a:buChar char="⚫"/>
            </a:pPr>
            <a:r>
              <a:rPr lang="en-IN" sz="1500"/>
              <a:t>Python Interprepter</a:t>
            </a:r>
            <a:endParaRPr sz="1500"/>
          </a:p>
          <a:p>
            <a:pPr marL="914400" lvl="2" indent="-246887" algn="l" rtl="0">
              <a:spcBef>
                <a:spcPts val="300"/>
              </a:spcBef>
              <a:spcAft>
                <a:spcPts val="0"/>
              </a:spcAft>
              <a:buSzPts val="1050"/>
              <a:buChar char="⚫"/>
            </a:pPr>
            <a:r>
              <a:rPr lang="en-IN" sz="1500"/>
              <a:t>Ipython Console</a:t>
            </a:r>
            <a:endParaRPr sz="1500"/>
          </a:p>
        </p:txBody>
      </p:sp>
    </p:spTree>
    <p:extLst>
      <p:ext uri="{BB962C8B-B14F-4D97-AF65-F5344CB8AC3E}">
        <p14:creationId xmlns:p14="http://schemas.microsoft.com/office/powerpoint/2010/main" val="2572177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3500"/>
              <a:buFont typeface="Calibri"/>
              <a:buNone/>
            </a:pPr>
            <a:r>
              <a:rPr lang="en-IN" sz="3500"/>
              <a:t>Creating new sessions with Anaconda Command Prompt</a:t>
            </a:r>
            <a:endParaRPr/>
          </a:p>
        </p:txBody>
      </p:sp>
      <p:sp>
        <p:nvSpPr>
          <p:cNvPr id="236" name="Google Shape;236;p22"/>
          <p:cNvSpPr txBox="1">
            <a:spLocks noGrp="1"/>
          </p:cNvSpPr>
          <p:nvPr>
            <p:ph type="body" idx="1"/>
          </p:nvPr>
        </p:nvSpPr>
        <p:spPr>
          <a:xfrm>
            <a:off x="381000" y="201168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1900"/>
              <a:buChar char="⚫"/>
            </a:pPr>
            <a:r>
              <a:rPr lang="en-IN" sz="2000" dirty="0"/>
              <a:t>Only one of the Anaconda utilities provides direct access to the command line, Anaconda Command Prompt. </a:t>
            </a:r>
            <a:endParaRPr sz="2000" dirty="0"/>
          </a:p>
          <a:p>
            <a:pPr marL="274320" lvl="0" indent="-274320" algn="just" rtl="0">
              <a:spcBef>
                <a:spcPts val="400"/>
              </a:spcBef>
              <a:spcAft>
                <a:spcPts val="0"/>
              </a:spcAft>
              <a:buSzPts val="1900"/>
              <a:buChar char="⚫"/>
            </a:pPr>
            <a:r>
              <a:rPr lang="en-IN" sz="2000" dirty="0"/>
              <a:t>When you start this utility, you see a command prompt at which you can type commands. </a:t>
            </a:r>
            <a:endParaRPr sz="2000" dirty="0"/>
          </a:p>
          <a:p>
            <a:pPr marL="274320" lvl="0" indent="-274320" algn="just" rtl="0">
              <a:spcBef>
                <a:spcPts val="400"/>
              </a:spcBef>
              <a:spcAft>
                <a:spcPts val="0"/>
              </a:spcAft>
              <a:buSzPts val="1900"/>
              <a:buChar char="⚫"/>
            </a:pPr>
            <a:r>
              <a:rPr lang="en-IN" sz="2000" dirty="0"/>
              <a:t>Using Anaconda Command prompt you can start various utility through command:</a:t>
            </a:r>
            <a:endParaRPr dirty="0"/>
          </a:p>
          <a:p>
            <a:pPr marL="640080" lvl="1" indent="-246888" algn="just" rtl="0">
              <a:spcBef>
                <a:spcPts val="360"/>
              </a:spcBef>
              <a:spcAft>
                <a:spcPts val="0"/>
              </a:spcAft>
              <a:buSzPts val="1530"/>
              <a:buChar char="⚫"/>
            </a:pPr>
            <a:r>
              <a:rPr lang="en-IN" sz="1800" dirty="0" err="1"/>
              <a:t>jupyter</a:t>
            </a:r>
            <a:r>
              <a:rPr lang="en-IN" sz="1800" dirty="0"/>
              <a:t> notebook</a:t>
            </a:r>
            <a:endParaRPr dirty="0"/>
          </a:p>
          <a:p>
            <a:pPr marL="640080" lvl="1" indent="-246888" algn="just" rtl="0">
              <a:spcBef>
                <a:spcPts val="360"/>
              </a:spcBef>
              <a:spcAft>
                <a:spcPts val="0"/>
              </a:spcAft>
              <a:buSzPts val="1530"/>
              <a:buChar char="⚫"/>
            </a:pPr>
            <a:r>
              <a:rPr lang="en-IN" sz="1800" dirty="0" err="1"/>
              <a:t>spyder</a:t>
            </a:r>
            <a:endParaRPr sz="1800" dirty="0"/>
          </a:p>
          <a:p>
            <a:pPr marL="640080" lvl="1" indent="-246888" algn="just" rtl="0">
              <a:spcBef>
                <a:spcPts val="360"/>
              </a:spcBef>
              <a:spcAft>
                <a:spcPts val="0"/>
              </a:spcAft>
              <a:buSzPts val="1530"/>
              <a:buChar char="⚫"/>
            </a:pPr>
            <a:r>
              <a:rPr lang="en-IN" sz="1800" dirty="0" err="1"/>
              <a:t>ipython</a:t>
            </a:r>
            <a:r>
              <a:rPr lang="en-IN" sz="1800" dirty="0"/>
              <a:t>  to open </a:t>
            </a:r>
            <a:r>
              <a:rPr lang="en-IN" sz="1800" dirty="0" err="1"/>
              <a:t>IPython</a:t>
            </a:r>
            <a:r>
              <a:rPr lang="en-IN" sz="1800" dirty="0"/>
              <a:t> Console</a:t>
            </a:r>
            <a:endParaRPr dirty="0"/>
          </a:p>
          <a:p>
            <a:pPr marL="640080" lvl="1" indent="-246888" algn="just" rtl="0">
              <a:spcBef>
                <a:spcPts val="360"/>
              </a:spcBef>
              <a:spcAft>
                <a:spcPts val="0"/>
              </a:spcAft>
              <a:buSzPts val="1530"/>
              <a:buChar char="⚫"/>
            </a:pPr>
            <a:r>
              <a:rPr lang="en-IN" sz="1800" dirty="0"/>
              <a:t>python  to open python interpreter</a:t>
            </a:r>
            <a:endParaRPr dirty="0"/>
          </a:p>
          <a:p>
            <a:pPr marL="640080" lvl="1" indent="-246888" algn="just" rtl="0">
              <a:spcBef>
                <a:spcPts val="360"/>
              </a:spcBef>
              <a:spcAft>
                <a:spcPts val="0"/>
              </a:spcAft>
              <a:buSzPts val="1530"/>
              <a:buChar char="⚫"/>
            </a:pPr>
            <a:r>
              <a:rPr lang="en-IN" sz="1800" dirty="0" err="1"/>
              <a:t>IPython</a:t>
            </a:r>
            <a:r>
              <a:rPr lang="en-IN" sz="1800" dirty="0"/>
              <a:t>  </a:t>
            </a:r>
            <a:r>
              <a:rPr lang="en-IN" sz="1800" dirty="0" err="1"/>
              <a:t>qtconsole</a:t>
            </a:r>
            <a:endParaRPr sz="1800" dirty="0"/>
          </a:p>
          <a:p>
            <a:pPr marL="640080" lvl="1" indent="-149733" algn="just" rtl="0">
              <a:spcBef>
                <a:spcPts val="360"/>
              </a:spcBef>
              <a:spcAft>
                <a:spcPts val="0"/>
              </a:spcAft>
              <a:buSzPts val="1530"/>
              <a:buNone/>
            </a:pPr>
            <a:endParaRPr sz="1800" dirty="0"/>
          </a:p>
        </p:txBody>
      </p:sp>
    </p:spTree>
    <p:extLst>
      <p:ext uri="{BB962C8B-B14F-4D97-AF65-F5344CB8AC3E}">
        <p14:creationId xmlns:p14="http://schemas.microsoft.com/office/powerpoint/2010/main" val="7848304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title"/>
          </p:nvPr>
        </p:nvSpPr>
        <p:spPr>
          <a:xfrm>
            <a:off x="457200" y="228600"/>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3500"/>
              <a:buFont typeface="Calibri"/>
              <a:buNone/>
            </a:pPr>
            <a:r>
              <a:rPr lang="en-IN" sz="3500"/>
              <a:t>Python Interpreter</a:t>
            </a:r>
            <a:endParaRPr sz="3500"/>
          </a:p>
        </p:txBody>
      </p:sp>
      <p:pic>
        <p:nvPicPr>
          <p:cNvPr id="242" name="Google Shape;242;p23"/>
          <p:cNvPicPr preferRelativeResize="0"/>
          <p:nvPr/>
        </p:nvPicPr>
        <p:blipFill rotWithShape="1">
          <a:blip r:embed="rId3">
            <a:alphaModFix/>
          </a:blip>
          <a:srcRect/>
          <a:stretch/>
        </p:blipFill>
        <p:spPr>
          <a:xfrm>
            <a:off x="609600" y="1828800"/>
            <a:ext cx="7047945" cy="3581400"/>
          </a:xfrm>
          <a:prstGeom prst="rect">
            <a:avLst/>
          </a:prstGeom>
          <a:noFill/>
          <a:ln>
            <a:noFill/>
          </a:ln>
        </p:spPr>
      </p:pic>
    </p:spTree>
    <p:extLst>
      <p:ext uri="{BB962C8B-B14F-4D97-AF65-F5344CB8AC3E}">
        <p14:creationId xmlns:p14="http://schemas.microsoft.com/office/powerpoint/2010/main" val="3246571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4500"/>
              <a:buFont typeface="Calibri"/>
              <a:buNone/>
            </a:pPr>
            <a:r>
              <a:rPr lang="en-IN" sz="4500"/>
              <a:t>Python Interpreter</a:t>
            </a:r>
            <a:endParaRPr/>
          </a:p>
        </p:txBody>
      </p:sp>
      <p:sp>
        <p:nvSpPr>
          <p:cNvPr id="248" name="Google Shape;248;p24"/>
          <p:cNvSpPr/>
          <p:nvPr/>
        </p:nvSpPr>
        <p:spPr>
          <a:xfrm>
            <a:off x="381000" y="1828800"/>
            <a:ext cx="8305800" cy="4462760"/>
          </a:xfrm>
          <a:prstGeom prst="rect">
            <a:avLst/>
          </a:prstGeom>
          <a:noFill/>
          <a:ln>
            <a:noFill/>
          </a:ln>
        </p:spPr>
        <p:txBody>
          <a:bodyPr spcFirstLastPara="1" wrap="square" lIns="91425" tIns="45700" rIns="91425" bIns="45700" anchor="t" anchorCtr="0">
            <a:spAutoFit/>
          </a:bodyPr>
          <a:lstStyle/>
          <a:p>
            <a:pPr marL="274320" marR="0" lvl="0" indent="-274320" algn="just" rtl="0">
              <a:spcBef>
                <a:spcPts val="0"/>
              </a:spcBef>
              <a:spcAft>
                <a:spcPts val="0"/>
              </a:spcAft>
              <a:buClr>
                <a:schemeClr val="accent3"/>
              </a:buClr>
              <a:buSzPts val="1900"/>
              <a:buFont typeface="Noto Sans Symbols"/>
              <a:buChar char="⚫"/>
            </a:pPr>
            <a:r>
              <a:rPr lang="en-IN" sz="2000">
                <a:solidFill>
                  <a:schemeClr val="dk1"/>
                </a:solidFill>
                <a:latin typeface="Constantia"/>
                <a:ea typeface="Constantia"/>
                <a:cs typeface="Constantia"/>
                <a:sym typeface="Constantia"/>
              </a:rPr>
              <a:t>Python interpreter is in an interactive mode when it reads commands from a tty. The primary prompt is the following:</a:t>
            </a:r>
            <a:endParaRPr/>
          </a:p>
          <a:p>
            <a:pPr marL="0" marR="0" lvl="0" indent="0" algn="just" rtl="0">
              <a:spcBef>
                <a:spcPts val="400"/>
              </a:spcBef>
              <a:spcAft>
                <a:spcPts val="0"/>
              </a:spcAft>
              <a:buNone/>
            </a:pPr>
            <a:r>
              <a:rPr lang="en-IN" sz="2000">
                <a:solidFill>
                  <a:schemeClr val="dk1"/>
                </a:solidFill>
                <a:latin typeface="Constantia"/>
                <a:ea typeface="Constantia"/>
                <a:cs typeface="Constantia"/>
                <a:sym typeface="Constantia"/>
              </a:rPr>
              <a:t>	&gt;&gt;&gt;</a:t>
            </a:r>
            <a:endParaRPr sz="2000">
              <a:solidFill>
                <a:schemeClr val="dk1"/>
              </a:solidFill>
              <a:latin typeface="Constantia"/>
              <a:ea typeface="Constantia"/>
              <a:cs typeface="Constantia"/>
              <a:sym typeface="Constantia"/>
            </a:endParaRPr>
          </a:p>
          <a:p>
            <a:pPr marL="274320" marR="0" lvl="0" indent="-274320" algn="just" rtl="0">
              <a:spcBef>
                <a:spcPts val="400"/>
              </a:spcBef>
              <a:spcAft>
                <a:spcPts val="0"/>
              </a:spcAft>
              <a:buClr>
                <a:schemeClr val="accent3"/>
              </a:buClr>
              <a:buSzPts val="1900"/>
              <a:buFont typeface="Noto Sans Symbols"/>
              <a:buChar char="⚫"/>
            </a:pPr>
            <a:r>
              <a:rPr lang="en-IN" sz="2000">
                <a:solidFill>
                  <a:schemeClr val="dk1"/>
                </a:solidFill>
                <a:latin typeface="Constantia"/>
                <a:ea typeface="Constantia"/>
                <a:cs typeface="Constantia"/>
                <a:sym typeface="Constantia"/>
              </a:rPr>
              <a:t>When it shows this prompt, it means it prompts the developer for the next command. This is the REPL. Before it prints the first prompt, Python interpreter prints a welcome message that also states its version number and a copyright notice.</a:t>
            </a:r>
            <a:br>
              <a:rPr lang="en-IN" sz="2000">
                <a:solidFill>
                  <a:schemeClr val="dk1"/>
                </a:solidFill>
                <a:latin typeface="Constantia"/>
                <a:ea typeface="Constantia"/>
                <a:cs typeface="Constantia"/>
                <a:sym typeface="Constantia"/>
              </a:rPr>
            </a:br>
            <a:r>
              <a:rPr lang="en-IN" sz="2000">
                <a:solidFill>
                  <a:schemeClr val="dk1"/>
                </a:solidFill>
                <a:latin typeface="Constantia"/>
                <a:ea typeface="Constantia"/>
                <a:cs typeface="Constantia"/>
                <a:sym typeface="Constantia"/>
              </a:rPr>
              <a:t>This is the secondary prompt:</a:t>
            </a:r>
            <a:endParaRPr/>
          </a:p>
          <a:p>
            <a:pPr marL="0" marR="0" lvl="0" indent="0" algn="just" rtl="0">
              <a:spcBef>
                <a:spcPts val="400"/>
              </a:spcBef>
              <a:spcAft>
                <a:spcPts val="0"/>
              </a:spcAft>
              <a:buNone/>
            </a:pPr>
            <a:r>
              <a:rPr lang="en-IN" sz="2000">
                <a:solidFill>
                  <a:schemeClr val="dk1"/>
                </a:solidFill>
                <a:latin typeface="Constantia"/>
                <a:ea typeface="Constantia"/>
                <a:cs typeface="Constantia"/>
                <a:sym typeface="Constantia"/>
              </a:rPr>
              <a:t>	…</a:t>
            </a:r>
            <a:endParaRPr sz="2000">
              <a:solidFill>
                <a:schemeClr val="dk1"/>
              </a:solidFill>
              <a:latin typeface="Constantia"/>
              <a:ea typeface="Constantia"/>
              <a:cs typeface="Constantia"/>
              <a:sym typeface="Constantia"/>
            </a:endParaRPr>
          </a:p>
          <a:p>
            <a:pPr marL="274320" marR="0" lvl="0" indent="-274320" algn="just" rtl="0">
              <a:spcBef>
                <a:spcPts val="400"/>
              </a:spcBef>
              <a:spcAft>
                <a:spcPts val="0"/>
              </a:spcAft>
              <a:buClr>
                <a:schemeClr val="accent3"/>
              </a:buClr>
              <a:buSzPts val="1900"/>
              <a:buFont typeface="Noto Sans Symbols"/>
              <a:buChar char="⚫"/>
            </a:pPr>
            <a:r>
              <a:rPr lang="en-IN" sz="2000">
                <a:solidFill>
                  <a:schemeClr val="dk1"/>
                </a:solidFill>
                <a:latin typeface="Constantia"/>
                <a:ea typeface="Constantia"/>
                <a:cs typeface="Constantia"/>
                <a:sym typeface="Constantia"/>
              </a:rPr>
              <a:t>This prompt denotes continuation lines.</a:t>
            </a:r>
            <a:endParaRPr/>
          </a:p>
          <a:p>
            <a:pPr marL="274320" marR="0" lvl="0" indent="-153670" algn="just" rtl="0">
              <a:spcBef>
                <a:spcPts val="400"/>
              </a:spcBef>
              <a:spcAft>
                <a:spcPts val="0"/>
              </a:spcAft>
              <a:buClr>
                <a:schemeClr val="accent3"/>
              </a:buClr>
              <a:buSzPts val="1900"/>
              <a:buFont typeface="Noto Sans Symbols"/>
              <a:buNone/>
            </a:pPr>
            <a:endParaRPr sz="2000">
              <a:solidFill>
                <a:schemeClr val="dk1"/>
              </a:solidFill>
              <a:latin typeface="Constantia"/>
              <a:ea typeface="Constantia"/>
              <a:cs typeface="Constantia"/>
              <a:sym typeface="Constantia"/>
            </a:endParaRPr>
          </a:p>
          <a:p>
            <a:pPr marL="274320" marR="0" lvl="0" indent="-274320" algn="just" rtl="0">
              <a:spcBef>
                <a:spcPts val="400"/>
              </a:spcBef>
              <a:spcAft>
                <a:spcPts val="0"/>
              </a:spcAft>
              <a:buClr>
                <a:schemeClr val="accent3"/>
              </a:buClr>
              <a:buSzPts val="1900"/>
              <a:buFont typeface="Noto Sans Symbols"/>
              <a:buChar char="⚫"/>
            </a:pPr>
            <a:r>
              <a:rPr lang="en-IN" sz="2000">
                <a:solidFill>
                  <a:schemeClr val="dk1"/>
                </a:solidFill>
                <a:latin typeface="Constantia"/>
                <a:ea typeface="Constantia"/>
                <a:cs typeface="Constantia"/>
                <a:sym typeface="Constantia"/>
              </a:rPr>
              <a:t>You quit the interpreter by typing quit() and pressing Enter. </a:t>
            </a:r>
            <a:br>
              <a:rPr lang="en-IN" sz="2000">
                <a:solidFill>
                  <a:schemeClr val="dk1"/>
                </a:solidFill>
                <a:latin typeface="Constantia"/>
                <a:ea typeface="Constantia"/>
                <a:cs typeface="Constantia"/>
                <a:sym typeface="Constantia"/>
              </a:rPr>
            </a:br>
            <a:endParaRPr sz="2000">
              <a:solidFill>
                <a:schemeClr val="dk1"/>
              </a:solidFill>
              <a:latin typeface="Constantia"/>
              <a:ea typeface="Constantia"/>
              <a:cs typeface="Constantia"/>
              <a:sym typeface="Constantia"/>
            </a:endParaRPr>
          </a:p>
        </p:txBody>
      </p:sp>
    </p:spTree>
    <p:extLst>
      <p:ext uri="{BB962C8B-B14F-4D97-AF65-F5344CB8AC3E}">
        <p14:creationId xmlns:p14="http://schemas.microsoft.com/office/powerpoint/2010/main" val="3565976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IN"/>
              <a:t>Entering the IPython environment</a:t>
            </a:r>
            <a:endParaRPr/>
          </a:p>
        </p:txBody>
      </p:sp>
      <p:sp>
        <p:nvSpPr>
          <p:cNvPr id="254" name="Google Shape;254;p25"/>
          <p:cNvSpPr txBox="1">
            <a:spLocks noGrp="1"/>
          </p:cNvSpPr>
          <p:nvPr>
            <p:ph type="body" idx="1"/>
          </p:nvPr>
        </p:nvSpPr>
        <p:spPr>
          <a:xfrm>
            <a:off x="76200" y="190500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090"/>
              <a:buChar char="⚫"/>
            </a:pPr>
            <a:r>
              <a:rPr lang="en-IN" sz="2200"/>
              <a:t>The Interactive Python (IPython) environment provides enhancements to the standard Python interpreter. </a:t>
            </a:r>
            <a:endParaRPr sz="2200"/>
          </a:p>
          <a:p>
            <a:pPr marL="640080" lvl="1" indent="-246888" algn="just" rtl="0">
              <a:spcBef>
                <a:spcPts val="400"/>
              </a:spcBef>
              <a:spcAft>
                <a:spcPts val="0"/>
              </a:spcAft>
              <a:buSzPts val="1700"/>
              <a:buChar char="⚫"/>
            </a:pPr>
            <a:r>
              <a:rPr lang="en-IN" sz="2000"/>
              <a:t>Run Native Shell Commands</a:t>
            </a:r>
            <a:endParaRPr/>
          </a:p>
          <a:p>
            <a:pPr marL="640080" lvl="1" indent="-246888" algn="just" rtl="0">
              <a:spcBef>
                <a:spcPts val="400"/>
              </a:spcBef>
              <a:spcAft>
                <a:spcPts val="0"/>
              </a:spcAft>
              <a:buSzPts val="1700"/>
              <a:buChar char="⚫"/>
            </a:pPr>
            <a:r>
              <a:rPr lang="en-IN" sz="2000"/>
              <a:t>Syntax Highlighting</a:t>
            </a:r>
            <a:endParaRPr/>
          </a:p>
          <a:p>
            <a:pPr marL="640080" lvl="1" indent="-246888" algn="just" rtl="0">
              <a:spcBef>
                <a:spcPts val="400"/>
              </a:spcBef>
              <a:spcAft>
                <a:spcPts val="0"/>
              </a:spcAft>
              <a:buSzPts val="1700"/>
              <a:buChar char="⚫"/>
            </a:pPr>
            <a:r>
              <a:rPr lang="en-IN" sz="2000"/>
              <a:t>Proper Indentation</a:t>
            </a:r>
            <a:endParaRPr/>
          </a:p>
          <a:p>
            <a:pPr marL="640080" lvl="1" indent="-246888" algn="just" rtl="0">
              <a:spcBef>
                <a:spcPts val="400"/>
              </a:spcBef>
              <a:spcAft>
                <a:spcPts val="0"/>
              </a:spcAft>
              <a:buSzPts val="1700"/>
              <a:buChar char="⚫"/>
            </a:pPr>
            <a:r>
              <a:rPr lang="en-IN" sz="2000"/>
              <a:t>Tab Completion</a:t>
            </a:r>
            <a:endParaRPr/>
          </a:p>
          <a:p>
            <a:pPr marL="640080" lvl="1" indent="-246888" algn="just" rtl="0">
              <a:spcBef>
                <a:spcPts val="400"/>
              </a:spcBef>
              <a:spcAft>
                <a:spcPts val="0"/>
              </a:spcAft>
              <a:buSzPts val="1700"/>
              <a:buChar char="⚫"/>
            </a:pPr>
            <a:r>
              <a:rPr lang="en-IN" sz="2000"/>
              <a:t>Documentation like str.capitalize?</a:t>
            </a:r>
            <a:endParaRPr sz="2000"/>
          </a:p>
        </p:txBody>
      </p:sp>
      <p:pic>
        <p:nvPicPr>
          <p:cNvPr id="255" name="Google Shape;255;p25"/>
          <p:cNvPicPr preferRelativeResize="0"/>
          <p:nvPr/>
        </p:nvPicPr>
        <p:blipFill rotWithShape="1">
          <a:blip r:embed="rId3">
            <a:alphaModFix/>
          </a:blip>
          <a:srcRect/>
          <a:stretch/>
        </p:blipFill>
        <p:spPr>
          <a:xfrm>
            <a:off x="4648200" y="2590800"/>
            <a:ext cx="4783455" cy="2057400"/>
          </a:xfrm>
          <a:prstGeom prst="rect">
            <a:avLst/>
          </a:prstGeom>
          <a:noFill/>
          <a:ln>
            <a:noFill/>
          </a:ln>
        </p:spPr>
      </p:pic>
    </p:spTree>
    <p:extLst>
      <p:ext uri="{BB962C8B-B14F-4D97-AF65-F5344CB8AC3E}">
        <p14:creationId xmlns:p14="http://schemas.microsoft.com/office/powerpoint/2010/main" val="2689743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6"/>
          <p:cNvSpPr txBox="1">
            <a:spLocks noGrp="1"/>
          </p:cNvSpPr>
          <p:nvPr>
            <p:ph type="title"/>
          </p:nvPr>
        </p:nvSpPr>
        <p:spPr>
          <a:xfrm>
            <a:off x="304800" y="533400"/>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3500"/>
              <a:buFont typeface="Calibri"/>
              <a:buNone/>
            </a:pPr>
            <a:r>
              <a:rPr lang="en-IN" sz="3500"/>
              <a:t>Entering IPython QTConsole environment</a:t>
            </a:r>
            <a:endParaRPr/>
          </a:p>
        </p:txBody>
      </p:sp>
      <p:sp>
        <p:nvSpPr>
          <p:cNvPr id="261" name="Google Shape;261;p26"/>
          <p:cNvSpPr txBox="1">
            <a:spLocks noGrp="1"/>
          </p:cNvSpPr>
          <p:nvPr>
            <p:ph type="body" idx="1"/>
          </p:nvPr>
        </p:nvSpPr>
        <p:spPr>
          <a:xfrm>
            <a:off x="304800" y="137160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090"/>
              <a:buChar char="⚫"/>
            </a:pPr>
            <a:r>
              <a:rPr lang="en-IN" sz="2200"/>
              <a:t>It adds a GUI on top of IPython that makes using the enhancements that IPython provides a lot easier, </a:t>
            </a:r>
            <a:endParaRPr/>
          </a:p>
        </p:txBody>
      </p:sp>
      <p:pic>
        <p:nvPicPr>
          <p:cNvPr id="262" name="Google Shape;262;p26"/>
          <p:cNvPicPr preferRelativeResize="0"/>
          <p:nvPr/>
        </p:nvPicPr>
        <p:blipFill rotWithShape="1">
          <a:blip r:embed="rId3">
            <a:alphaModFix/>
          </a:blip>
          <a:srcRect/>
          <a:stretch/>
        </p:blipFill>
        <p:spPr>
          <a:xfrm>
            <a:off x="3352800" y="2487776"/>
            <a:ext cx="5334000" cy="4370224"/>
          </a:xfrm>
          <a:prstGeom prst="rect">
            <a:avLst/>
          </a:prstGeom>
          <a:noFill/>
          <a:ln>
            <a:noFill/>
          </a:ln>
        </p:spPr>
      </p:pic>
    </p:spTree>
    <p:extLst>
      <p:ext uri="{BB962C8B-B14F-4D97-AF65-F5344CB8AC3E}">
        <p14:creationId xmlns:p14="http://schemas.microsoft.com/office/powerpoint/2010/main" val="3719255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7"/>
          <p:cNvSpPr txBox="1">
            <a:spLocks noGrp="1"/>
          </p:cNvSpPr>
          <p:nvPr>
            <p:ph type="title"/>
          </p:nvPr>
        </p:nvSpPr>
        <p:spPr>
          <a:xfrm>
            <a:off x="457200" y="304800"/>
            <a:ext cx="8229600" cy="1143000"/>
          </a:xfrm>
          <a:prstGeom prst="rect">
            <a:avLst/>
          </a:prstGeom>
          <a:noFill/>
          <a:ln>
            <a:noFill/>
          </a:ln>
        </p:spPr>
        <p:txBody>
          <a:bodyPr spcFirstLastPara="1" wrap="square" lIns="0" tIns="45700" rIns="0" bIns="0" anchor="t" anchorCtr="0">
            <a:normAutofit/>
          </a:bodyPr>
          <a:lstStyle/>
          <a:p>
            <a:pPr marL="0" lvl="0" indent="0" algn="l" rtl="0">
              <a:spcBef>
                <a:spcPts val="0"/>
              </a:spcBef>
              <a:spcAft>
                <a:spcPts val="0"/>
              </a:spcAft>
              <a:buClr>
                <a:schemeClr val="dk2"/>
              </a:buClr>
              <a:buSzPts val="4000"/>
              <a:buFont typeface="Calibri"/>
              <a:buNone/>
            </a:pPr>
            <a:r>
              <a:rPr lang="en-IN" sz="4000"/>
              <a:t>Editing scripts using Spyder</a:t>
            </a:r>
            <a:endParaRPr sz="4000"/>
          </a:p>
        </p:txBody>
      </p:sp>
      <p:sp>
        <p:nvSpPr>
          <p:cNvPr id="268" name="Google Shape;268;p27"/>
          <p:cNvSpPr txBox="1">
            <a:spLocks noGrp="1"/>
          </p:cNvSpPr>
          <p:nvPr>
            <p:ph type="body" idx="1"/>
          </p:nvPr>
        </p:nvSpPr>
        <p:spPr>
          <a:xfrm>
            <a:off x="457200" y="1066800"/>
            <a:ext cx="8229600" cy="4389120"/>
          </a:xfrm>
          <a:prstGeom prst="rect">
            <a:avLst/>
          </a:prstGeom>
          <a:noFill/>
          <a:ln>
            <a:noFill/>
          </a:ln>
        </p:spPr>
        <p:txBody>
          <a:bodyPr spcFirstLastPara="1" wrap="square" lIns="91425" tIns="45700" rIns="91425" bIns="45700" anchor="t" anchorCtr="0">
            <a:normAutofit/>
          </a:bodyPr>
          <a:lstStyle/>
          <a:p>
            <a:pPr marL="274320" lvl="0" indent="-274320" algn="just" rtl="0">
              <a:spcBef>
                <a:spcPts val="0"/>
              </a:spcBef>
              <a:spcAft>
                <a:spcPts val="0"/>
              </a:spcAft>
              <a:buSzPts val="2090"/>
              <a:buChar char="⚫"/>
            </a:pPr>
            <a:r>
              <a:rPr lang="en-IN" sz="2200"/>
              <a:t>Spyder is a fully functional Integrated Development Environment (IDE). You use it to load scripts, edit them, run them, and perform debugging tasks. </a:t>
            </a:r>
            <a:endParaRPr/>
          </a:p>
        </p:txBody>
      </p:sp>
      <p:pic>
        <p:nvPicPr>
          <p:cNvPr id="269" name="Google Shape;269;p27"/>
          <p:cNvPicPr preferRelativeResize="0"/>
          <p:nvPr/>
        </p:nvPicPr>
        <p:blipFill rotWithShape="1">
          <a:blip r:embed="rId3">
            <a:alphaModFix/>
          </a:blip>
          <a:srcRect/>
          <a:stretch/>
        </p:blipFill>
        <p:spPr>
          <a:xfrm>
            <a:off x="762000" y="2337955"/>
            <a:ext cx="7367875" cy="4495800"/>
          </a:xfrm>
          <a:prstGeom prst="rect">
            <a:avLst/>
          </a:prstGeom>
          <a:noFill/>
          <a:ln>
            <a:noFill/>
          </a:ln>
        </p:spPr>
      </p:pic>
    </p:spTree>
    <p:extLst>
      <p:ext uri="{BB962C8B-B14F-4D97-AF65-F5344CB8AC3E}">
        <p14:creationId xmlns:p14="http://schemas.microsoft.com/office/powerpoint/2010/main" val="482556637"/>
      </p:ext>
    </p:extLst>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2091</Words>
  <Application>Microsoft Office PowerPoint</Application>
  <PresentationFormat>On-screen Show (4:3)</PresentationFormat>
  <Paragraphs>197</Paragraphs>
  <Slides>36</Slides>
  <Notes>36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Arial</vt:lpstr>
      <vt:lpstr>Noto Sans Symbols</vt:lpstr>
      <vt:lpstr>Calibri</vt:lpstr>
      <vt:lpstr>Constantia</vt:lpstr>
      <vt:lpstr>Flow</vt:lpstr>
      <vt:lpstr>Flow</vt:lpstr>
      <vt:lpstr>Data Science and Python</vt:lpstr>
      <vt:lpstr>What is Data Science </vt:lpstr>
      <vt:lpstr>PowerPoint Presentation</vt:lpstr>
      <vt:lpstr>Data All Around</vt:lpstr>
      <vt:lpstr>Types of Data We Have</vt:lpstr>
      <vt:lpstr>Big Data and Data Science</vt:lpstr>
      <vt:lpstr>Data Science---Multidisciplinary field</vt:lpstr>
      <vt:lpstr>PowerPoint Presentation</vt:lpstr>
      <vt:lpstr>What do Data Scientists do?</vt:lpstr>
      <vt:lpstr>PowerPoint Presentation</vt:lpstr>
      <vt:lpstr>Choosing a data science language</vt:lpstr>
      <vt:lpstr>Outlining the core competencies of a data scientist</vt:lpstr>
      <vt:lpstr>Outlining the core competencies of a data scientist</vt:lpstr>
      <vt:lpstr>Outlining the core competencies of a data scientist</vt:lpstr>
      <vt:lpstr>Understanding the role of programming</vt:lpstr>
      <vt:lpstr>Creating the Data Science Pipeline</vt:lpstr>
      <vt:lpstr>Creating the Data Science Pipeline</vt:lpstr>
      <vt:lpstr>Understanding Python’s Role in Data Science</vt:lpstr>
      <vt:lpstr>Learning to Use Python Fast</vt:lpstr>
      <vt:lpstr>PowerPoint Presentation</vt:lpstr>
      <vt:lpstr>PowerPoint Presentation</vt:lpstr>
      <vt:lpstr>PowerPoint Presentation</vt:lpstr>
      <vt:lpstr>PowerPoint Presentation</vt:lpstr>
      <vt:lpstr>Performing Rapid Prototyping and Experimentation</vt:lpstr>
      <vt:lpstr>Considering Speed of Execution</vt:lpstr>
      <vt:lpstr>Using the Python Ecosystem for Data Science</vt:lpstr>
      <vt:lpstr>Using the Python Ecosystem for Data Science</vt:lpstr>
      <vt:lpstr>Using the Python Ecosystem for Data Science</vt:lpstr>
      <vt:lpstr>Using the Python Ecosystem for Data Science</vt:lpstr>
      <vt:lpstr>Working at the command line or in the IDE </vt:lpstr>
      <vt:lpstr>Creating new sessions with Anaconda Command Prompt</vt:lpstr>
      <vt:lpstr>Python Interpreter</vt:lpstr>
      <vt:lpstr>Python Interpreter</vt:lpstr>
      <vt:lpstr>Entering the IPython environment</vt:lpstr>
      <vt:lpstr>Entering IPython QTConsole environment</vt:lpstr>
      <vt:lpstr>Editing scripts using Spyder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and Python</dc:title>
  <dc:creator>ismail - [2010]</dc:creator>
  <cp:lastModifiedBy>gcet</cp:lastModifiedBy>
  <cp:revision>3</cp:revision>
  <dcterms:created xsi:type="dcterms:W3CDTF">2018-01-16T06:12:29Z</dcterms:created>
  <dcterms:modified xsi:type="dcterms:W3CDTF">2024-07-02T06:25:17Z</dcterms:modified>
</cp:coreProperties>
</file>