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9144000"/>
  <p:notesSz cx="6858000" cy="9144000"/>
  <p:embeddedFontLst>
    <p:embeddedFont>
      <p:font typeface="Constantia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5" roundtripDataSignature="AMtx7mjvex1lqYb7wNhnxKgdMIdtd9IJ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Constantia-bold.fntdata"/><Relationship Id="rId21" Type="http://schemas.openxmlformats.org/officeDocument/2006/relationships/font" Target="fonts/Constantia-regular.fntdata"/><Relationship Id="rId24" Type="http://schemas.openxmlformats.org/officeDocument/2006/relationships/font" Target="fonts/Constantia-boldItalic.fntdata"/><Relationship Id="rId23" Type="http://schemas.openxmlformats.org/officeDocument/2006/relationships/font" Target="fonts/Constantia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8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b="1" sz="56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b="1" sz="56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Calibri"/>
              <a:buNone/>
              <a:defRPr b="1" sz="5600" cap="none">
                <a:solidFill>
                  <a:srgbClr val="4AE3A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" type="body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0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" type="body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1"/>
          <p:cNvSpPr txBox="1"/>
          <p:nvPr>
            <p:ph idx="2" type="body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2"/>
          <p:cNvSpPr txBox="1"/>
          <p:nvPr>
            <p:ph idx="3" type="body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4" type="body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3"/>
          <p:cNvSpPr txBox="1"/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5"/>
          <p:cNvSpPr txBox="1"/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2" type="body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6"/>
          <p:cNvSpPr/>
          <p:nvPr/>
        </p:nvSpPr>
        <p:spPr>
          <a:xfrm flipH="1" rot="-10380000">
            <a:off x="3165753" y="1108077"/>
            <a:ext cx="5257800" cy="4114800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00" rotWithShape="0" algn="tl" dir="7500000" dist="38500" sy="10008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5" name="Google Shape;85;p26"/>
          <p:cNvSpPr/>
          <p:nvPr/>
        </p:nvSpPr>
        <p:spPr>
          <a:xfrm flipH="1" rot="-10380000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6" name="Google Shape;86;p26"/>
          <p:cNvSpPr txBox="1"/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6"/>
          <p:cNvSpPr txBox="1"/>
          <p:nvPr>
            <p:ph idx="1" type="body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spcBef>
                <a:spcPts val="250"/>
              </a:spcBef>
              <a:spcAft>
                <a:spcPts val="0"/>
              </a:spcAft>
              <a:buSzPts val="1235"/>
              <a:buFont typeface="Constantia"/>
              <a:buNone/>
              <a:defRPr sz="1300"/>
            </a:lvl1pPr>
            <a:lvl2pPr indent="-293369" lvl="1" marL="914400" algn="l">
              <a:spcBef>
                <a:spcPts val="240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73050" lvl="2" marL="1371600" algn="l">
              <a:spcBef>
                <a:spcPts val="200"/>
              </a:spcBef>
              <a:spcAft>
                <a:spcPts val="0"/>
              </a:spcAft>
              <a:buSzPts val="700"/>
              <a:buChar char="⚫"/>
              <a:defRPr sz="1000"/>
            </a:lvl3pPr>
            <a:lvl4pPr indent="-265747" lvl="3" marL="1828800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4pPr>
            <a:lvl5pPr indent="-265747" lvl="4" marL="2286000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6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6"/>
          <p:cNvSpPr txBox="1"/>
          <p:nvPr>
            <p:ph idx="12" type="sldNum"/>
          </p:nvPr>
        </p:nvSpPr>
        <p:spPr>
          <a:xfrm>
            <a:off x="8077200" y="6356350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26"/>
          <p:cNvSpPr/>
          <p:nvPr>
            <p:ph idx="2" type="pic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26"/>
          <p:cNvSpPr/>
          <p:nvPr/>
        </p:nvSpPr>
        <p:spPr>
          <a:xfrm flipH="1" rot="10800000">
            <a:off x="-9525" y="5816600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3" name="Google Shape;93;p26"/>
          <p:cNvSpPr/>
          <p:nvPr/>
        </p:nvSpPr>
        <p:spPr>
          <a:xfrm flipH="1" rot="10800000">
            <a:off x="4381500" y="6219825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7"/>
          <p:cNvSpPr txBox="1"/>
          <p:nvPr>
            <p:ph idx="1" type="body"/>
          </p:nvPr>
        </p:nvSpPr>
        <p:spPr>
          <a:xfrm rot="5400000">
            <a:off x="2377440" y="15240"/>
            <a:ext cx="438912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7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7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8"/>
          <p:cNvSpPr txBox="1"/>
          <p:nvPr>
            <p:ph type="title"/>
          </p:nvPr>
        </p:nvSpPr>
        <p:spPr>
          <a:xfrm rot="5400000">
            <a:off x="5052219" y="2491582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8"/>
          <p:cNvSpPr txBox="1"/>
          <p:nvPr>
            <p:ph idx="1" type="body"/>
          </p:nvPr>
        </p:nvSpPr>
        <p:spPr>
          <a:xfrm rot="5400000">
            <a:off x="861219" y="510382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8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8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/>
          <p:nvPr/>
        </p:nvSpPr>
        <p:spPr>
          <a:xfrm>
            <a:off x="-9525" y="-7144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" name="Google Shape;7;p16"/>
          <p:cNvSpPr/>
          <p:nvPr/>
        </p:nvSpPr>
        <p:spPr>
          <a:xfrm>
            <a:off x="4381500" y="-7144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8;p1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Calibri"/>
              <a:buNone/>
              <a:defRPr b="0" i="0" sz="5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6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" name="Google Shape;13;p16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14" name="Google Shape;14;p16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5" name="Google Shape;15;p16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/>
          <p:nvPr/>
        </p:nvSpPr>
        <p:spPr>
          <a:xfrm>
            <a:off x="-9525" y="-7144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4" name="Google Shape;24;p15"/>
          <p:cNvSpPr/>
          <p:nvPr/>
        </p:nvSpPr>
        <p:spPr>
          <a:xfrm>
            <a:off x="4381500" y="-7144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5" name="Google Shape;25;p1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15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7" name="Google Shape;2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8" name="Google Shape;28;p15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9" name="Google Shape;29;p1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0" name="Google Shape;30;p15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31" name="Google Shape;31;p15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32" name="Google Shape;32;p15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6000"/>
              <a:buFont typeface="Calibri"/>
              <a:buNone/>
            </a:pPr>
            <a:r>
              <a:rPr lang="en-US" sz="6000"/>
              <a:t>Overview of Python</a:t>
            </a:r>
            <a:endParaRPr/>
          </a:p>
        </p:txBody>
      </p:sp>
      <p:sp>
        <p:nvSpPr>
          <p:cNvPr id="111" name="Google Shape;111;p1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Unit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About Python</a:t>
            </a:r>
            <a:endParaRPr/>
          </a:p>
        </p:txBody>
      </p:sp>
      <p:sp>
        <p:nvSpPr>
          <p:cNvPr id="117" name="Google Shape;117;p2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just">
              <a:spcBef>
                <a:spcPts val="0"/>
              </a:spcBef>
              <a:spcAft>
                <a:spcPts val="0"/>
              </a:spcAft>
              <a:buSzPts val="2090"/>
              <a:buChar char="⚫"/>
            </a:pPr>
            <a:r>
              <a:rPr lang="en-US" sz="2200"/>
              <a:t>Python was developed by Guido van Rossum in the late eighties and early nineties at the National Research Institute for Mathematics and Computer Science in the Netherlands.</a:t>
            </a:r>
            <a:endParaRPr/>
          </a:p>
          <a:p>
            <a:pPr indent="-141605" lvl="0" marL="274320" rtl="0" algn="just">
              <a:spcBef>
                <a:spcPts val="440"/>
              </a:spcBef>
              <a:spcAft>
                <a:spcPts val="0"/>
              </a:spcAft>
              <a:buSzPts val="2090"/>
              <a:buNone/>
            </a:pPr>
            <a:r>
              <a:t/>
            </a:r>
            <a:endParaRPr sz="2200"/>
          </a:p>
          <a:p>
            <a:pPr indent="-274320" lvl="0" marL="274320" rtl="0" algn="just">
              <a:spcBef>
                <a:spcPts val="440"/>
              </a:spcBef>
              <a:spcAft>
                <a:spcPts val="0"/>
              </a:spcAft>
              <a:buSzPts val="2090"/>
              <a:buChar char="⚫"/>
            </a:pPr>
            <a:r>
              <a:rPr lang="en-US" sz="2200"/>
              <a:t>Python is derived from many other languages, including ABC, Modula-3, C, C++, Algol-68, SmallTalk, and Unix shell and other scripting languages.</a:t>
            </a:r>
            <a:endParaRPr/>
          </a:p>
          <a:p>
            <a:pPr indent="-141605" lvl="0" marL="274320" rtl="0" algn="just">
              <a:spcBef>
                <a:spcPts val="440"/>
              </a:spcBef>
              <a:spcAft>
                <a:spcPts val="0"/>
              </a:spcAft>
              <a:buSzPts val="2090"/>
              <a:buNone/>
            </a:pPr>
            <a:r>
              <a:t/>
            </a:r>
            <a:endParaRPr sz="2200"/>
          </a:p>
          <a:p>
            <a:pPr indent="-274320" lvl="0" marL="274320" rtl="0" algn="just">
              <a:spcBef>
                <a:spcPts val="440"/>
              </a:spcBef>
              <a:spcAft>
                <a:spcPts val="0"/>
              </a:spcAft>
              <a:buSzPts val="2090"/>
              <a:buChar char="⚫"/>
            </a:pPr>
            <a:r>
              <a:rPr lang="en-US" sz="2200"/>
              <a:t>He named this language after a popular comedy show called 'Monty Python's Flying Circus' (and not after Python-the snake).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About Python</a:t>
            </a:r>
            <a:endParaRPr/>
          </a:p>
        </p:txBody>
      </p:sp>
      <p:sp>
        <p:nvSpPr>
          <p:cNvPr id="123" name="Google Shape;123;p3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just">
              <a:spcBef>
                <a:spcPts val="0"/>
              </a:spcBef>
              <a:spcAft>
                <a:spcPts val="0"/>
              </a:spcAft>
              <a:buSzPct val="95000"/>
              <a:buChar char="⚫"/>
            </a:pPr>
            <a:r>
              <a:rPr lang="en-US" sz="2200"/>
              <a:t>Python is a general-purpose, high-level programming language that was designed emphasize code readability, developer productivity and program portability. </a:t>
            </a:r>
            <a:endParaRPr sz="2200"/>
          </a:p>
          <a:p>
            <a:pPr indent="-151558" lvl="0" marL="274320" rtl="0" algn="just">
              <a:spcBef>
                <a:spcPts val="407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2200"/>
          </a:p>
          <a:p>
            <a:pPr indent="-274320" lvl="0" marL="274320" rtl="0" algn="just">
              <a:spcBef>
                <a:spcPts val="407"/>
              </a:spcBef>
              <a:spcAft>
                <a:spcPts val="0"/>
              </a:spcAft>
              <a:buSzPct val="95000"/>
              <a:buChar char="⚫"/>
            </a:pPr>
            <a:r>
              <a:rPr lang="en-US" sz="2200"/>
              <a:t>Supports a multitude of programming paradigms.</a:t>
            </a:r>
            <a:endParaRPr/>
          </a:p>
          <a:p>
            <a:pPr indent="-246888" lvl="1" marL="640080" rtl="0" algn="just">
              <a:spcBef>
                <a:spcPts val="407"/>
              </a:spcBef>
              <a:spcAft>
                <a:spcPts val="0"/>
              </a:spcAft>
              <a:buSzPct val="85000"/>
              <a:buChar char="⚫"/>
            </a:pPr>
            <a:r>
              <a:rPr lang="en-US" sz="2200"/>
              <a:t>OOP, functional, procedural, logic, structured, etc.</a:t>
            </a:r>
            <a:endParaRPr/>
          </a:p>
          <a:p>
            <a:pPr indent="-151558" lvl="0" marL="274320" rtl="0" algn="just">
              <a:spcBef>
                <a:spcPts val="407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2200"/>
          </a:p>
          <a:p>
            <a:pPr indent="-274320" lvl="0" marL="274320" rtl="0" algn="just">
              <a:spcBef>
                <a:spcPts val="407"/>
              </a:spcBef>
              <a:spcAft>
                <a:spcPts val="0"/>
              </a:spcAft>
              <a:buSzPct val="95000"/>
              <a:buChar char="⚫"/>
            </a:pPr>
            <a:r>
              <a:rPr lang="en-US" sz="2200"/>
              <a:t>It is available for Windows, Linux, Mac OS, and many other operating systems.</a:t>
            </a:r>
            <a:endParaRPr sz="2200"/>
          </a:p>
          <a:p>
            <a:pPr indent="-151558" lvl="0" marL="274320" rtl="0" algn="just">
              <a:spcBef>
                <a:spcPts val="407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2200"/>
          </a:p>
          <a:p>
            <a:pPr indent="-274320" lvl="0" marL="274320" rtl="0" algn="just">
              <a:spcBef>
                <a:spcPts val="407"/>
              </a:spcBef>
              <a:spcAft>
                <a:spcPts val="0"/>
              </a:spcAft>
              <a:buSzPct val="95000"/>
              <a:buChar char="⚫"/>
            </a:pPr>
            <a:r>
              <a:rPr lang="en-US" sz="2200"/>
              <a:t>Very comprehensive standard library includes numeric modules, crypto services, OS interfaces, networking modules, GUI support, development tools, etc. </a:t>
            </a:r>
            <a:endParaRPr sz="2200"/>
          </a:p>
          <a:p>
            <a:pPr indent="-151558" lvl="0" marL="274320" rtl="0" algn="l">
              <a:spcBef>
                <a:spcPts val="407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Python 2 vs Python 3</a:t>
            </a:r>
            <a:endParaRPr sz="4000"/>
          </a:p>
        </p:txBody>
      </p:sp>
      <p:sp>
        <p:nvSpPr>
          <p:cNvPr id="129" name="Google Shape;129;p4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just">
              <a:spcBef>
                <a:spcPts val="0"/>
              </a:spcBef>
              <a:spcAft>
                <a:spcPts val="0"/>
              </a:spcAft>
              <a:buSzPts val="2280"/>
              <a:buChar char="⚫"/>
            </a:pPr>
            <a:r>
              <a:rPr lang="en-US" sz="2400"/>
              <a:t>Versions of Python are generally available – Python 2.x and Python 3.x. </a:t>
            </a:r>
            <a:endParaRPr sz="2400"/>
          </a:p>
          <a:p>
            <a:pPr indent="-274320" lvl="0" marL="274320" rtl="0" algn="just">
              <a:spcBef>
                <a:spcPts val="480"/>
              </a:spcBef>
              <a:spcAft>
                <a:spcPts val="0"/>
              </a:spcAft>
              <a:buSzPts val="2280"/>
              <a:buChar char="⚫"/>
            </a:pPr>
            <a:r>
              <a:rPr lang="en-US" sz="2400"/>
              <a:t>Python 3.x is not backwards compatible with Python 2.x, which means that the code written in Python 2.x might not work if you have Python 3 installed.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Python Features</a:t>
            </a:r>
            <a:br>
              <a:rPr lang="en-US"/>
            </a:br>
            <a:endParaRPr/>
          </a:p>
        </p:txBody>
      </p:sp>
      <p:sp>
        <p:nvSpPr>
          <p:cNvPr id="135" name="Google Shape;135;p5"/>
          <p:cNvSpPr txBox="1"/>
          <p:nvPr>
            <p:ph idx="1" type="body"/>
          </p:nvPr>
        </p:nvSpPr>
        <p:spPr>
          <a:xfrm>
            <a:off x="457200" y="16002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2090"/>
              <a:buNone/>
            </a:pPr>
            <a:r>
              <a:rPr lang="en-US" sz="2200"/>
              <a:t>Python is a great programming language for beginners. Because it was designed with code readability in mind, it is an excellent choice for newcomers in the world of programming. Here is a list of its major advantages over other programming languages:</a:t>
            </a:r>
            <a:endParaRPr/>
          </a:p>
          <a:p>
            <a:pPr indent="-141605" lvl="0" marL="274320" rtl="0" algn="just">
              <a:spcBef>
                <a:spcPts val="440"/>
              </a:spcBef>
              <a:spcAft>
                <a:spcPts val="0"/>
              </a:spcAft>
              <a:buSzPts val="2090"/>
              <a:buNone/>
            </a:pPr>
            <a:r>
              <a:t/>
            </a:r>
            <a:endParaRPr b="1" sz="2200"/>
          </a:p>
          <a:p>
            <a:pPr indent="-274320" lvl="0" marL="274320" rtl="0" algn="just">
              <a:spcBef>
                <a:spcPts val="440"/>
              </a:spcBef>
              <a:spcAft>
                <a:spcPts val="0"/>
              </a:spcAft>
              <a:buSzPts val="2090"/>
              <a:buChar char="⚫"/>
            </a:pPr>
            <a:r>
              <a:rPr b="1" lang="en-US" sz="2200"/>
              <a:t>less application development time </a:t>
            </a:r>
            <a:r>
              <a:rPr lang="en-US" sz="2200"/>
              <a:t>– Python code is usually one-third to one-fifth the size of equivalent C++ or Java code.</a:t>
            </a:r>
            <a:endParaRPr/>
          </a:p>
          <a:p>
            <a:pPr indent="-141605" lvl="0" marL="274320" rtl="0" algn="just">
              <a:spcBef>
                <a:spcPts val="440"/>
              </a:spcBef>
              <a:spcAft>
                <a:spcPts val="0"/>
              </a:spcAft>
              <a:buSzPts val="2090"/>
              <a:buNone/>
            </a:pPr>
            <a:r>
              <a:t/>
            </a:r>
            <a:endParaRPr b="1" sz="2200"/>
          </a:p>
          <a:p>
            <a:pPr indent="-274320" lvl="0" marL="274320" rtl="0" algn="just">
              <a:spcBef>
                <a:spcPts val="440"/>
              </a:spcBef>
              <a:spcAft>
                <a:spcPts val="0"/>
              </a:spcAft>
              <a:buSzPts val="2090"/>
              <a:buChar char="⚫"/>
            </a:pPr>
            <a:r>
              <a:rPr b="1" lang="en-US" sz="2200"/>
              <a:t>code readability </a:t>
            </a:r>
            <a:r>
              <a:rPr lang="en-US" sz="2200"/>
              <a:t>– Python code is easy to read, which means you spend less time interpreting it and more time making essential changes.</a:t>
            </a:r>
            <a:endParaRPr/>
          </a:p>
          <a:p>
            <a:pPr indent="-141605" lvl="0" marL="274320" rtl="0" algn="just">
              <a:spcBef>
                <a:spcPts val="440"/>
              </a:spcBef>
              <a:spcAft>
                <a:spcPts val="0"/>
              </a:spcAft>
              <a:buSzPts val="2090"/>
              <a:buNone/>
            </a:pPr>
            <a:r>
              <a:t/>
            </a:r>
            <a:endParaRPr b="1" sz="2200"/>
          </a:p>
          <a:p>
            <a:pPr indent="-274320" lvl="0" marL="274320" rtl="0" algn="just">
              <a:spcBef>
                <a:spcPts val="440"/>
              </a:spcBef>
              <a:spcAft>
                <a:spcPts val="0"/>
              </a:spcAft>
              <a:buSzPts val="2090"/>
              <a:buChar char="⚫"/>
            </a:pPr>
            <a:r>
              <a:rPr b="1" lang="en-US" sz="2200"/>
              <a:t>cost</a:t>
            </a:r>
            <a:r>
              <a:rPr lang="en-US" sz="2200"/>
              <a:t> – Python is completely free to use and distribute. You can even download the entire Python system’s source code for free.</a:t>
            </a:r>
            <a:endParaRPr/>
          </a:p>
          <a:p>
            <a:pPr indent="-141605" lvl="0" marL="274320" rtl="0" algn="just">
              <a:spcBef>
                <a:spcPts val="440"/>
              </a:spcBef>
              <a:spcAft>
                <a:spcPts val="0"/>
              </a:spcAft>
              <a:buSzPts val="209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 sz="4800"/>
              <a:t>Python Features</a:t>
            </a:r>
            <a:br>
              <a:rPr lang="en-US" sz="4800"/>
            </a:br>
            <a:endParaRPr sz="4500"/>
          </a:p>
        </p:txBody>
      </p:sp>
      <p:sp>
        <p:nvSpPr>
          <p:cNvPr id="141" name="Google Shape;141;p6"/>
          <p:cNvSpPr txBox="1"/>
          <p:nvPr>
            <p:ph idx="1" type="body"/>
          </p:nvPr>
        </p:nvSpPr>
        <p:spPr>
          <a:xfrm>
            <a:off x="507206" y="1828800"/>
            <a:ext cx="8255794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74320" lvl="0" marL="274320" rtl="0" algn="just">
              <a:spcBef>
                <a:spcPts val="0"/>
              </a:spcBef>
              <a:spcAft>
                <a:spcPts val="0"/>
              </a:spcAft>
              <a:buSzPct val="95000"/>
              <a:buChar char="⚫"/>
            </a:pPr>
            <a:r>
              <a:rPr b="1" lang="en-US" sz="2200"/>
              <a:t>easy to learn </a:t>
            </a:r>
            <a:r>
              <a:rPr lang="en-US" sz="2200"/>
              <a:t>– because of its simplicity and frequent usage of English keywords in the code, Python has become one of the most popular languages for teaching introductory computer science courses.</a:t>
            </a:r>
            <a:endParaRPr/>
          </a:p>
          <a:p>
            <a:pPr indent="-151558" lvl="0" marL="274320" rtl="0" algn="just">
              <a:spcBef>
                <a:spcPts val="407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2200"/>
          </a:p>
          <a:p>
            <a:pPr indent="-274320" lvl="0" marL="274320" rtl="0" algn="just">
              <a:spcBef>
                <a:spcPts val="407"/>
              </a:spcBef>
              <a:spcAft>
                <a:spcPts val="0"/>
              </a:spcAft>
              <a:buSzPct val="95000"/>
              <a:buChar char="⚫"/>
            </a:pPr>
            <a:r>
              <a:rPr b="1" lang="en-US" sz="2200"/>
              <a:t>wide user base </a:t>
            </a:r>
            <a:r>
              <a:rPr lang="en-US" sz="2200"/>
              <a:t>– Python is used in a number of successful products. For example, most of YouTube’s core functionality is written in Python and Google uses Python in its search system.</a:t>
            </a:r>
            <a:endParaRPr/>
          </a:p>
          <a:p>
            <a:pPr indent="-151558" lvl="0" marL="274320" rtl="0" algn="just">
              <a:spcBef>
                <a:spcPts val="407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 sz="2200"/>
          </a:p>
          <a:p>
            <a:pPr indent="-274320" lvl="0" marL="274320" rtl="0" algn="just">
              <a:spcBef>
                <a:spcPts val="407"/>
              </a:spcBef>
              <a:spcAft>
                <a:spcPts val="0"/>
              </a:spcAft>
              <a:buSzPct val="95000"/>
              <a:buChar char="⚫"/>
            </a:pPr>
            <a:r>
              <a:rPr b="1" lang="en-US" sz="2200"/>
              <a:t>Portable</a:t>
            </a:r>
            <a:r>
              <a:rPr lang="en-US" sz="2200"/>
              <a:t> − Python can run on a wide variety of hardware platforms and has the same interface on all platforms.</a:t>
            </a:r>
            <a:endParaRPr/>
          </a:p>
          <a:p>
            <a:pPr indent="-151558" lvl="0" marL="274320" rtl="0" algn="just">
              <a:spcBef>
                <a:spcPts val="407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2200"/>
          </a:p>
          <a:p>
            <a:pPr indent="-274320" lvl="0" marL="274320" rtl="0" algn="just">
              <a:spcBef>
                <a:spcPts val="407"/>
              </a:spcBef>
              <a:spcAft>
                <a:spcPts val="0"/>
              </a:spcAft>
              <a:buSzPct val="95000"/>
              <a:buChar char="⚫"/>
            </a:pPr>
            <a:r>
              <a:rPr b="1" lang="en-US" sz="2200"/>
              <a:t>high salary </a:t>
            </a:r>
            <a:r>
              <a:rPr lang="en-US" sz="2200"/>
              <a:t>– Python programmers have one of the highest average salaries in the US.</a:t>
            </a:r>
            <a:endParaRPr/>
          </a:p>
          <a:p>
            <a:pPr indent="-151558" lvl="0" marL="274320" rtl="0" algn="just">
              <a:spcBef>
                <a:spcPts val="407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2200"/>
          </a:p>
          <a:p>
            <a:pPr indent="-151558" lvl="0" marL="274320" rtl="0" algn="just">
              <a:spcBef>
                <a:spcPts val="407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2200"/>
          </a:p>
          <a:p>
            <a:pPr indent="-151558" lvl="1" marL="274320" rtl="0" algn="just">
              <a:lnSpc>
                <a:spcPct val="105000"/>
              </a:lnSpc>
              <a:spcBef>
                <a:spcPts val="407"/>
              </a:spcBef>
              <a:spcAft>
                <a:spcPts val="0"/>
              </a:spcAft>
              <a:buClr>
                <a:schemeClr val="accent3"/>
              </a:buClr>
              <a:buSzPct val="9500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857" y="1540824"/>
            <a:ext cx="2825353" cy="2825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22503" y="2586840"/>
            <a:ext cx="5357813" cy="3078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 txBox="1"/>
          <p:nvPr>
            <p:ph type="title"/>
          </p:nvPr>
        </p:nvSpPr>
        <p:spPr>
          <a:xfrm>
            <a:off x="457200" y="1066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Application development</a:t>
            </a:r>
            <a:br>
              <a:rPr lang="en-US"/>
            </a:br>
            <a:endParaRPr/>
          </a:p>
        </p:txBody>
      </p:sp>
      <p:sp>
        <p:nvSpPr>
          <p:cNvPr id="153" name="Google Shape;153;p8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1" marL="274320" rtl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Char char="⚫"/>
            </a:pPr>
            <a:r>
              <a:rPr lang="en-US" sz="2000"/>
              <a:t>Web development</a:t>
            </a:r>
            <a:endParaRPr/>
          </a:p>
          <a:p>
            <a:pPr indent="-274320" lvl="1" marL="274320" rtl="0" algn="just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900"/>
              <a:buChar char="⚫"/>
            </a:pPr>
            <a:r>
              <a:rPr lang="en-US" sz="2000"/>
              <a:t>Machine learning</a:t>
            </a:r>
            <a:endParaRPr/>
          </a:p>
          <a:p>
            <a:pPr indent="-274320" lvl="1" marL="274320" rtl="0" algn="just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900"/>
              <a:buChar char="⚫"/>
            </a:pPr>
            <a:r>
              <a:rPr lang="en-US" sz="2000"/>
              <a:t>Data Analysis</a:t>
            </a:r>
            <a:endParaRPr/>
          </a:p>
          <a:p>
            <a:pPr indent="-274320" lvl="1" marL="274320" rtl="0" algn="just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900"/>
              <a:buChar char="⚫"/>
            </a:pPr>
            <a:r>
              <a:rPr lang="en-US" sz="2000"/>
              <a:t>Scripting </a:t>
            </a:r>
            <a:endParaRPr/>
          </a:p>
          <a:p>
            <a:pPr indent="-274320" lvl="1" marL="274320" rtl="0" algn="just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900"/>
              <a:buChar char="⚫"/>
            </a:pPr>
            <a:r>
              <a:rPr lang="en-US" sz="2000"/>
              <a:t>Game development</a:t>
            </a:r>
            <a:endParaRPr/>
          </a:p>
          <a:p>
            <a:pPr indent="-274320" lvl="1" marL="274320" rtl="0" algn="just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900"/>
              <a:buChar char="⚫"/>
            </a:pPr>
            <a:r>
              <a:rPr lang="en-US" sz="2000"/>
              <a:t>Business application</a:t>
            </a:r>
            <a:endParaRPr/>
          </a:p>
          <a:p>
            <a:pPr indent="-274320" lvl="1" marL="274320" rtl="0" algn="just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900"/>
              <a:buChar char="⚫"/>
            </a:pPr>
            <a:r>
              <a:rPr lang="en-US" sz="2000"/>
              <a:t>Embedded application</a:t>
            </a:r>
            <a:endParaRPr/>
          </a:p>
          <a:p>
            <a:pPr indent="-274320" lvl="1" marL="274320" rtl="0" algn="just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900"/>
              <a:buChar char="⚫"/>
            </a:pPr>
            <a:r>
              <a:rPr lang="en-US" sz="2000"/>
              <a:t>Desktop GUI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 txBox="1"/>
          <p:nvPr>
            <p:ph type="title"/>
          </p:nvPr>
        </p:nvSpPr>
        <p:spPr>
          <a:xfrm>
            <a:off x="642006" y="1380282"/>
            <a:ext cx="8079581" cy="124364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Various Python IDEs</a:t>
            </a:r>
            <a:br>
              <a:rPr lang="en-US"/>
            </a:br>
            <a:br>
              <a:rPr b="1" lang="en-US"/>
            </a:br>
            <a:endParaRPr/>
          </a:p>
        </p:txBody>
      </p:sp>
      <p:pic>
        <p:nvPicPr>
          <p:cNvPr id="159" name="Google Shape;159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734" y="2365773"/>
            <a:ext cx="8006239" cy="2825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Interpreter</a:t>
            </a:r>
            <a:endParaRPr/>
          </a:p>
        </p:txBody>
      </p:sp>
      <p:sp>
        <p:nvSpPr>
          <p:cNvPr id="165" name="Google Shape;165;p10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1" marL="274320" rtl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Char char="⚫"/>
            </a:pPr>
            <a:r>
              <a:rPr lang="en-US" sz="2000"/>
              <a:t>The standard implementation of Python is interpreted.</a:t>
            </a:r>
            <a:endParaRPr/>
          </a:p>
          <a:p>
            <a:pPr indent="-274320" lvl="1" marL="274320" rtl="0" algn="just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900"/>
              <a:buChar char="⚫"/>
            </a:pPr>
            <a:r>
              <a:rPr lang="en-US" sz="2000"/>
              <a:t>The interpreter translates Python code into bytecode, and this bytecode is executed by the Python VM (similar to Java).</a:t>
            </a:r>
            <a:endParaRPr/>
          </a:p>
          <a:p>
            <a:pPr indent="-274320" lvl="1" marL="274320" rtl="0" algn="just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900"/>
              <a:buChar char="⚫"/>
            </a:pPr>
            <a:r>
              <a:rPr lang="en-US" sz="2000"/>
              <a:t>Two modes: normal and interactive.</a:t>
            </a:r>
            <a:endParaRPr/>
          </a:p>
          <a:p>
            <a:pPr indent="-274320" lvl="1" marL="274320" rtl="0" algn="just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900"/>
              <a:buChar char="⚫"/>
            </a:pPr>
            <a:r>
              <a:rPr lang="en-US" sz="2000"/>
              <a:t>Normal mode: entire .py files are provided to the interpreter.</a:t>
            </a:r>
            <a:endParaRPr/>
          </a:p>
          <a:p>
            <a:pPr indent="-274320" lvl="1" marL="274320" rtl="0" algn="just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900"/>
              <a:buChar char="⚫"/>
            </a:pPr>
            <a:r>
              <a:rPr lang="en-US" sz="2000"/>
              <a:t>Interactive mode: read-eval-print loop (REPL) executes statements piecewise.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Calibri"/>
              <a:buNone/>
            </a:pPr>
            <a:r>
              <a:rPr lang="en-US" sz="4500"/>
              <a:t>Getting started with Python</a:t>
            </a:r>
            <a:endParaRPr sz="4500"/>
          </a:p>
        </p:txBody>
      </p:sp>
      <p:sp>
        <p:nvSpPr>
          <p:cNvPr id="171" name="Google Shape;171;p11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1" marL="274320" rtl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Char char="⚫"/>
            </a:pPr>
            <a:r>
              <a:rPr lang="en-US" sz="2000"/>
              <a:t>Comments</a:t>
            </a:r>
            <a:endParaRPr/>
          </a:p>
          <a:p>
            <a:pPr indent="-274320" lvl="1" marL="274320" rtl="0" algn="just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900"/>
              <a:buChar char="⚫"/>
            </a:pPr>
            <a:r>
              <a:rPr lang="en-US" sz="2000"/>
              <a:t>Variables</a:t>
            </a:r>
            <a:endParaRPr/>
          </a:p>
          <a:p>
            <a:pPr indent="-274320" lvl="1" marL="274320" rtl="0" algn="just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900"/>
              <a:buChar char="⚫"/>
            </a:pPr>
            <a:r>
              <a:rPr lang="en-US" sz="2000"/>
              <a:t>Data types</a:t>
            </a:r>
            <a:endParaRPr/>
          </a:p>
          <a:p>
            <a:pPr indent="-274320" lvl="1" marL="274320" rtl="0" algn="just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900"/>
              <a:buChar char="⚫"/>
            </a:pPr>
            <a:r>
              <a:rPr lang="en-US" sz="2000"/>
              <a:t>Operators</a:t>
            </a:r>
            <a:endParaRPr/>
          </a:p>
          <a:p>
            <a:pPr indent="-274320" lvl="1" marL="274320" rtl="0" algn="just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900"/>
              <a:buChar char="⚫"/>
            </a:pPr>
            <a:r>
              <a:rPr lang="en-US" sz="2000"/>
              <a:t>Decision Making</a:t>
            </a:r>
            <a:endParaRPr/>
          </a:p>
          <a:p>
            <a:pPr indent="-274320" lvl="1" marL="274320" rtl="0" algn="just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900"/>
              <a:buChar char="⚫"/>
            </a:pPr>
            <a:r>
              <a:rPr lang="en-US" sz="2000"/>
              <a:t>Looping</a:t>
            </a:r>
            <a:endParaRPr/>
          </a:p>
          <a:p>
            <a:pPr indent="-274320" lvl="1" marL="274320" rtl="0" algn="just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900"/>
              <a:buChar char="⚫"/>
            </a:pPr>
            <a:r>
              <a:rPr lang="en-US" sz="2000"/>
              <a:t>Functions</a:t>
            </a:r>
            <a:endParaRPr/>
          </a:p>
          <a:p>
            <a:pPr indent="-153670" lvl="1" marL="274320" rtl="0" algn="just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</a:pPr>
            <a:r>
              <a:t/>
            </a:r>
            <a:endParaRPr sz="2000"/>
          </a:p>
          <a:p>
            <a:pPr indent="-153670" lvl="1" marL="274320" rtl="0" algn="just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</a:pPr>
            <a:r>
              <a:t/>
            </a:r>
            <a:endParaRPr sz="2000"/>
          </a:p>
          <a:p>
            <a:pPr indent="-153670" lvl="1" marL="274320" rtl="0" algn="just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</a:pPr>
            <a:r>
              <a:t/>
            </a:r>
            <a:endParaRPr sz="2000"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 txBox="1"/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Comments</a:t>
            </a:r>
            <a:endParaRPr/>
          </a:p>
        </p:txBody>
      </p:sp>
      <p:sp>
        <p:nvSpPr>
          <p:cNvPr id="177" name="Google Shape;177;p12"/>
          <p:cNvSpPr txBox="1"/>
          <p:nvPr>
            <p:ph idx="1" type="body"/>
          </p:nvPr>
        </p:nvSpPr>
        <p:spPr>
          <a:xfrm>
            <a:off x="539353" y="1066800"/>
            <a:ext cx="8065294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74350" lvl="1" marL="27432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5000"/>
              <a:buChar char="⚫"/>
            </a:pPr>
            <a:r>
              <a:rPr lang="en-US" sz="2900"/>
              <a:t>Types of Comments in Python</a:t>
            </a:r>
            <a:endParaRPr/>
          </a:p>
          <a:p>
            <a:pPr indent="-274350" lvl="1" marL="274320" rtl="0" algn="just">
              <a:lnSpc>
                <a:spcPct val="105000"/>
              </a:lnSpc>
              <a:spcBef>
                <a:spcPts val="362"/>
              </a:spcBef>
              <a:spcAft>
                <a:spcPts val="0"/>
              </a:spcAft>
              <a:buClr>
                <a:schemeClr val="accent3"/>
              </a:buClr>
              <a:buSzPct val="95000"/>
              <a:buChar char="⚫"/>
            </a:pPr>
            <a:r>
              <a:rPr lang="en-US" sz="2900"/>
              <a:t>There are two types of comments in Python</a:t>
            </a:r>
            <a:endParaRPr/>
          </a:p>
          <a:p>
            <a:pPr indent="-274350" lvl="1" marL="274320" rtl="0" algn="just">
              <a:lnSpc>
                <a:spcPct val="105000"/>
              </a:lnSpc>
              <a:spcBef>
                <a:spcPts val="362"/>
              </a:spcBef>
              <a:spcAft>
                <a:spcPts val="0"/>
              </a:spcAft>
              <a:buClr>
                <a:schemeClr val="accent3"/>
              </a:buClr>
              <a:buSzPct val="95000"/>
              <a:buChar char="⚫"/>
            </a:pPr>
            <a:r>
              <a:rPr lang="en-US" sz="2900">
                <a:solidFill>
                  <a:srgbClr val="21B2C8"/>
                </a:solidFill>
              </a:rPr>
              <a:t>Single line comment</a:t>
            </a:r>
            <a:endParaRPr/>
          </a:p>
          <a:p>
            <a:pPr indent="-274350" lvl="1" marL="274320" rtl="0" algn="just">
              <a:lnSpc>
                <a:spcPct val="105000"/>
              </a:lnSpc>
              <a:spcBef>
                <a:spcPts val="362"/>
              </a:spcBef>
              <a:spcAft>
                <a:spcPts val="0"/>
              </a:spcAft>
              <a:buClr>
                <a:schemeClr val="accent3"/>
              </a:buClr>
              <a:buSzPct val="95000"/>
              <a:buChar char="⚫"/>
            </a:pPr>
            <a:r>
              <a:rPr lang="en-US" sz="2900">
                <a:solidFill>
                  <a:srgbClr val="21B2C8"/>
                </a:solidFill>
              </a:rPr>
              <a:t>Multiple line comment</a:t>
            </a:r>
            <a:endParaRPr/>
          </a:p>
          <a:p>
            <a:pPr indent="-165011" lvl="1" marL="274320" rtl="0" algn="just">
              <a:lnSpc>
                <a:spcPct val="105000"/>
              </a:lnSpc>
              <a:spcBef>
                <a:spcPts val="362"/>
              </a:spcBef>
              <a:spcAft>
                <a:spcPts val="0"/>
              </a:spcAft>
              <a:buClr>
                <a:schemeClr val="accent3"/>
              </a:buClr>
              <a:buSzPct val="95000"/>
              <a:buNone/>
            </a:pPr>
            <a:r>
              <a:t/>
            </a:r>
            <a:endParaRPr sz="2900">
              <a:solidFill>
                <a:srgbClr val="21B2C8"/>
              </a:solidFill>
            </a:endParaRPr>
          </a:p>
          <a:p>
            <a:pPr indent="-274350" lvl="1" marL="274320" rtl="0" algn="just">
              <a:lnSpc>
                <a:spcPct val="105000"/>
              </a:lnSpc>
              <a:spcBef>
                <a:spcPts val="362"/>
              </a:spcBef>
              <a:spcAft>
                <a:spcPts val="0"/>
              </a:spcAft>
              <a:buClr>
                <a:schemeClr val="accent3"/>
              </a:buClr>
              <a:buSzPct val="95000"/>
              <a:buChar char="⚫"/>
            </a:pPr>
            <a:r>
              <a:rPr lang="en-US" sz="2900"/>
              <a:t>In python we use # special character to start the comment. </a:t>
            </a:r>
            <a:endParaRPr/>
          </a:p>
          <a:p>
            <a:pPr indent="0" lvl="1" marL="0" rtl="0" algn="just">
              <a:lnSpc>
                <a:spcPct val="105000"/>
              </a:lnSpc>
              <a:spcBef>
                <a:spcPts val="362"/>
              </a:spcBef>
              <a:spcAft>
                <a:spcPts val="0"/>
              </a:spcAft>
              <a:buClr>
                <a:schemeClr val="accent3"/>
              </a:buClr>
              <a:buSzPct val="95000"/>
              <a:buNone/>
            </a:pPr>
            <a:r>
              <a:rPr lang="en-US" sz="2900"/>
              <a:t>	</a:t>
            </a:r>
            <a:endParaRPr/>
          </a:p>
          <a:p>
            <a:pPr indent="0" lvl="1" marL="0" rtl="0" algn="just">
              <a:lnSpc>
                <a:spcPct val="105000"/>
              </a:lnSpc>
              <a:spcBef>
                <a:spcPts val="362"/>
              </a:spcBef>
              <a:spcAft>
                <a:spcPts val="0"/>
              </a:spcAft>
              <a:buClr>
                <a:schemeClr val="accent3"/>
              </a:buClr>
              <a:buSzPct val="95000"/>
              <a:buNone/>
            </a:pPr>
            <a:r>
              <a:rPr lang="en-US" sz="2900"/>
              <a:t>	</a:t>
            </a:r>
            <a:r>
              <a:rPr lang="en-US" sz="2900">
                <a:solidFill>
                  <a:srgbClr val="21B2C8"/>
                </a:solidFill>
              </a:rPr>
              <a:t>#Python code to print hello</a:t>
            </a:r>
            <a:endParaRPr/>
          </a:p>
          <a:p>
            <a:pPr indent="0" lvl="1" marL="0" rtl="0" algn="just">
              <a:lnSpc>
                <a:spcPct val="105000"/>
              </a:lnSpc>
              <a:spcBef>
                <a:spcPts val="362"/>
              </a:spcBef>
              <a:spcAft>
                <a:spcPts val="0"/>
              </a:spcAft>
              <a:buClr>
                <a:schemeClr val="accent3"/>
              </a:buClr>
              <a:buSzPct val="95000"/>
              <a:buNone/>
            </a:pPr>
            <a:r>
              <a:rPr lang="en-US" sz="2900"/>
              <a:t>	print(“hello”)</a:t>
            </a:r>
            <a:endParaRPr/>
          </a:p>
          <a:p>
            <a:pPr indent="-165011" lvl="1" marL="274320" rtl="0" algn="just">
              <a:lnSpc>
                <a:spcPct val="105000"/>
              </a:lnSpc>
              <a:spcBef>
                <a:spcPts val="362"/>
              </a:spcBef>
              <a:spcAft>
                <a:spcPts val="0"/>
              </a:spcAft>
              <a:buClr>
                <a:schemeClr val="accent3"/>
              </a:buClr>
              <a:buSzPct val="95000"/>
              <a:buNone/>
            </a:pPr>
            <a:r>
              <a:t/>
            </a:r>
            <a:endParaRPr sz="2900"/>
          </a:p>
          <a:p>
            <a:pPr indent="-274350" lvl="1" marL="274320" rtl="0" algn="just">
              <a:lnSpc>
                <a:spcPct val="105000"/>
              </a:lnSpc>
              <a:spcBef>
                <a:spcPts val="362"/>
              </a:spcBef>
              <a:spcAft>
                <a:spcPts val="0"/>
              </a:spcAft>
              <a:buClr>
                <a:schemeClr val="accent3"/>
              </a:buClr>
              <a:buSzPct val="95000"/>
              <a:buChar char="⚫"/>
            </a:pPr>
            <a:r>
              <a:rPr lang="en-US" sz="2900"/>
              <a:t>Multi-line comment:</a:t>
            </a:r>
            <a:endParaRPr/>
          </a:p>
          <a:p>
            <a:pPr indent="-274350" lvl="1" marL="274320" rtl="0" algn="just">
              <a:lnSpc>
                <a:spcPct val="105000"/>
              </a:lnSpc>
              <a:spcBef>
                <a:spcPts val="362"/>
              </a:spcBef>
              <a:spcAft>
                <a:spcPts val="0"/>
              </a:spcAft>
              <a:buClr>
                <a:schemeClr val="accent3"/>
              </a:buClr>
              <a:buSzPct val="95000"/>
              <a:buChar char="⚫"/>
            </a:pPr>
            <a:r>
              <a:rPr lang="en-US" sz="2900"/>
              <a:t>To have a multi-line comment in Python, we use triple single quotes at the beginning and at the end of the comment, as shown below. Mostly it is used as docstring.</a:t>
            </a:r>
            <a:endParaRPr/>
          </a:p>
          <a:p>
            <a:pPr indent="0" lvl="1" marL="0" rtl="0" algn="just">
              <a:lnSpc>
                <a:spcPct val="105000"/>
              </a:lnSpc>
              <a:spcBef>
                <a:spcPts val="362"/>
              </a:spcBef>
              <a:spcAft>
                <a:spcPts val="0"/>
              </a:spcAft>
              <a:buClr>
                <a:schemeClr val="accent3"/>
              </a:buClr>
              <a:buSzPct val="95000"/>
              <a:buNone/>
            </a:pPr>
            <a:r>
              <a:rPr lang="en-US" sz="2900"/>
              <a:t>	</a:t>
            </a:r>
            <a:r>
              <a:rPr lang="en-US" sz="2900">
                <a:solidFill>
                  <a:srgbClr val="21B2C8"/>
                </a:solidFill>
              </a:rPr>
              <a:t>‘ ’ ’</a:t>
            </a:r>
            <a:endParaRPr/>
          </a:p>
          <a:p>
            <a:pPr indent="0" lvl="1" marL="0" rtl="0" algn="just">
              <a:lnSpc>
                <a:spcPct val="105000"/>
              </a:lnSpc>
              <a:spcBef>
                <a:spcPts val="362"/>
              </a:spcBef>
              <a:spcAft>
                <a:spcPts val="0"/>
              </a:spcAft>
              <a:buClr>
                <a:schemeClr val="accent3"/>
              </a:buClr>
              <a:buSzPct val="95000"/>
              <a:buNone/>
            </a:pPr>
            <a:r>
              <a:rPr lang="en-US" sz="2900">
                <a:solidFill>
                  <a:srgbClr val="21B2C8"/>
                </a:solidFill>
              </a:rPr>
              <a:t>	This is </a:t>
            </a:r>
            <a:endParaRPr/>
          </a:p>
          <a:p>
            <a:pPr indent="0" lvl="1" marL="0" rtl="0" algn="just">
              <a:lnSpc>
                <a:spcPct val="105000"/>
              </a:lnSpc>
              <a:spcBef>
                <a:spcPts val="362"/>
              </a:spcBef>
              <a:spcAft>
                <a:spcPts val="0"/>
              </a:spcAft>
              <a:buClr>
                <a:schemeClr val="accent3"/>
              </a:buClr>
              <a:buSzPct val="95000"/>
              <a:buNone/>
            </a:pPr>
            <a:r>
              <a:rPr lang="en-US" sz="2900">
                <a:solidFill>
                  <a:srgbClr val="21B2C8"/>
                </a:solidFill>
              </a:rPr>
              <a:t>	Multiline</a:t>
            </a:r>
            <a:endParaRPr/>
          </a:p>
          <a:p>
            <a:pPr indent="0" lvl="1" marL="0" rtl="0" algn="just">
              <a:lnSpc>
                <a:spcPct val="105000"/>
              </a:lnSpc>
              <a:spcBef>
                <a:spcPts val="362"/>
              </a:spcBef>
              <a:spcAft>
                <a:spcPts val="0"/>
              </a:spcAft>
              <a:buClr>
                <a:schemeClr val="accent3"/>
              </a:buClr>
              <a:buSzPct val="95000"/>
              <a:buNone/>
            </a:pPr>
            <a:r>
              <a:rPr lang="en-US" sz="2900">
                <a:solidFill>
                  <a:srgbClr val="21B2C8"/>
                </a:solidFill>
              </a:rPr>
              <a:t>	Comment</a:t>
            </a:r>
            <a:endParaRPr/>
          </a:p>
          <a:p>
            <a:pPr indent="0" lvl="2" marL="342900" rtl="0" algn="l">
              <a:spcBef>
                <a:spcPts val="244"/>
              </a:spcBef>
              <a:spcAft>
                <a:spcPts val="0"/>
              </a:spcAft>
              <a:buSzPct val="70000"/>
              <a:buNone/>
            </a:pPr>
            <a:r>
              <a:rPr lang="en-US" sz="1950">
                <a:solidFill>
                  <a:srgbClr val="21B2C8"/>
                </a:solidFill>
              </a:rPr>
              <a:t>	‘ ‘ ‘</a:t>
            </a:r>
            <a:endParaRPr/>
          </a:p>
          <a:p>
            <a:pPr indent="-217795" lvl="0" marL="274320" rtl="0" algn="l">
              <a:spcBef>
                <a:spcPts val="187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1500"/>
          </a:p>
          <a:p>
            <a:pPr indent="-217795" lvl="0" marL="274320" rtl="0" algn="l">
              <a:spcBef>
                <a:spcPts val="187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1500"/>
          </a:p>
          <a:p>
            <a:pPr indent="-217795" lvl="0" marL="274320" rtl="0" algn="l">
              <a:spcBef>
                <a:spcPts val="187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1500"/>
          </a:p>
          <a:p>
            <a:pPr indent="-217795" lvl="0" marL="274320" rtl="0" algn="l">
              <a:spcBef>
                <a:spcPts val="187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"/>
          <p:cNvSpPr txBox="1"/>
          <p:nvPr>
            <p:ph type="title"/>
          </p:nvPr>
        </p:nvSpPr>
        <p:spPr>
          <a:xfrm>
            <a:off x="457200" y="381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Variables</a:t>
            </a:r>
            <a:r>
              <a:rPr b="1" lang="en-US"/>
              <a:t> </a:t>
            </a:r>
            <a:r>
              <a:rPr lang="en-US"/>
              <a:t>and</a:t>
            </a:r>
            <a:r>
              <a:rPr b="1" lang="en-US"/>
              <a:t> </a:t>
            </a:r>
            <a:r>
              <a:rPr lang="en-US"/>
              <a:t>Types</a:t>
            </a:r>
            <a:br>
              <a:rPr b="1" lang="en-US"/>
            </a:br>
            <a:endParaRPr/>
          </a:p>
        </p:txBody>
      </p:sp>
      <p:sp>
        <p:nvSpPr>
          <p:cNvPr id="183" name="Google Shape;183;p13"/>
          <p:cNvSpPr txBox="1"/>
          <p:nvPr/>
        </p:nvSpPr>
        <p:spPr>
          <a:xfrm>
            <a:off x="381000" y="1295400"/>
            <a:ext cx="8229600" cy="5047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Python is completely object oriented, and not "statically typed". You do not need to declare variables before using them, or declare their type. Every variable in Python is an object.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1B2C8"/>
                </a:solidFill>
                <a:latin typeface="Constantia"/>
                <a:ea typeface="Constantia"/>
                <a:cs typeface="Constantia"/>
                <a:sym typeface="Constantia"/>
              </a:rPr>
              <a:t>Variable name – Identifiers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There are few rules that you have to follow while naming the variables in Python.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The name of the variable must always start with either a letter or an underscore (_). For example: _str, str, num, _num are all valid name for the variables.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The name of the variable cannot start with a number. For example: 9num is not a valid variable name.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The name of the variable cannot have special characters such as %, $, # etc, they can only have alphanumeric characters and underscore (A to Z, a to z, 0-9 or _ ).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Variable name is case sensitive in Python which means num and NUM are two different variables in python.</a:t>
            </a:r>
            <a:endParaRPr sz="20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Jupyter Notebook</a:t>
            </a:r>
            <a:br>
              <a:rPr lang="en-US"/>
            </a:br>
            <a:endParaRPr/>
          </a:p>
        </p:txBody>
      </p:sp>
      <p:sp>
        <p:nvSpPr>
          <p:cNvPr id="189" name="Google Shape;189;p14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just">
              <a:spcBef>
                <a:spcPts val="0"/>
              </a:spcBef>
              <a:spcAft>
                <a:spcPts val="0"/>
              </a:spcAft>
              <a:buSzPts val="2090"/>
              <a:buChar char="⚫"/>
            </a:pPr>
            <a:r>
              <a:rPr lang="en-US" sz="2200"/>
              <a:t>Jupyter Notebooks are a powerful way to write and iterate on your Python code for data analysis. </a:t>
            </a:r>
            <a:endParaRPr/>
          </a:p>
          <a:p>
            <a:pPr indent="-274320" lvl="0" marL="274320" rtl="0" algn="just">
              <a:spcBef>
                <a:spcPts val="440"/>
              </a:spcBef>
              <a:spcAft>
                <a:spcPts val="0"/>
              </a:spcAft>
              <a:buSzPts val="2090"/>
              <a:buChar char="⚫"/>
            </a:pPr>
            <a:r>
              <a:rPr lang="en-US" sz="2200"/>
              <a:t>Jupyter Notebook is built off of IPython and the Kernel runs the computations and communicates with the Jupyter Notebook front-end interface.</a:t>
            </a:r>
            <a:endParaRPr/>
          </a:p>
          <a:p>
            <a:pPr indent="-274320" lvl="0" marL="274320" rtl="0" algn="just">
              <a:spcBef>
                <a:spcPts val="440"/>
              </a:spcBef>
              <a:spcAft>
                <a:spcPts val="0"/>
              </a:spcAft>
              <a:buSzPts val="2090"/>
              <a:buChar char="⚫"/>
            </a:pPr>
            <a:r>
              <a:rPr lang="en-US" sz="2200"/>
              <a:t>Jupyter Notebook is an open-source web application that allows you to create and share documents that contain live code, equations, visualizations and narrative text. </a:t>
            </a:r>
            <a:endParaRPr/>
          </a:p>
          <a:p>
            <a:pPr indent="-274320" lvl="0" marL="274320" rtl="0" algn="just">
              <a:spcBef>
                <a:spcPts val="440"/>
              </a:spcBef>
              <a:spcAft>
                <a:spcPts val="0"/>
              </a:spcAft>
              <a:buSzPts val="2090"/>
              <a:buChar char="⚫"/>
            </a:pPr>
            <a:r>
              <a:rPr lang="en-US" sz="2200"/>
              <a:t>It is used for data cleaning and transformation, numerical simulation, statistical modeling, data visualization, machine learning, and much more.</a:t>
            </a:r>
            <a:endParaRPr/>
          </a:p>
          <a:p>
            <a:pPr indent="-141605" lvl="0" marL="274320" rtl="0" algn="just">
              <a:spcBef>
                <a:spcPts val="440"/>
              </a:spcBef>
              <a:spcAft>
                <a:spcPts val="0"/>
              </a:spcAft>
              <a:buSzPts val="209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2018-01-16T06:12:29Z</dcterms:created>
  <dc:creator>ismail - [2010]</dc:creator>
</cp:coreProperties>
</file>