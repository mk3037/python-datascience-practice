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5"/>
  </p:notesMasterIdLst>
  <p:sldIdLst>
    <p:sldId id="256" r:id="rId2"/>
    <p:sldId id="368" r:id="rId3"/>
    <p:sldId id="369" r:id="rId4"/>
    <p:sldId id="376" r:id="rId5"/>
    <p:sldId id="377" r:id="rId6"/>
    <p:sldId id="378" r:id="rId7"/>
    <p:sldId id="379" r:id="rId8"/>
    <p:sldId id="380" r:id="rId9"/>
    <p:sldId id="381" r:id="rId10"/>
    <p:sldId id="370" r:id="rId11"/>
    <p:sldId id="373" r:id="rId12"/>
    <p:sldId id="386" r:id="rId13"/>
    <p:sldId id="387" r:id="rId14"/>
    <p:sldId id="389" r:id="rId15"/>
    <p:sldId id="390" r:id="rId16"/>
    <p:sldId id="391" r:id="rId17"/>
    <p:sldId id="374" r:id="rId18"/>
    <p:sldId id="375" r:id="rId19"/>
    <p:sldId id="382" r:id="rId20"/>
    <p:sldId id="383" r:id="rId21"/>
    <p:sldId id="384" r:id="rId22"/>
    <p:sldId id="385" r:id="rId23"/>
    <p:sldId id="388" r:id="rId2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588" autoAdjust="0"/>
    <p:restoredTop sz="94660"/>
  </p:normalViewPr>
  <p:slideViewPr>
    <p:cSldViewPr>
      <p:cViewPr varScale="1">
        <p:scale>
          <a:sx n="67" d="100"/>
          <a:sy n="67" d="100"/>
        </p:scale>
        <p:origin x="1596" y="6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image" Target="../media/image7.wmf"/><Relationship Id="rId1" Type="http://schemas.openxmlformats.org/officeDocument/2006/relationships/image" Target="../media/image6.wmf"/><Relationship Id="rId4" Type="http://schemas.openxmlformats.org/officeDocument/2006/relationships/image" Target="../media/image9.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11.wmf"/><Relationship Id="rId1" Type="http://schemas.openxmlformats.org/officeDocument/2006/relationships/image" Target="../media/image10.w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image" Target="../media/image12.wmf"/><Relationship Id="rId1" Type="http://schemas.openxmlformats.org/officeDocument/2006/relationships/image" Target="../media/image10.wmf"/><Relationship Id="rId6" Type="http://schemas.openxmlformats.org/officeDocument/2006/relationships/image" Target="../media/image16.wmf"/><Relationship Id="rId5" Type="http://schemas.openxmlformats.org/officeDocument/2006/relationships/image" Target="../media/image15.wmf"/><Relationship Id="rId4" Type="http://schemas.openxmlformats.org/officeDocument/2006/relationships/image" Target="../media/image14.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B38B1EA-92DE-4D3C-8229-F24C297805F4}" type="datetimeFigureOut">
              <a:rPr lang="en-US" smtClean="0"/>
              <a:t>11/27/2024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0545987-9C77-4D4A-841C-0C28F40D0513}" type="slidenum">
              <a:rPr lang="en-US" smtClean="0"/>
              <a:t>‹#›</a:t>
            </a:fld>
            <a:endParaRPr lang="en-US"/>
          </a:p>
        </p:txBody>
      </p:sp>
    </p:spTree>
    <p:extLst>
      <p:ext uri="{BB962C8B-B14F-4D97-AF65-F5344CB8AC3E}">
        <p14:creationId xmlns:p14="http://schemas.microsoft.com/office/powerpoint/2010/main" val="26252444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089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GB" smtClean="0"/>
          </a:p>
        </p:txBody>
      </p:sp>
      <p:sp>
        <p:nvSpPr>
          <p:cNvPr id="150532"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2677769C-C158-4E2A-8A57-647593D3FFFB}" type="slidenum">
              <a:rPr lang="tr-TR">
                <a:latin typeface="Calibri" panose="020F0502020204030204" pitchFamily="34" charset="0"/>
              </a:rPr>
              <a:pPr eaLnBrk="1" hangingPunct="1"/>
              <a:t>19</a:t>
            </a:fld>
            <a:endParaRPr lang="tr-TR">
              <a:latin typeface="Calibri" panose="020F0502020204030204" pitchFamily="34" charset="0"/>
            </a:endParaRPr>
          </a:p>
        </p:txBody>
      </p:sp>
    </p:spTree>
    <p:extLst>
      <p:ext uri="{BB962C8B-B14F-4D97-AF65-F5344CB8AC3E}">
        <p14:creationId xmlns:p14="http://schemas.microsoft.com/office/powerpoint/2010/main" val="29723972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192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GB" smtClean="0"/>
          </a:p>
        </p:txBody>
      </p:sp>
      <p:sp>
        <p:nvSpPr>
          <p:cNvPr id="151556"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62E2A7D0-074A-48D2-93C4-B1B23C6F3717}" type="slidenum">
              <a:rPr lang="tr-TR">
                <a:latin typeface="Calibri" panose="020F0502020204030204" pitchFamily="34" charset="0"/>
              </a:rPr>
              <a:pPr eaLnBrk="1" hangingPunct="1"/>
              <a:t>20</a:t>
            </a:fld>
            <a:endParaRPr lang="tr-TR">
              <a:latin typeface="Calibri" panose="020F0502020204030204" pitchFamily="34" charset="0"/>
            </a:endParaRPr>
          </a:p>
        </p:txBody>
      </p:sp>
    </p:spTree>
    <p:extLst>
      <p:ext uri="{BB962C8B-B14F-4D97-AF65-F5344CB8AC3E}">
        <p14:creationId xmlns:p14="http://schemas.microsoft.com/office/powerpoint/2010/main" val="109447659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294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GB" smtClean="0"/>
          </a:p>
        </p:txBody>
      </p:sp>
      <p:sp>
        <p:nvSpPr>
          <p:cNvPr id="152580"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75670EC5-783B-4722-BA51-D05D4A308B05}" type="slidenum">
              <a:rPr lang="tr-TR">
                <a:latin typeface="Calibri" panose="020F0502020204030204" pitchFamily="34" charset="0"/>
              </a:rPr>
              <a:pPr eaLnBrk="1" hangingPunct="1"/>
              <a:t>21</a:t>
            </a:fld>
            <a:endParaRPr lang="tr-TR">
              <a:latin typeface="Calibri" panose="020F0502020204030204" pitchFamily="34" charset="0"/>
            </a:endParaRPr>
          </a:p>
        </p:txBody>
      </p:sp>
    </p:spTree>
    <p:extLst>
      <p:ext uri="{BB962C8B-B14F-4D97-AF65-F5344CB8AC3E}">
        <p14:creationId xmlns:p14="http://schemas.microsoft.com/office/powerpoint/2010/main" val="35507385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397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GB" smtClean="0"/>
          </a:p>
        </p:txBody>
      </p:sp>
      <p:sp>
        <p:nvSpPr>
          <p:cNvPr id="153604"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CB3D6551-6599-45B7-8CE9-7FE63DF68A53}" type="slidenum">
              <a:rPr lang="tr-TR">
                <a:latin typeface="Calibri" panose="020F0502020204030204" pitchFamily="34" charset="0"/>
              </a:rPr>
              <a:pPr eaLnBrk="1" hangingPunct="1"/>
              <a:t>22</a:t>
            </a:fld>
            <a:endParaRPr lang="tr-TR">
              <a:latin typeface="Calibri" panose="020F0502020204030204" pitchFamily="34" charset="0"/>
            </a:endParaRPr>
          </a:p>
        </p:txBody>
      </p:sp>
    </p:spTree>
    <p:extLst>
      <p:ext uri="{BB962C8B-B14F-4D97-AF65-F5344CB8AC3E}">
        <p14:creationId xmlns:p14="http://schemas.microsoft.com/office/powerpoint/2010/main" val="111207929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30" name="Date Placeholder 29"/>
          <p:cNvSpPr>
            <a:spLocks noGrp="1"/>
          </p:cNvSpPr>
          <p:nvPr>
            <p:ph type="dt" sz="half" idx="10"/>
          </p:nvPr>
        </p:nvSpPr>
        <p:spPr/>
        <p:txBody>
          <a:bodyPr/>
          <a:lstStyle/>
          <a:p>
            <a:fld id="{5F32E209-2345-4686-B990-886BF4F0DF70}" type="datetimeFigureOut">
              <a:rPr lang="en-US" smtClean="0"/>
              <a:pPr/>
              <a:t>11/27/2024</a:t>
            </a:fld>
            <a:endParaRPr lang="en-US"/>
          </a:p>
        </p:txBody>
      </p:sp>
      <p:sp>
        <p:nvSpPr>
          <p:cNvPr id="19" name="Footer Placeholder 18"/>
          <p:cNvSpPr>
            <a:spLocks noGrp="1"/>
          </p:cNvSpPr>
          <p:nvPr>
            <p:ph type="ftr" sz="quarter" idx="11"/>
          </p:nvPr>
        </p:nvSpPr>
        <p:spPr/>
        <p:txBody>
          <a:bodyPr/>
          <a:lstStyle/>
          <a:p>
            <a:endParaRPr lang="en-US"/>
          </a:p>
        </p:txBody>
      </p:sp>
      <p:sp>
        <p:nvSpPr>
          <p:cNvPr id="27" name="Slide Number Placeholder 26"/>
          <p:cNvSpPr>
            <a:spLocks noGrp="1"/>
          </p:cNvSpPr>
          <p:nvPr>
            <p:ph type="sldNum" sz="quarter" idx="12"/>
          </p:nvPr>
        </p:nvSpPr>
        <p:spPr/>
        <p:txBody>
          <a:bodyPr/>
          <a:lstStyle/>
          <a:p>
            <a:fld id="{138E7B12-F6FA-47A6-9554-1356DA74C6D7}"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5F32E209-2345-4686-B990-886BF4F0DF70}" type="datetimeFigureOut">
              <a:rPr lang="en-US" smtClean="0"/>
              <a:pPr/>
              <a:t>11/27/2024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38E7B12-F6FA-47A6-9554-1356DA74C6D7}"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530352" y="2704664"/>
            <a:ext cx="77724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5F32E209-2345-4686-B990-886BF4F0DF70}" type="datetimeFigureOut">
              <a:rPr lang="en-US" smtClean="0"/>
              <a:pPr/>
              <a:t>11/27/2024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38E7B12-F6FA-47A6-9554-1356DA74C6D7}"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5F32E209-2345-4686-B990-886BF4F0DF70}" type="datetimeFigureOut">
              <a:rPr lang="en-US" smtClean="0"/>
              <a:pPr/>
              <a:t>11/27/2024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38E7B12-F6FA-47A6-9554-1356DA74C6D7}"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tIns="45720" anchor="b"/>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5F32E209-2345-4686-B990-886BF4F0DF70}" type="datetimeFigureOut">
              <a:rPr lang="en-US" smtClean="0"/>
              <a:pPr/>
              <a:t>11/27/2024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38E7B12-F6FA-47A6-9554-1356DA74C6D7}"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5F32E209-2345-4686-B990-886BF4F0DF70}" type="datetimeFigureOut">
              <a:rPr lang="en-US" smtClean="0"/>
              <a:pPr/>
              <a:t>11/27/2024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38E7B12-F6FA-47A6-9554-1356DA74C6D7}"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F32E209-2345-4686-B990-886BF4F0DF70}" type="datetimeFigureOut">
              <a:rPr lang="en-US" smtClean="0"/>
              <a:pPr/>
              <a:t>11/27/2024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38E7B12-F6FA-47A6-9554-1356DA74C6D7}"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5F32E209-2345-4686-B990-886BF4F0DF70}" type="datetimeFigureOut">
              <a:rPr lang="en-US" smtClean="0"/>
              <a:pPr/>
              <a:t>11/27/2024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38E7B12-F6FA-47A6-9554-1356DA74C6D7}"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3165753" y="1108077"/>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ight Triangle 11"/>
          <p:cNvSpPr/>
          <p:nvPr/>
        </p:nvSpPr>
        <p:spPr>
          <a:xfrm rot="420000" flipV="1">
            <a:off x="8004134" y="5359769"/>
            <a:ext cx="155448"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609600" y="1176996"/>
            <a:ext cx="2212848" cy="1582621"/>
          </a:xfrm>
        </p:spPr>
        <p:txBody>
          <a:bodyPr vert="horz" lIns="45720" tIns="45720" rIns="45720" bIns="45720" anchor="b"/>
          <a:lstStyle>
            <a:lvl1pPr algn="l">
              <a:buNone/>
              <a:defRPr sz="2000" b="1">
                <a:solidFill>
                  <a:schemeClr val="tx2"/>
                </a:solidFill>
              </a:defRPr>
            </a:lvl1pPr>
          </a:lstStyle>
          <a:p>
            <a:r>
              <a:rPr kumimoji="0" lang="en-US" smtClean="0"/>
              <a:t>Click to edit Master title style</a:t>
            </a:r>
            <a:endParaRPr kumimoji="0" lang="en-US"/>
          </a:p>
        </p:txBody>
      </p:sp>
      <p:sp>
        <p:nvSpPr>
          <p:cNvPr id="4" name="Text Placeholder 3"/>
          <p:cNvSpPr>
            <a:spLocks noGrp="1"/>
          </p:cNvSpPr>
          <p:nvPr>
            <p:ph type="body" sz="half" idx="2"/>
          </p:nvPr>
        </p:nvSpPr>
        <p:spPr>
          <a:xfrm>
            <a:off x="609600" y="2828785"/>
            <a:ext cx="22098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5F32E209-2345-4686-B990-886BF4F0DF70}" type="datetimeFigureOut">
              <a:rPr lang="en-US" smtClean="0"/>
              <a:pPr/>
              <a:t>11/27/2024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8077200" y="6356350"/>
            <a:ext cx="609600" cy="365125"/>
          </a:xfrm>
        </p:spPr>
        <p:txBody>
          <a:bodyPr/>
          <a:lstStyle/>
          <a:p>
            <a:fld id="{138E7B12-F6FA-47A6-9554-1356DA74C6D7}" type="slidenum">
              <a:rPr lang="en-US" smtClean="0"/>
              <a:pPr/>
              <a:t>‹#›</a:t>
            </a:fld>
            <a:endParaRPr lang="en-US"/>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en-US" smtClean="0"/>
              <a:t>Click icon to add picture</a:t>
            </a:r>
            <a:endParaRPr kumimoji="0" lang="en-US" dirty="0"/>
          </a:p>
        </p:txBody>
      </p:sp>
      <p:sp>
        <p:nvSpPr>
          <p:cNvPr id="10" name="Freeform 9"/>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11" name="Freeform 10"/>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5F32E209-2345-4686-B990-886BF4F0DF70}" type="datetimeFigureOut">
              <a:rPr lang="en-US" smtClean="0"/>
              <a:pPr/>
              <a:t>11/27/2024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38E7B12-F6FA-47A6-9554-1356DA74C6D7}"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914401"/>
            <a:ext cx="6019800" cy="5211763"/>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5F32E209-2345-4686-B990-886BF4F0DF70}" type="datetimeFigureOut">
              <a:rPr lang="en-US" smtClean="0"/>
              <a:pPr/>
              <a:t>11/27/2024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38E7B12-F6FA-47A6-9554-1356DA74C6D7}"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a:spLocks/>
          </p:cNvSpPr>
          <p:nvPr/>
        </p:nvSpPr>
        <p:spPr bwMode="auto">
          <a:xfrm>
            <a:off x="-9525" y="-7144"/>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8" name="Freeform 7"/>
          <p:cNvSpPr>
            <a:spLocks/>
          </p:cNvSpPr>
          <p:nvPr/>
        </p:nvSpPr>
        <p:spPr bwMode="auto">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9" name="Title Placeholder 8"/>
          <p:cNvSpPr>
            <a:spLocks noGrp="1"/>
          </p:cNvSpPr>
          <p:nvPr>
            <p:ph type="title"/>
          </p:nvPr>
        </p:nvSpPr>
        <p:spPr>
          <a:xfrm>
            <a:off x="457200" y="704088"/>
            <a:ext cx="8229600" cy="1143000"/>
          </a:xfrm>
          <a:prstGeom prst="rect">
            <a:avLst/>
          </a:prstGeom>
        </p:spPr>
        <p:txBody>
          <a:bodyPr vert="horz" lIns="0" rIns="0" bIns="0" anchor="b">
            <a:normAutofit/>
          </a:bodyPr>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935480"/>
            <a:ext cx="8229600" cy="4389120"/>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fld id="{5F32E209-2345-4686-B990-886BF4F0DF70}" type="datetimeFigureOut">
              <a:rPr lang="en-US" smtClean="0"/>
              <a:pPr/>
              <a:t>11/27/2024</a:t>
            </a:fld>
            <a:endParaRPr lang="en-US"/>
          </a:p>
        </p:txBody>
      </p:sp>
      <p:sp>
        <p:nvSpPr>
          <p:cNvPr id="22" name="Footer Placeholder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endParaRPr lang="en-US"/>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fld id="{138E7B12-F6FA-47A6-9554-1356DA74C6D7}" type="slidenum">
              <a:rPr lang="en-US" smtClean="0"/>
              <a:pPr/>
              <a:t>‹#›</a:t>
            </a:fld>
            <a:endParaRPr lang="en-US"/>
          </a:p>
        </p:txBody>
      </p:sp>
      <p:grpSp>
        <p:nvGrpSpPr>
          <p:cNvPr id="2" name="Group 1"/>
          <p:cNvGrpSpPr/>
          <p:nvPr/>
        </p:nvGrpSpPr>
        <p:grpSpPr>
          <a:xfrm>
            <a:off x="-19017" y="202408"/>
            <a:ext cx="9180548" cy="649224"/>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gr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8" Type="http://schemas.openxmlformats.org/officeDocument/2006/relationships/oleObject" Target="../embeddings/oleObject3.bin"/><Relationship Id="rId3" Type="http://schemas.openxmlformats.org/officeDocument/2006/relationships/notesSlide" Target="../notesSlides/notesSlide1.xml"/><Relationship Id="rId7" Type="http://schemas.openxmlformats.org/officeDocument/2006/relationships/image" Target="../media/image7.wmf"/><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oleObject" Target="../embeddings/oleObject2.bin"/><Relationship Id="rId11" Type="http://schemas.openxmlformats.org/officeDocument/2006/relationships/image" Target="../media/image9.wmf"/><Relationship Id="rId5" Type="http://schemas.openxmlformats.org/officeDocument/2006/relationships/image" Target="../media/image6.wmf"/><Relationship Id="rId10" Type="http://schemas.openxmlformats.org/officeDocument/2006/relationships/oleObject" Target="../embeddings/oleObject4.bin"/><Relationship Id="rId4" Type="http://schemas.openxmlformats.org/officeDocument/2006/relationships/oleObject" Target="../embeddings/oleObject1.bin"/><Relationship Id="rId9" Type="http://schemas.openxmlformats.org/officeDocument/2006/relationships/image" Target="../media/image8.wmf"/></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xml"/><Relationship Id="rId7" Type="http://schemas.openxmlformats.org/officeDocument/2006/relationships/image" Target="../media/image11.wmf"/><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oleObject" Target="../embeddings/oleObject6.bin"/><Relationship Id="rId5" Type="http://schemas.openxmlformats.org/officeDocument/2006/relationships/image" Target="../media/image10.wmf"/><Relationship Id="rId4" Type="http://schemas.openxmlformats.org/officeDocument/2006/relationships/oleObject" Target="../embeddings/oleObject5.bin"/></Relationships>
</file>

<file path=ppt/slides/_rels/slide21.xml.rels><?xml version="1.0" encoding="UTF-8" standalone="yes"?>
<Relationships xmlns="http://schemas.openxmlformats.org/package/2006/relationships"><Relationship Id="rId8" Type="http://schemas.openxmlformats.org/officeDocument/2006/relationships/oleObject" Target="../embeddings/oleObject9.bin"/><Relationship Id="rId13" Type="http://schemas.openxmlformats.org/officeDocument/2006/relationships/image" Target="../media/image15.wmf"/><Relationship Id="rId3" Type="http://schemas.openxmlformats.org/officeDocument/2006/relationships/notesSlide" Target="../notesSlides/notesSlide3.xml"/><Relationship Id="rId7" Type="http://schemas.openxmlformats.org/officeDocument/2006/relationships/image" Target="../media/image12.wmf"/><Relationship Id="rId12" Type="http://schemas.openxmlformats.org/officeDocument/2006/relationships/oleObject" Target="../embeddings/oleObject11.bin"/><Relationship Id="rId2" Type="http://schemas.openxmlformats.org/officeDocument/2006/relationships/slideLayout" Target="../slideLayouts/slideLayout2.xml"/><Relationship Id="rId1" Type="http://schemas.openxmlformats.org/officeDocument/2006/relationships/vmlDrawing" Target="../drawings/vmlDrawing3.vml"/><Relationship Id="rId6" Type="http://schemas.openxmlformats.org/officeDocument/2006/relationships/oleObject" Target="../embeddings/oleObject8.bin"/><Relationship Id="rId11" Type="http://schemas.openxmlformats.org/officeDocument/2006/relationships/image" Target="../media/image14.wmf"/><Relationship Id="rId5" Type="http://schemas.openxmlformats.org/officeDocument/2006/relationships/image" Target="../media/image10.wmf"/><Relationship Id="rId15" Type="http://schemas.openxmlformats.org/officeDocument/2006/relationships/image" Target="../media/image16.wmf"/><Relationship Id="rId10" Type="http://schemas.openxmlformats.org/officeDocument/2006/relationships/oleObject" Target="../embeddings/oleObject10.bin"/><Relationship Id="rId4" Type="http://schemas.openxmlformats.org/officeDocument/2006/relationships/oleObject" Target="../embeddings/oleObject7.bin"/><Relationship Id="rId9" Type="http://schemas.openxmlformats.org/officeDocument/2006/relationships/image" Target="../media/image13.wmf"/><Relationship Id="rId14" Type="http://schemas.openxmlformats.org/officeDocument/2006/relationships/oleObject" Target="../embeddings/oleObject12.bin"/></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33400" y="1371600"/>
            <a:ext cx="7851648" cy="2667000"/>
          </a:xfrm>
        </p:spPr>
        <p:txBody>
          <a:bodyPr>
            <a:normAutofit/>
          </a:bodyPr>
          <a:lstStyle/>
          <a:p>
            <a:pPr algn="ctr"/>
            <a:r>
              <a:rPr lang="en-US" sz="5400" dirty="0"/>
              <a:t>Estimation and Central Limit Theorem</a:t>
            </a:r>
            <a:br>
              <a:rPr lang="en-US" sz="5400" dirty="0"/>
            </a:br>
            <a:r>
              <a:rPr lang="en-US" sz="5400" dirty="0"/>
              <a:t>Unit 4</a:t>
            </a:r>
            <a:endParaRPr 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lstStyle/>
          <a:p>
            <a:r>
              <a:rPr lang="en-IN" dirty="0" smtClean="0"/>
              <a:t>Parameter v/s Statistics</a:t>
            </a:r>
            <a:endParaRPr lang="en-IN" dirty="0"/>
          </a:p>
        </p:txBody>
      </p:sp>
      <p:sp>
        <p:nvSpPr>
          <p:cNvPr id="3" name="Content Placeholder 2"/>
          <p:cNvSpPr>
            <a:spLocks noGrp="1"/>
          </p:cNvSpPr>
          <p:nvPr>
            <p:ph idx="1"/>
          </p:nvPr>
        </p:nvSpPr>
        <p:spPr>
          <a:xfrm>
            <a:off x="304800" y="1281112"/>
            <a:ext cx="8229600" cy="4389120"/>
          </a:xfrm>
        </p:spPr>
        <p:txBody>
          <a:bodyPr>
            <a:normAutofit/>
          </a:bodyPr>
          <a:lstStyle/>
          <a:p>
            <a:pPr algn="just"/>
            <a:r>
              <a:rPr lang="en-IN" sz="2000" dirty="0"/>
              <a:t>Parameters describe the characteristics of a population, while statistics describe the characteristics of samples. Statistics can be used to estimate parameters, but remember that statistics are only estimates</a:t>
            </a:r>
            <a:r>
              <a:rPr lang="en-IN" sz="2000" dirty="0" smtClean="0"/>
              <a:t>.</a:t>
            </a:r>
          </a:p>
          <a:p>
            <a:pPr algn="just"/>
            <a:r>
              <a:rPr lang="en-IN" sz="2000" b="1" dirty="0"/>
              <a:t>What is the Difference Between Parameters and Statistics?</a:t>
            </a:r>
          </a:p>
          <a:p>
            <a:pPr algn="just"/>
            <a:endParaRPr lang="en-IN" sz="2000" dirty="0"/>
          </a:p>
        </p:txBody>
      </p:sp>
      <p:graphicFrame>
        <p:nvGraphicFramePr>
          <p:cNvPr id="8" name="Table 7"/>
          <p:cNvGraphicFramePr>
            <a:graphicFrameLocks noGrp="1"/>
          </p:cNvGraphicFramePr>
          <p:nvPr>
            <p:extLst>
              <p:ext uri="{D42A27DB-BD31-4B8C-83A1-F6EECF244321}">
                <p14:modId xmlns:p14="http://schemas.microsoft.com/office/powerpoint/2010/main" val="4214072882"/>
              </p:ext>
            </p:extLst>
          </p:nvPr>
        </p:nvGraphicFramePr>
        <p:xfrm>
          <a:off x="685800" y="2895600"/>
          <a:ext cx="8153401" cy="3627120"/>
        </p:xfrm>
        <a:graphic>
          <a:graphicData uri="http://schemas.openxmlformats.org/drawingml/2006/table">
            <a:tbl>
              <a:tblPr firstRow="1" bandRow="1">
                <a:tableStyleId>{BC89EF96-8CEA-46FF-86C4-4CE0E7609802}</a:tableStyleId>
              </a:tblPr>
              <a:tblGrid>
                <a:gridCol w="2133600"/>
                <a:gridCol w="3302001"/>
                <a:gridCol w="2717800"/>
              </a:tblGrid>
              <a:tr h="370840">
                <a:tc>
                  <a:txBody>
                    <a:bodyPr/>
                    <a:lstStyle/>
                    <a:p>
                      <a:endParaRPr lang="en-IN" dirty="0"/>
                    </a:p>
                  </a:txBody>
                  <a:tcPr marL="76200" marR="76200" marT="19050" marB="57150" anchor="ctr"/>
                </a:tc>
                <a:tc>
                  <a:txBody>
                    <a:bodyPr/>
                    <a:lstStyle/>
                    <a:p>
                      <a:pPr algn="l"/>
                      <a:r>
                        <a:rPr lang="en-IN" sz="1600" dirty="0">
                          <a:effectLst/>
                        </a:rPr>
                        <a:t/>
                      </a:r>
                      <a:br>
                        <a:rPr lang="en-IN" sz="1600" dirty="0">
                          <a:effectLst/>
                        </a:rPr>
                      </a:br>
                      <a:r>
                        <a:rPr lang="en-IN" sz="1600" dirty="0">
                          <a:effectLst/>
                        </a:rPr>
                        <a:t>Parameter</a:t>
                      </a:r>
                      <a:endParaRPr lang="en-IN" sz="1600" dirty="0">
                        <a:solidFill>
                          <a:srgbClr val="000000"/>
                        </a:solidFill>
                        <a:effectLst/>
                        <a:latin typeface="arial" panose="020B0604020202020204" pitchFamily="34" charset="0"/>
                      </a:endParaRPr>
                    </a:p>
                  </a:txBody>
                  <a:tcPr marL="76200" marR="76200" marT="19050" marB="57150" anchor="ctr"/>
                </a:tc>
                <a:tc>
                  <a:txBody>
                    <a:bodyPr/>
                    <a:lstStyle/>
                    <a:p>
                      <a:pPr algn="l"/>
                      <a:r>
                        <a:rPr lang="en-IN" sz="1600" dirty="0">
                          <a:effectLst/>
                        </a:rPr>
                        <a:t>Statistics</a:t>
                      </a:r>
                      <a:endParaRPr lang="en-IN" sz="1600" dirty="0">
                        <a:solidFill>
                          <a:srgbClr val="000000"/>
                        </a:solidFill>
                        <a:effectLst/>
                        <a:latin typeface="arial" panose="020B0604020202020204" pitchFamily="34" charset="0"/>
                      </a:endParaRPr>
                    </a:p>
                  </a:txBody>
                  <a:tcPr marL="76200" marR="76200" marT="19050" marB="57150" anchor="ctr"/>
                </a:tc>
              </a:tr>
              <a:tr h="370840">
                <a:tc>
                  <a:txBody>
                    <a:bodyPr/>
                    <a:lstStyle/>
                    <a:p>
                      <a:pPr algn="l"/>
                      <a:r>
                        <a:rPr lang="en-IN" sz="1600">
                          <a:effectLst/>
                        </a:rPr>
                        <a:t>Definition</a:t>
                      </a:r>
                      <a:endParaRPr lang="en-IN" sz="1600">
                        <a:solidFill>
                          <a:srgbClr val="000000"/>
                        </a:solidFill>
                        <a:effectLst/>
                        <a:latin typeface="arial" panose="020B0604020202020204" pitchFamily="34" charset="0"/>
                      </a:endParaRPr>
                    </a:p>
                  </a:txBody>
                  <a:tcPr marL="76200" marR="76200" marT="19050" marB="57150" anchor="ctr"/>
                </a:tc>
                <a:tc>
                  <a:txBody>
                    <a:bodyPr/>
                    <a:lstStyle/>
                    <a:p>
                      <a:pPr algn="l"/>
                      <a:r>
                        <a:rPr lang="en-IN" sz="1600" dirty="0">
                          <a:effectLst/>
                        </a:rPr>
                        <a:t>A numerical characteristic that describes an entire population.</a:t>
                      </a:r>
                      <a:endParaRPr lang="en-IN" sz="1600" dirty="0">
                        <a:solidFill>
                          <a:srgbClr val="000000"/>
                        </a:solidFill>
                        <a:effectLst/>
                        <a:latin typeface="arial" panose="020B0604020202020204" pitchFamily="34" charset="0"/>
                      </a:endParaRPr>
                    </a:p>
                  </a:txBody>
                  <a:tcPr marL="76200" marR="76200" marT="19050" marB="57150" anchor="ctr"/>
                </a:tc>
                <a:tc>
                  <a:txBody>
                    <a:bodyPr/>
                    <a:lstStyle/>
                    <a:p>
                      <a:pPr algn="l"/>
                      <a:r>
                        <a:rPr lang="en-IN" sz="1600">
                          <a:effectLst/>
                        </a:rPr>
                        <a:t>A numerical measure calculated from a sample drawn from the population.</a:t>
                      </a:r>
                      <a:endParaRPr lang="en-IN" sz="1600">
                        <a:solidFill>
                          <a:srgbClr val="000000"/>
                        </a:solidFill>
                        <a:effectLst/>
                        <a:latin typeface="arial" panose="020B0604020202020204" pitchFamily="34" charset="0"/>
                      </a:endParaRPr>
                    </a:p>
                  </a:txBody>
                  <a:tcPr marL="76200" marR="76200" marT="19050" marB="57150" anchor="ctr"/>
                </a:tc>
              </a:tr>
              <a:tr h="370840">
                <a:tc>
                  <a:txBody>
                    <a:bodyPr/>
                    <a:lstStyle/>
                    <a:p>
                      <a:pPr algn="l"/>
                      <a:r>
                        <a:rPr lang="en-IN" sz="1600" dirty="0">
                          <a:effectLst/>
                        </a:rPr>
                        <a:t>Nature</a:t>
                      </a:r>
                      <a:endParaRPr lang="en-IN" sz="1600" dirty="0">
                        <a:solidFill>
                          <a:srgbClr val="000000"/>
                        </a:solidFill>
                        <a:effectLst/>
                        <a:latin typeface="arial" panose="020B0604020202020204" pitchFamily="34" charset="0"/>
                      </a:endParaRPr>
                    </a:p>
                  </a:txBody>
                  <a:tcPr marL="76200" marR="76200" marT="19050" marB="57150" anchor="ctr"/>
                </a:tc>
                <a:tc>
                  <a:txBody>
                    <a:bodyPr/>
                    <a:lstStyle/>
                    <a:p>
                      <a:pPr algn="l"/>
                      <a:r>
                        <a:rPr lang="en-IN" sz="1600" dirty="0">
                          <a:effectLst/>
                        </a:rPr>
                        <a:t>Fixed and constant</a:t>
                      </a:r>
                      <a:endParaRPr lang="en-IN" sz="1600" dirty="0">
                        <a:solidFill>
                          <a:srgbClr val="000000"/>
                        </a:solidFill>
                        <a:effectLst/>
                        <a:latin typeface="arial" panose="020B0604020202020204" pitchFamily="34" charset="0"/>
                      </a:endParaRPr>
                    </a:p>
                  </a:txBody>
                  <a:tcPr marL="76200" marR="76200" marT="19050" marB="57150" anchor="ctr"/>
                </a:tc>
                <a:tc>
                  <a:txBody>
                    <a:bodyPr/>
                    <a:lstStyle/>
                    <a:p>
                      <a:pPr algn="l"/>
                      <a:r>
                        <a:rPr lang="en-IN" sz="1600" dirty="0">
                          <a:effectLst/>
                        </a:rPr>
                        <a:t>Variable and can change from sample to sample</a:t>
                      </a:r>
                      <a:endParaRPr lang="en-IN" sz="1600" dirty="0">
                        <a:solidFill>
                          <a:srgbClr val="000000"/>
                        </a:solidFill>
                        <a:effectLst/>
                        <a:latin typeface="arial" panose="020B0604020202020204" pitchFamily="34" charset="0"/>
                      </a:endParaRPr>
                    </a:p>
                  </a:txBody>
                  <a:tcPr marL="76200" marR="76200" marT="19050" marB="57150" anchor="ctr"/>
                </a:tc>
              </a:tr>
              <a:tr h="370840">
                <a:tc>
                  <a:txBody>
                    <a:bodyPr/>
                    <a:lstStyle/>
                    <a:p>
                      <a:pPr algn="l"/>
                      <a:r>
                        <a:rPr lang="en-IN" sz="1600">
                          <a:effectLst/>
                        </a:rPr>
                        <a:t>Value</a:t>
                      </a:r>
                      <a:endParaRPr lang="en-IN" sz="1600">
                        <a:solidFill>
                          <a:srgbClr val="000000"/>
                        </a:solidFill>
                        <a:effectLst/>
                        <a:latin typeface="arial" panose="020B0604020202020204" pitchFamily="34" charset="0"/>
                      </a:endParaRPr>
                    </a:p>
                  </a:txBody>
                  <a:tcPr marL="76200" marR="76200" marT="19050" marB="57150" anchor="ctr"/>
                </a:tc>
                <a:tc>
                  <a:txBody>
                    <a:bodyPr/>
                    <a:lstStyle/>
                    <a:p>
                      <a:pPr algn="l"/>
                      <a:r>
                        <a:rPr lang="en-IN" sz="1600">
                          <a:effectLst/>
                        </a:rPr>
                        <a:t>Unknown (as it pertains to the entire population)</a:t>
                      </a:r>
                      <a:endParaRPr lang="en-IN" sz="1600">
                        <a:solidFill>
                          <a:srgbClr val="000000"/>
                        </a:solidFill>
                        <a:effectLst/>
                        <a:latin typeface="arial" panose="020B0604020202020204" pitchFamily="34" charset="0"/>
                      </a:endParaRPr>
                    </a:p>
                  </a:txBody>
                  <a:tcPr marL="76200" marR="76200" marT="19050" marB="57150" anchor="ctr"/>
                </a:tc>
                <a:tc>
                  <a:txBody>
                    <a:bodyPr/>
                    <a:lstStyle/>
                    <a:p>
                      <a:pPr algn="l"/>
                      <a:r>
                        <a:rPr lang="en-IN" sz="1600" dirty="0">
                          <a:effectLst/>
                        </a:rPr>
                        <a:t>Known (as it is derived from the sample data)</a:t>
                      </a:r>
                      <a:endParaRPr lang="en-IN" sz="1600" dirty="0">
                        <a:solidFill>
                          <a:srgbClr val="000000"/>
                        </a:solidFill>
                        <a:effectLst/>
                        <a:latin typeface="arial" panose="020B0604020202020204" pitchFamily="34" charset="0"/>
                      </a:endParaRPr>
                    </a:p>
                  </a:txBody>
                  <a:tcPr marL="76200" marR="76200" marT="19050" marB="57150" anchor="ctr"/>
                </a:tc>
              </a:tr>
              <a:tr h="370840">
                <a:tc>
                  <a:txBody>
                    <a:bodyPr/>
                    <a:lstStyle/>
                    <a:p>
                      <a:pPr algn="l"/>
                      <a:r>
                        <a:rPr lang="en-IN" sz="1600">
                          <a:effectLst/>
                        </a:rPr>
                        <a:t>Representation</a:t>
                      </a:r>
                      <a:endParaRPr lang="en-IN" sz="1600">
                        <a:solidFill>
                          <a:srgbClr val="000000"/>
                        </a:solidFill>
                        <a:effectLst/>
                        <a:latin typeface="arial" panose="020B0604020202020204" pitchFamily="34" charset="0"/>
                      </a:endParaRPr>
                    </a:p>
                  </a:txBody>
                  <a:tcPr marL="76200" marR="76200" marT="19050" marB="57150" anchor="ctr"/>
                </a:tc>
                <a:tc>
                  <a:txBody>
                    <a:bodyPr/>
                    <a:lstStyle/>
                    <a:p>
                      <a:pPr algn="l"/>
                      <a:r>
                        <a:rPr lang="en-IN" sz="1600">
                          <a:effectLst/>
                        </a:rPr>
                        <a:t>Represents the entire population</a:t>
                      </a:r>
                      <a:endParaRPr lang="en-IN" sz="1600">
                        <a:solidFill>
                          <a:srgbClr val="000000"/>
                        </a:solidFill>
                        <a:effectLst/>
                        <a:latin typeface="arial" panose="020B0604020202020204" pitchFamily="34" charset="0"/>
                      </a:endParaRPr>
                    </a:p>
                  </a:txBody>
                  <a:tcPr marL="76200" marR="76200" marT="19050" marB="57150" anchor="ctr"/>
                </a:tc>
                <a:tc>
                  <a:txBody>
                    <a:bodyPr/>
                    <a:lstStyle/>
                    <a:p>
                      <a:pPr algn="l"/>
                      <a:r>
                        <a:rPr lang="en-IN" sz="1600" dirty="0">
                          <a:effectLst/>
                        </a:rPr>
                        <a:t>Represents a sample of the population</a:t>
                      </a:r>
                      <a:endParaRPr lang="en-IN" sz="1600" dirty="0">
                        <a:solidFill>
                          <a:srgbClr val="000000"/>
                        </a:solidFill>
                        <a:effectLst/>
                        <a:latin typeface="arial" panose="020B0604020202020204" pitchFamily="34" charset="0"/>
                      </a:endParaRPr>
                    </a:p>
                  </a:txBody>
                  <a:tcPr marL="76200" marR="76200" marT="19050" marB="57150" anchor="ctr"/>
                </a:tc>
              </a:tr>
              <a:tr h="370840">
                <a:tc>
                  <a:txBody>
                    <a:bodyPr/>
                    <a:lstStyle/>
                    <a:p>
                      <a:pPr algn="l"/>
                      <a:r>
                        <a:rPr lang="en-IN" sz="1600">
                          <a:effectLst/>
                        </a:rPr>
                        <a:t>Usage</a:t>
                      </a:r>
                      <a:endParaRPr lang="en-IN" sz="1600">
                        <a:solidFill>
                          <a:srgbClr val="000000"/>
                        </a:solidFill>
                        <a:effectLst/>
                        <a:latin typeface="arial" panose="020B0604020202020204" pitchFamily="34" charset="0"/>
                      </a:endParaRPr>
                    </a:p>
                  </a:txBody>
                  <a:tcPr marL="76200" marR="76200" marT="19050" marB="57150" anchor="ctr"/>
                </a:tc>
                <a:tc>
                  <a:txBody>
                    <a:bodyPr/>
                    <a:lstStyle/>
                    <a:p>
                      <a:pPr algn="l"/>
                      <a:r>
                        <a:rPr lang="en-IN" sz="1600">
                          <a:effectLst/>
                        </a:rPr>
                        <a:t>Used in theoretical concepts and hypothesis formulation</a:t>
                      </a:r>
                      <a:endParaRPr lang="en-IN" sz="1600">
                        <a:solidFill>
                          <a:srgbClr val="000000"/>
                        </a:solidFill>
                        <a:effectLst/>
                        <a:latin typeface="arial" panose="020B0604020202020204" pitchFamily="34" charset="0"/>
                      </a:endParaRPr>
                    </a:p>
                  </a:txBody>
                  <a:tcPr marL="76200" marR="76200" marT="19050" marB="57150" anchor="ctr"/>
                </a:tc>
                <a:tc>
                  <a:txBody>
                    <a:bodyPr/>
                    <a:lstStyle/>
                    <a:p>
                      <a:pPr algn="l"/>
                      <a:r>
                        <a:rPr lang="en-IN" sz="1600" dirty="0">
                          <a:effectLst/>
                        </a:rPr>
                        <a:t>Used in practical data analysis and research</a:t>
                      </a:r>
                      <a:endParaRPr lang="en-IN" sz="1600" dirty="0">
                        <a:solidFill>
                          <a:srgbClr val="000000"/>
                        </a:solidFill>
                        <a:effectLst/>
                        <a:latin typeface="arial" panose="020B0604020202020204" pitchFamily="34" charset="0"/>
                      </a:endParaRPr>
                    </a:p>
                  </a:txBody>
                  <a:tcPr marL="76200" marR="76200" marT="19050" marB="57150" anchor="ctr"/>
                </a:tc>
              </a:tr>
            </a:tbl>
          </a:graphicData>
        </a:graphic>
      </p:graphicFrame>
    </p:spTree>
    <p:extLst>
      <p:ext uri="{BB962C8B-B14F-4D97-AF65-F5344CB8AC3E}">
        <p14:creationId xmlns:p14="http://schemas.microsoft.com/office/powerpoint/2010/main" val="121764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t"/>
          <a:lstStyle/>
          <a:p>
            <a:r>
              <a:rPr lang="en-IN" dirty="0"/>
              <a:t>Parameter v/s Statistics</a:t>
            </a:r>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2700701221"/>
              </p:ext>
            </p:extLst>
          </p:nvPr>
        </p:nvGraphicFramePr>
        <p:xfrm>
          <a:off x="414335" y="2590800"/>
          <a:ext cx="8229602" cy="3322320"/>
        </p:xfrm>
        <a:graphic>
          <a:graphicData uri="http://schemas.openxmlformats.org/drawingml/2006/table">
            <a:tbl>
              <a:tblPr firstRow="1" bandRow="1">
                <a:tableStyleId>{BC89EF96-8CEA-46FF-86C4-4CE0E7609802}</a:tableStyleId>
              </a:tblPr>
              <a:tblGrid>
                <a:gridCol w="1524000"/>
                <a:gridCol w="3352800"/>
                <a:gridCol w="3352802"/>
              </a:tblGrid>
              <a:tr h="370840">
                <a:tc>
                  <a:txBody>
                    <a:bodyPr/>
                    <a:lstStyle/>
                    <a:p>
                      <a:pPr algn="l"/>
                      <a:r>
                        <a:rPr lang="en-IN" dirty="0">
                          <a:effectLst/>
                        </a:rPr>
                        <a:t>Accuracy</a:t>
                      </a:r>
                      <a:endParaRPr lang="en-IN" dirty="0">
                        <a:solidFill>
                          <a:srgbClr val="000000"/>
                        </a:solidFill>
                        <a:effectLst/>
                        <a:latin typeface="arial" panose="020B0604020202020204" pitchFamily="34" charset="0"/>
                      </a:endParaRPr>
                    </a:p>
                  </a:txBody>
                  <a:tcPr marL="76200" marR="76200" marT="19050" marB="57150" anchor="ctr"/>
                </a:tc>
                <a:tc>
                  <a:txBody>
                    <a:bodyPr/>
                    <a:lstStyle/>
                    <a:p>
                      <a:pPr algn="l"/>
                      <a:r>
                        <a:rPr lang="en-IN">
                          <a:effectLst/>
                        </a:rPr>
                        <a:t>More accurate as it represents the entire population</a:t>
                      </a:r>
                      <a:endParaRPr lang="en-IN">
                        <a:solidFill>
                          <a:srgbClr val="000000"/>
                        </a:solidFill>
                        <a:effectLst/>
                        <a:latin typeface="arial" panose="020B0604020202020204" pitchFamily="34" charset="0"/>
                      </a:endParaRPr>
                    </a:p>
                  </a:txBody>
                  <a:tcPr marL="76200" marR="76200" marT="19050" marB="57150" anchor="ctr"/>
                </a:tc>
                <a:tc>
                  <a:txBody>
                    <a:bodyPr/>
                    <a:lstStyle/>
                    <a:p>
                      <a:pPr algn="l"/>
                      <a:r>
                        <a:rPr lang="en-IN">
                          <a:effectLst/>
                        </a:rPr>
                        <a:t>It may vary in accuracy as it depends on the sample size and selection</a:t>
                      </a:r>
                      <a:endParaRPr lang="en-IN">
                        <a:solidFill>
                          <a:srgbClr val="000000"/>
                        </a:solidFill>
                        <a:effectLst/>
                        <a:latin typeface="arial" panose="020B0604020202020204" pitchFamily="34" charset="0"/>
                      </a:endParaRPr>
                    </a:p>
                  </a:txBody>
                  <a:tcPr marL="76200" marR="76200" marT="19050" marB="57150" anchor="ctr"/>
                </a:tc>
              </a:tr>
              <a:tr h="370840">
                <a:tc>
                  <a:txBody>
                    <a:bodyPr/>
                    <a:lstStyle/>
                    <a:p>
                      <a:pPr algn="l"/>
                      <a:r>
                        <a:rPr lang="en-IN">
                          <a:effectLst/>
                        </a:rPr>
                        <a:t>Calculation</a:t>
                      </a:r>
                      <a:endParaRPr lang="en-IN">
                        <a:solidFill>
                          <a:srgbClr val="000000"/>
                        </a:solidFill>
                        <a:effectLst/>
                        <a:latin typeface="arial" panose="020B0604020202020204" pitchFamily="34" charset="0"/>
                      </a:endParaRPr>
                    </a:p>
                  </a:txBody>
                  <a:tcPr marL="76200" marR="76200" marT="19050" marB="57150" anchor="ctr"/>
                </a:tc>
                <a:tc>
                  <a:txBody>
                    <a:bodyPr/>
                    <a:lstStyle/>
                    <a:p>
                      <a:pPr algn="l"/>
                      <a:r>
                        <a:rPr lang="en-IN" dirty="0">
                          <a:effectLst/>
                        </a:rPr>
                        <a:t>It cannot be calculated exactly in most real-world scenarios</a:t>
                      </a:r>
                      <a:endParaRPr lang="en-IN" dirty="0">
                        <a:solidFill>
                          <a:srgbClr val="000000"/>
                        </a:solidFill>
                        <a:effectLst/>
                        <a:latin typeface="arial" panose="020B0604020202020204" pitchFamily="34" charset="0"/>
                      </a:endParaRPr>
                    </a:p>
                  </a:txBody>
                  <a:tcPr marL="76200" marR="76200" marT="19050" marB="57150" anchor="ctr"/>
                </a:tc>
                <a:tc>
                  <a:txBody>
                    <a:bodyPr/>
                    <a:lstStyle/>
                    <a:p>
                      <a:pPr algn="l"/>
                      <a:r>
                        <a:rPr lang="en-IN">
                          <a:effectLst/>
                        </a:rPr>
                        <a:t>Can be calculated using sample data</a:t>
                      </a:r>
                      <a:endParaRPr lang="en-IN">
                        <a:solidFill>
                          <a:srgbClr val="000000"/>
                        </a:solidFill>
                        <a:effectLst/>
                        <a:latin typeface="arial" panose="020B0604020202020204" pitchFamily="34" charset="0"/>
                      </a:endParaRPr>
                    </a:p>
                  </a:txBody>
                  <a:tcPr marL="76200" marR="76200" marT="19050" marB="57150" anchor="ctr"/>
                </a:tc>
              </a:tr>
              <a:tr h="370840">
                <a:tc>
                  <a:txBody>
                    <a:bodyPr/>
                    <a:lstStyle/>
                    <a:p>
                      <a:pPr algn="l"/>
                      <a:r>
                        <a:rPr lang="en-IN">
                          <a:effectLst/>
                        </a:rPr>
                        <a:t>Purpose</a:t>
                      </a:r>
                      <a:endParaRPr lang="en-IN">
                        <a:solidFill>
                          <a:srgbClr val="000000"/>
                        </a:solidFill>
                        <a:effectLst/>
                        <a:latin typeface="arial" panose="020B0604020202020204" pitchFamily="34" charset="0"/>
                      </a:endParaRPr>
                    </a:p>
                  </a:txBody>
                  <a:tcPr marL="76200" marR="76200" marT="19050" marB="57150" anchor="ctr"/>
                </a:tc>
                <a:tc>
                  <a:txBody>
                    <a:bodyPr/>
                    <a:lstStyle/>
                    <a:p>
                      <a:pPr algn="l"/>
                      <a:r>
                        <a:rPr lang="en-IN">
                          <a:effectLst/>
                        </a:rPr>
                        <a:t>To describe the characteristics of the population</a:t>
                      </a:r>
                      <a:endParaRPr lang="en-IN">
                        <a:solidFill>
                          <a:srgbClr val="000000"/>
                        </a:solidFill>
                        <a:effectLst/>
                        <a:latin typeface="arial" panose="020B0604020202020204" pitchFamily="34" charset="0"/>
                      </a:endParaRPr>
                    </a:p>
                  </a:txBody>
                  <a:tcPr marL="76200" marR="76200" marT="19050" marB="57150" anchor="ctr"/>
                </a:tc>
                <a:tc>
                  <a:txBody>
                    <a:bodyPr/>
                    <a:lstStyle/>
                    <a:p>
                      <a:pPr algn="l"/>
                      <a:r>
                        <a:rPr lang="en-IN">
                          <a:effectLst/>
                        </a:rPr>
                        <a:t>To estimate the population parameters based on sample data</a:t>
                      </a:r>
                      <a:endParaRPr lang="en-IN">
                        <a:solidFill>
                          <a:srgbClr val="000000"/>
                        </a:solidFill>
                        <a:effectLst/>
                        <a:latin typeface="arial" panose="020B0604020202020204" pitchFamily="34" charset="0"/>
                      </a:endParaRPr>
                    </a:p>
                  </a:txBody>
                  <a:tcPr marL="76200" marR="76200" marT="19050" marB="57150" anchor="ctr"/>
                </a:tc>
              </a:tr>
              <a:tr h="370840">
                <a:tc>
                  <a:txBody>
                    <a:bodyPr/>
                    <a:lstStyle/>
                    <a:p>
                      <a:pPr algn="l"/>
                      <a:r>
                        <a:rPr lang="en-IN">
                          <a:effectLst/>
                        </a:rPr>
                        <a:t>Example</a:t>
                      </a:r>
                      <a:endParaRPr lang="en-IN">
                        <a:solidFill>
                          <a:srgbClr val="000000"/>
                        </a:solidFill>
                        <a:effectLst/>
                        <a:latin typeface="arial" panose="020B0604020202020204" pitchFamily="34" charset="0"/>
                      </a:endParaRPr>
                    </a:p>
                  </a:txBody>
                  <a:tcPr marL="76200" marR="76200" marT="19050" marB="57150" anchor="ctr"/>
                </a:tc>
                <a:tc>
                  <a:txBody>
                    <a:bodyPr/>
                    <a:lstStyle/>
                    <a:p>
                      <a:pPr algn="l"/>
                      <a:r>
                        <a:rPr lang="en-IN" dirty="0">
                          <a:effectLst/>
                        </a:rPr>
                        <a:t>The actual average height of all adults in a country</a:t>
                      </a:r>
                      <a:endParaRPr lang="en-IN" dirty="0">
                        <a:solidFill>
                          <a:srgbClr val="000000"/>
                        </a:solidFill>
                        <a:effectLst/>
                        <a:latin typeface="arial" panose="020B0604020202020204" pitchFamily="34" charset="0"/>
                      </a:endParaRPr>
                    </a:p>
                  </a:txBody>
                  <a:tcPr marL="76200" marR="76200" marT="19050" marB="57150" anchor="ctr"/>
                </a:tc>
                <a:tc>
                  <a:txBody>
                    <a:bodyPr/>
                    <a:lstStyle/>
                    <a:p>
                      <a:pPr algn="l"/>
                      <a:r>
                        <a:rPr lang="en-IN" dirty="0">
                          <a:effectLst/>
                        </a:rPr>
                        <a:t>The average height calculated from a sample group of adults in a country</a:t>
                      </a:r>
                      <a:endParaRPr lang="en-IN" dirty="0">
                        <a:solidFill>
                          <a:srgbClr val="000000"/>
                        </a:solidFill>
                        <a:effectLst/>
                        <a:latin typeface="arial" panose="020B0604020202020204" pitchFamily="34" charset="0"/>
                      </a:endParaRPr>
                    </a:p>
                  </a:txBody>
                  <a:tcPr marL="76200" marR="76200" marT="19050" marB="57150" anchor="ctr"/>
                </a:tc>
              </a:tr>
            </a:tbl>
          </a:graphicData>
        </a:graphic>
      </p:graphicFrame>
    </p:spTree>
    <p:extLst>
      <p:ext uri="{BB962C8B-B14F-4D97-AF65-F5344CB8AC3E}">
        <p14:creationId xmlns:p14="http://schemas.microsoft.com/office/powerpoint/2010/main" val="260821815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C</a:t>
            </a:r>
            <a:r>
              <a:rPr lang="en-US" dirty="0" smtClean="0"/>
              <a:t>entral </a:t>
            </a:r>
            <a:r>
              <a:rPr lang="en-US" dirty="0"/>
              <a:t>limit theorem for mean</a:t>
            </a:r>
          </a:p>
        </p:txBody>
      </p:sp>
      <p:sp>
        <p:nvSpPr>
          <p:cNvPr id="3" name="Content Placeholder 2"/>
          <p:cNvSpPr>
            <a:spLocks noGrp="1"/>
          </p:cNvSpPr>
          <p:nvPr>
            <p:ph idx="1"/>
          </p:nvPr>
        </p:nvSpPr>
        <p:spPr/>
        <p:txBody>
          <a:bodyPr>
            <a:normAutofit/>
          </a:bodyPr>
          <a:lstStyle/>
          <a:p>
            <a:pPr algn="just"/>
            <a:r>
              <a:rPr lang="en-US" sz="2400" dirty="0"/>
              <a:t>In simple terms, central limit theorem states that for a large sample drawn from a population with mean </a:t>
            </a:r>
            <a:r>
              <a:rPr lang="en-US" sz="2400" i="1" dirty="0"/>
              <a:t>μ and standard deviation </a:t>
            </a:r>
            <a:r>
              <a:rPr lang="el-GR" sz="2400" i="1" dirty="0"/>
              <a:t>σ</a:t>
            </a:r>
            <a:r>
              <a:rPr lang="en-US" sz="2400" i="1" dirty="0"/>
              <a:t>, the sampling distribution of mean, x</a:t>
            </a:r>
            <a:r>
              <a:rPr lang="en-US" sz="2400" i="1" dirty="0">
                <a:latin typeface="Arial Unicode MS"/>
                <a:ea typeface="Arial Unicode MS"/>
                <a:cs typeface="Arial Unicode MS"/>
              </a:rPr>
              <a:t>̅</a:t>
            </a:r>
            <a:r>
              <a:rPr lang="en-US" sz="2400" i="1" dirty="0"/>
              <a:t>, follows an approximate normal </a:t>
            </a:r>
            <a:r>
              <a:rPr lang="en-US" sz="2400" dirty="0"/>
              <a:t>distribution with mean </a:t>
            </a:r>
            <a:r>
              <a:rPr lang="en-US" sz="2400" i="1" dirty="0"/>
              <a:t>μ and standard deviation (standard error) </a:t>
            </a:r>
            <a:r>
              <a:rPr lang="el-GR" sz="2400" i="1" dirty="0"/>
              <a:t>σ</a:t>
            </a:r>
            <a:r>
              <a:rPr lang="en-US" sz="2400" i="1" dirty="0"/>
              <a:t> / n irrespective of the distribution </a:t>
            </a:r>
            <a:r>
              <a:rPr lang="en-US" sz="2400" dirty="0"/>
              <a:t>of the population.</a:t>
            </a:r>
          </a:p>
          <a:p>
            <a:pPr algn="just"/>
            <a:r>
              <a:rPr lang="en-US" sz="2400" dirty="0"/>
              <a:t>This will hold true regardless of whether the source population is normal or skewed, provided the sample size is sufficiently large (usually n </a:t>
            </a:r>
            <a:r>
              <a:rPr lang="en-US" sz="2400" u="sng" dirty="0"/>
              <a:t>&gt;</a:t>
            </a:r>
            <a:r>
              <a:rPr lang="en-US" sz="2400" dirty="0"/>
              <a:t> 30). </a:t>
            </a:r>
          </a:p>
          <a:p>
            <a:pPr algn="just"/>
            <a:r>
              <a:rPr lang="en-US" sz="2400" dirty="0"/>
              <a:t>If the population is normal, then the theorem holds true even for samples smaller than 30. </a:t>
            </a:r>
          </a:p>
          <a:p>
            <a:pPr algn="just">
              <a:buNone/>
            </a:pPr>
            <a:endParaRPr lang="en-US" sz="2400" dirty="0"/>
          </a:p>
        </p:txBody>
      </p:sp>
    </p:spTree>
    <p:extLst>
      <p:ext uri="{BB962C8B-B14F-4D97-AF65-F5344CB8AC3E}">
        <p14:creationId xmlns:p14="http://schemas.microsoft.com/office/powerpoint/2010/main" val="34887924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Central Limit Theorem</a:t>
            </a:r>
          </a:p>
        </p:txBody>
      </p:sp>
      <p:sp>
        <p:nvSpPr>
          <p:cNvPr id="3" name="Content Placeholder 2"/>
          <p:cNvSpPr>
            <a:spLocks noGrp="1"/>
          </p:cNvSpPr>
          <p:nvPr>
            <p:ph idx="1"/>
          </p:nvPr>
        </p:nvSpPr>
        <p:spPr/>
        <p:txBody>
          <a:bodyPr>
            <a:normAutofit/>
          </a:bodyPr>
          <a:lstStyle/>
          <a:p>
            <a:pPr algn="just"/>
            <a:r>
              <a:rPr lang="en-US" sz="2400" dirty="0"/>
              <a:t>Similarly, if you find the average of all of the standard deviations in your sample, you’ll find the actual standard deviation for your population.</a:t>
            </a:r>
          </a:p>
          <a:p>
            <a:pPr algn="just"/>
            <a:r>
              <a:rPr lang="en-US" sz="2400" dirty="0"/>
              <a:t> It’s a pretty useful phenomenon that can help accurately predict characteristics of a population.</a:t>
            </a:r>
            <a:endParaRPr lang="en-US" sz="2400" i="1" dirty="0"/>
          </a:p>
          <a:p>
            <a:pPr algn="just"/>
            <a:r>
              <a:rPr lang="en-US" sz="2400" dirty="0"/>
              <a:t>The picture below shows one of the simplest types of test: rolling a fair die. The </a:t>
            </a:r>
            <a:r>
              <a:rPr lang="en-US" sz="2400" b="1" dirty="0"/>
              <a:t>more times you roll the die</a:t>
            </a:r>
            <a:r>
              <a:rPr lang="en-US" sz="2400" dirty="0"/>
              <a:t>, the more likely the shape of the distribution of the means tends to look like a</a:t>
            </a:r>
            <a:r>
              <a:rPr lang="en-US" sz="2400" b="1" dirty="0"/>
              <a:t> normal distribution graph</a:t>
            </a:r>
            <a:r>
              <a:rPr lang="en-US" sz="2400" dirty="0"/>
              <a:t>. </a:t>
            </a:r>
            <a:r>
              <a:rPr lang="en-US" sz="2400" i="1" dirty="0"/>
              <a:t>of the population distribution</a:t>
            </a:r>
            <a:r>
              <a:rPr lang="en-US" sz="2400" dirty="0"/>
              <a:t>. </a:t>
            </a:r>
          </a:p>
          <a:p>
            <a:endParaRPr lang="en-US" sz="2000" dirty="0"/>
          </a:p>
        </p:txBody>
      </p:sp>
    </p:spTree>
    <p:extLst>
      <p:ext uri="{BB962C8B-B14F-4D97-AF65-F5344CB8AC3E}">
        <p14:creationId xmlns:p14="http://schemas.microsoft.com/office/powerpoint/2010/main" val="197556962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200" dirty="0"/>
              <a:t>Distribution of graph for rolling a die n times </a:t>
            </a:r>
            <a:br>
              <a:rPr lang="en-US" sz="3200" dirty="0"/>
            </a:br>
            <a:r>
              <a:rPr lang="en-US" sz="3200" dirty="0"/>
              <a:t>(n = 1 to 5)  </a:t>
            </a:r>
          </a:p>
        </p:txBody>
      </p:sp>
      <p:pic>
        <p:nvPicPr>
          <p:cNvPr id="4" name="Content Placeholder 3"/>
          <p:cNvPicPr>
            <a:picLocks noGrp="1"/>
          </p:cNvPicPr>
          <p:nvPr>
            <p:ph idx="1"/>
          </p:nvPr>
        </p:nvPicPr>
        <p:blipFill>
          <a:blip r:embed="rId2"/>
          <a:srcRect/>
          <a:stretch>
            <a:fillRect/>
          </a:stretch>
        </p:blipFill>
        <p:spPr bwMode="auto">
          <a:xfrm>
            <a:off x="3124200" y="1808988"/>
            <a:ext cx="4953000" cy="4800600"/>
          </a:xfrm>
          <a:prstGeom prst="rect">
            <a:avLst/>
          </a:prstGeom>
          <a:noFill/>
          <a:ln w="9525">
            <a:noFill/>
            <a:miter lim="800000"/>
            <a:headEnd/>
            <a:tailEnd/>
          </a:ln>
        </p:spPr>
      </p:pic>
    </p:spTree>
    <p:extLst>
      <p:ext uri="{BB962C8B-B14F-4D97-AF65-F5344CB8AC3E}">
        <p14:creationId xmlns:p14="http://schemas.microsoft.com/office/powerpoint/2010/main" val="4484901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3862" y="381000"/>
            <a:ext cx="8229600" cy="1143000"/>
          </a:xfrm>
        </p:spPr>
        <p:txBody>
          <a:bodyPr anchor="t"/>
          <a:lstStyle/>
          <a:p>
            <a:r>
              <a:rPr lang="en-US" b="1" dirty="0"/>
              <a:t>Central Limit theorem</a:t>
            </a:r>
            <a:endParaRPr lang="en-IN" dirty="0"/>
          </a:p>
        </p:txBody>
      </p:sp>
      <p:sp>
        <p:nvSpPr>
          <p:cNvPr id="3" name="Content Placeholder 2"/>
          <p:cNvSpPr>
            <a:spLocks noGrp="1"/>
          </p:cNvSpPr>
          <p:nvPr>
            <p:ph idx="1"/>
          </p:nvPr>
        </p:nvSpPr>
        <p:spPr>
          <a:xfrm>
            <a:off x="423862" y="1371600"/>
            <a:ext cx="8229600" cy="5257800"/>
          </a:xfrm>
        </p:spPr>
        <p:txBody>
          <a:bodyPr>
            <a:normAutofit fontScale="92500" lnSpcReduction="20000"/>
          </a:bodyPr>
          <a:lstStyle/>
          <a:p>
            <a:pPr algn="just"/>
            <a:r>
              <a:rPr lang="en-IN" dirty="0"/>
              <a:t>The CLT can be applied to almost all types of probability distributions. But there are some exceptions. For</a:t>
            </a:r>
          </a:p>
          <a:p>
            <a:pPr algn="just"/>
            <a:r>
              <a:rPr lang="en-IN" dirty="0"/>
              <a:t>example, if the population has a finite variance. Also, this theorem applies to independent, identically</a:t>
            </a:r>
          </a:p>
          <a:p>
            <a:pPr algn="just"/>
            <a:r>
              <a:rPr lang="en-IN" dirty="0"/>
              <a:t>distributed variables. It can also be used to answer the question of how big a sample you want. Remember</a:t>
            </a:r>
          </a:p>
          <a:p>
            <a:pPr algn="just"/>
            <a:r>
              <a:rPr lang="en-IN" dirty="0"/>
              <a:t>that as the sample size grows, the standard deviation of the sample average falls because it is the</a:t>
            </a:r>
          </a:p>
          <a:p>
            <a:pPr algn="just"/>
            <a:r>
              <a:rPr lang="en-IN" dirty="0"/>
              <a:t>population standard deviation divided by the square root of the sample size. This theorem is an important</a:t>
            </a:r>
          </a:p>
          <a:p>
            <a:pPr algn="just"/>
            <a:r>
              <a:rPr lang="en-IN" dirty="0"/>
              <a:t>topic in statistics. In many real-time applications, a certain random variable of interest is a sum of a large</a:t>
            </a:r>
          </a:p>
          <a:p>
            <a:pPr algn="just"/>
            <a:r>
              <a:rPr lang="en-IN" dirty="0"/>
              <a:t>number of independent random variables. In such situations, we can use the CLT to justify using the</a:t>
            </a:r>
          </a:p>
          <a:p>
            <a:pPr algn="just"/>
            <a:r>
              <a:rPr lang="en-IN" dirty="0"/>
              <a:t>normal distribution.</a:t>
            </a:r>
          </a:p>
        </p:txBody>
      </p:sp>
    </p:spTree>
    <p:extLst>
      <p:ext uri="{BB962C8B-B14F-4D97-AF65-F5344CB8AC3E}">
        <p14:creationId xmlns:p14="http://schemas.microsoft.com/office/powerpoint/2010/main" val="21049186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400" dirty="0"/>
              <a:t>Assumptions in Central Limit theorem</a:t>
            </a:r>
          </a:p>
        </p:txBody>
      </p:sp>
      <p:sp>
        <p:nvSpPr>
          <p:cNvPr id="3" name="Content Placeholder 2"/>
          <p:cNvSpPr>
            <a:spLocks noGrp="1"/>
          </p:cNvSpPr>
          <p:nvPr>
            <p:ph idx="1"/>
          </p:nvPr>
        </p:nvSpPr>
        <p:spPr>
          <a:xfrm>
            <a:off x="320040" y="2057400"/>
            <a:ext cx="8503920" cy="4114800"/>
          </a:xfrm>
        </p:spPr>
        <p:txBody>
          <a:bodyPr>
            <a:normAutofit/>
          </a:bodyPr>
          <a:lstStyle/>
          <a:p>
            <a:pPr algn="just"/>
            <a:r>
              <a:rPr lang="en-US" sz="2000" dirty="0"/>
              <a:t>The variables present in the sample must follow a random distribution. </a:t>
            </a:r>
          </a:p>
          <a:p>
            <a:pPr algn="just"/>
            <a:r>
              <a:rPr lang="en-US" sz="2000" dirty="0"/>
              <a:t>The sample variables drawn from a population must be independent of one another.</a:t>
            </a:r>
          </a:p>
          <a:p>
            <a:pPr algn="just"/>
            <a:r>
              <a:rPr lang="en-US" sz="2000" dirty="0"/>
              <a:t>The sample drawn from the population must be 10% of the population data and it should follow a normal distribution</a:t>
            </a:r>
          </a:p>
          <a:p>
            <a:pPr algn="just"/>
            <a:r>
              <a:rPr lang="en-US" sz="2000" dirty="0"/>
              <a:t>The size of the sample should be large (&gt;=30) when the population data is either skewed or non-symmetric.</a:t>
            </a:r>
          </a:p>
          <a:p>
            <a:pPr algn="just"/>
            <a:r>
              <a:rPr lang="en-US" sz="2000" dirty="0"/>
              <a:t>In the case of symmetric data where the population data is near to normal, the size of the sample can be considered small.</a:t>
            </a:r>
          </a:p>
          <a:p>
            <a:pPr algn="just"/>
            <a:r>
              <a:rPr lang="en-US" sz="2000" dirty="0"/>
              <a:t>As the sample size increases the standard deviation decreases.</a:t>
            </a:r>
          </a:p>
        </p:txBody>
      </p:sp>
    </p:spTree>
    <p:extLst>
      <p:ext uri="{BB962C8B-B14F-4D97-AF65-F5344CB8AC3E}">
        <p14:creationId xmlns:p14="http://schemas.microsoft.com/office/powerpoint/2010/main" val="32565366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1143000"/>
          </a:xfrm>
        </p:spPr>
        <p:txBody>
          <a:bodyPr>
            <a:noAutofit/>
          </a:bodyPr>
          <a:lstStyle/>
          <a:p>
            <a:pPr algn="l"/>
            <a:r>
              <a:rPr lang="en-US" sz="3600" dirty="0"/>
              <a:t>Central limit theorem for proportions</a:t>
            </a:r>
          </a:p>
        </p:txBody>
      </p:sp>
      <p:sp>
        <p:nvSpPr>
          <p:cNvPr id="3" name="Content Placeholder 2"/>
          <p:cNvSpPr>
            <a:spLocks noGrp="1"/>
          </p:cNvSpPr>
          <p:nvPr>
            <p:ph idx="1"/>
          </p:nvPr>
        </p:nvSpPr>
        <p:spPr/>
        <p:txBody>
          <a:bodyPr>
            <a:normAutofit/>
          </a:bodyPr>
          <a:lstStyle/>
          <a:p>
            <a:pPr algn="just"/>
            <a:r>
              <a:rPr lang="en-US" sz="2400" dirty="0"/>
              <a:t>If </a:t>
            </a:r>
            <a:r>
              <a:rPr lang="en-US" sz="2400" i="1" dirty="0"/>
              <a:t>X1, X2, …, </a:t>
            </a:r>
            <a:r>
              <a:rPr lang="en-US" sz="2400" i="1" dirty="0" err="1"/>
              <a:t>Xn</a:t>
            </a:r>
            <a:r>
              <a:rPr lang="en-US" sz="2400" i="1" dirty="0"/>
              <a:t> are counts from a Bernoulli trials with probability of success p, E(Xi) = p and </a:t>
            </a:r>
            <a:r>
              <a:rPr lang="en-US" sz="2400" i="1" dirty="0" err="1"/>
              <a:t>Var</a:t>
            </a:r>
            <a:r>
              <a:rPr lang="en-US" sz="2400" i="1" dirty="0"/>
              <a:t>(Xi)</a:t>
            </a:r>
            <a:r>
              <a:rPr lang="en-US" sz="2400" dirty="0"/>
              <a:t>= </a:t>
            </a:r>
            <a:r>
              <a:rPr lang="en-US" sz="2400" i="1" dirty="0"/>
              <a:t>p × (1 − p), then the sampling distribution of probability of success (say p</a:t>
            </a:r>
            <a:r>
              <a:rPr lang="en-US" sz="2400" dirty="0"/>
              <a:t>∧) follows an approximate normal distribution with mean </a:t>
            </a:r>
            <a:r>
              <a:rPr lang="en-US" sz="2400" i="1" dirty="0"/>
              <a:t>p and standard error </a:t>
            </a:r>
            <a:r>
              <a:rPr lang="en-US" sz="2400" i="1" dirty="0">
                <a:latin typeface="Calibri"/>
              </a:rPr>
              <a:t>√</a:t>
            </a:r>
            <a:r>
              <a:rPr lang="en-US" sz="2400" i="1" dirty="0"/>
              <a:t>p(1− p) /n, where n is the sample size. </a:t>
            </a:r>
          </a:p>
          <a:p>
            <a:pPr algn="just"/>
            <a:r>
              <a:rPr lang="en-US" sz="2400" i="1" dirty="0"/>
              <a:t>The variable (p</a:t>
            </a:r>
            <a:r>
              <a:rPr lang="en-US" sz="2400" dirty="0"/>
              <a:t>∧-</a:t>
            </a:r>
            <a:r>
              <a:rPr lang="en-US" sz="2400" i="1" dirty="0"/>
              <a:t> p)/</a:t>
            </a:r>
            <a:r>
              <a:rPr lang="en-US" sz="2400" i="1" dirty="0">
                <a:latin typeface="Calibri"/>
              </a:rPr>
              <a:t>√p(1-p)/n </a:t>
            </a:r>
            <a:r>
              <a:rPr lang="en-US" sz="2400" dirty="0"/>
              <a:t>converges to a standard normal distribution.</a:t>
            </a:r>
          </a:p>
        </p:txBody>
      </p:sp>
    </p:spTree>
    <p:extLst>
      <p:ext uri="{BB962C8B-B14F-4D97-AF65-F5344CB8AC3E}">
        <p14:creationId xmlns:p14="http://schemas.microsoft.com/office/powerpoint/2010/main" val="9532149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5300" y="381000"/>
            <a:ext cx="8229600" cy="1143000"/>
          </a:xfrm>
        </p:spPr>
        <p:txBody>
          <a:bodyPr anchor="t"/>
          <a:lstStyle/>
          <a:p>
            <a:r>
              <a:rPr lang="en-IN" dirty="0"/>
              <a:t>Estimation in Statistics</a:t>
            </a:r>
          </a:p>
        </p:txBody>
      </p:sp>
      <p:sp>
        <p:nvSpPr>
          <p:cNvPr id="3" name="Content Placeholder 2"/>
          <p:cNvSpPr>
            <a:spLocks noGrp="1"/>
          </p:cNvSpPr>
          <p:nvPr>
            <p:ph idx="1"/>
          </p:nvPr>
        </p:nvSpPr>
        <p:spPr>
          <a:xfrm>
            <a:off x="457200" y="1219200"/>
            <a:ext cx="8305800" cy="5638800"/>
          </a:xfrm>
        </p:spPr>
        <p:txBody>
          <a:bodyPr>
            <a:normAutofit fontScale="77500" lnSpcReduction="20000"/>
          </a:bodyPr>
          <a:lstStyle/>
          <a:p>
            <a:r>
              <a:rPr lang="en-IN" dirty="0"/>
              <a:t>In statistics, </a:t>
            </a:r>
            <a:r>
              <a:rPr lang="en-IN" b="1" dirty="0"/>
              <a:t>estimation</a:t>
            </a:r>
            <a:r>
              <a:rPr lang="en-IN" dirty="0"/>
              <a:t> refers to the process by which one makes inferences about a population, based on information obtained from a sample</a:t>
            </a:r>
            <a:r>
              <a:rPr lang="en-IN" dirty="0" smtClean="0"/>
              <a:t>.</a:t>
            </a:r>
          </a:p>
          <a:p>
            <a:pPr fontAlgn="base"/>
            <a:endParaRPr lang="en-IN" b="1" dirty="0" smtClean="0"/>
          </a:p>
          <a:p>
            <a:pPr fontAlgn="base"/>
            <a:r>
              <a:rPr lang="en-IN" b="1" dirty="0" smtClean="0"/>
              <a:t>Purpose </a:t>
            </a:r>
            <a:r>
              <a:rPr lang="en-IN" b="1" dirty="0"/>
              <a:t>of Estimation in Statistics</a:t>
            </a:r>
          </a:p>
          <a:p>
            <a:pPr algn="just" fontAlgn="base"/>
            <a:r>
              <a:rPr lang="en-IN" sz="2300" dirty="0"/>
              <a:t>Statistical estimation is essential for making inferences about populations using sample data, helping to determine parameters like mean and variance without individual measurements.</a:t>
            </a:r>
          </a:p>
          <a:p>
            <a:pPr algn="just" fontAlgn="base"/>
            <a:r>
              <a:rPr lang="en-IN" sz="2300" dirty="0"/>
              <a:t>This evaluation is vital for decision-making in business and healthcare, informing strategies and treatment options.</a:t>
            </a:r>
          </a:p>
          <a:p>
            <a:pPr algn="just" fontAlgn="base"/>
            <a:r>
              <a:rPr lang="en-IN" sz="2300" dirty="0"/>
              <a:t>It is closely linked to hypothesis testing, contributing to scientific development, political decisions, public health, and economic choices.</a:t>
            </a:r>
          </a:p>
          <a:p>
            <a:pPr algn="just" fontAlgn="base"/>
            <a:r>
              <a:rPr lang="en-IN" sz="2300" dirty="0"/>
              <a:t>Risk assessment benefits from evaluation in managing probabilities and risk in finance and insurance.</a:t>
            </a:r>
          </a:p>
          <a:p>
            <a:pPr algn="just" fontAlgn="base"/>
            <a:r>
              <a:rPr lang="en-IN" sz="2300" dirty="0"/>
              <a:t>Quality control also relies on evaluation to ensure products and services meet standards by identifying and correcting deviations</a:t>
            </a:r>
            <a:r>
              <a:rPr lang="en-IN" sz="2300" dirty="0" smtClean="0"/>
              <a:t>.</a:t>
            </a:r>
          </a:p>
          <a:p>
            <a:pPr algn="just" fontAlgn="base"/>
            <a:endParaRPr lang="en-IN" sz="2300" dirty="0" smtClean="0"/>
          </a:p>
          <a:p>
            <a:pPr marL="0" indent="0" fontAlgn="base">
              <a:buNone/>
            </a:pPr>
            <a:r>
              <a:rPr lang="en-IN" sz="2400" b="1" dirty="0"/>
              <a:t>Estimation is of two types that includes:</a:t>
            </a:r>
          </a:p>
          <a:p>
            <a:pPr fontAlgn="base"/>
            <a:r>
              <a:rPr lang="en-IN" sz="2400" b="1" dirty="0"/>
              <a:t>Point Estimation</a:t>
            </a:r>
          </a:p>
          <a:p>
            <a:pPr fontAlgn="base"/>
            <a:r>
              <a:rPr lang="en-IN" sz="2400" b="1" dirty="0"/>
              <a:t>Interval Estimation</a:t>
            </a:r>
          </a:p>
          <a:p>
            <a:pPr algn="just" fontAlgn="base"/>
            <a:endParaRPr lang="en-IN" sz="2300" dirty="0"/>
          </a:p>
          <a:p>
            <a:endParaRPr lang="en-IN" dirty="0"/>
          </a:p>
        </p:txBody>
      </p:sp>
    </p:spTree>
    <p:extLst>
      <p:ext uri="{BB962C8B-B14F-4D97-AF65-F5344CB8AC3E}">
        <p14:creationId xmlns:p14="http://schemas.microsoft.com/office/powerpoint/2010/main" val="404466611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1143000"/>
          </a:xfrm>
        </p:spPr>
        <p:txBody>
          <a:bodyPr anchor="t">
            <a:normAutofit fontScale="90000"/>
          </a:bodyPr>
          <a:lstStyle/>
          <a:p>
            <a:r>
              <a:rPr lang="en-IN" dirty="0"/>
              <a:t>Point Estimation</a:t>
            </a:r>
            <a:br>
              <a:rPr lang="en-IN" dirty="0"/>
            </a:br>
            <a:endParaRPr lang="en-IN" dirty="0"/>
          </a:p>
        </p:txBody>
      </p:sp>
      <p:sp>
        <p:nvSpPr>
          <p:cNvPr id="3" name="Content Placeholder 2"/>
          <p:cNvSpPr>
            <a:spLocks noGrp="1"/>
          </p:cNvSpPr>
          <p:nvPr>
            <p:ph idx="1"/>
          </p:nvPr>
        </p:nvSpPr>
        <p:spPr>
          <a:xfrm>
            <a:off x="457200" y="1219200"/>
            <a:ext cx="8229600" cy="5257800"/>
          </a:xfrm>
        </p:spPr>
        <p:txBody>
          <a:bodyPr>
            <a:normAutofit lnSpcReduction="10000"/>
          </a:bodyPr>
          <a:lstStyle/>
          <a:p>
            <a:endParaRPr lang="en-IN" sz="2000" dirty="0" smtClean="0"/>
          </a:p>
          <a:p>
            <a:pPr marL="0" indent="0" fontAlgn="base">
              <a:buNone/>
            </a:pPr>
            <a:r>
              <a:rPr lang="en-IN" sz="2000" dirty="0"/>
              <a:t>In statistics, the sample mean is used to estimate a population mean, while the sample proportion is used to estimate a population percentage. These measurements help approximate unknown population parameters accurately.</a:t>
            </a:r>
          </a:p>
          <a:p>
            <a:pPr fontAlgn="base"/>
            <a:r>
              <a:rPr lang="en-IN" sz="2000" dirty="0"/>
              <a:t>Identifying a single number to represent a large group is like a point estimate. For instance, measuring the heights of random people can be used to estimate the average height of the entire group.</a:t>
            </a:r>
          </a:p>
          <a:p>
            <a:pPr marL="0" indent="0" fontAlgn="base">
              <a:buNone/>
            </a:pPr>
            <a:endParaRPr lang="en-IN" sz="2000" dirty="0" smtClean="0"/>
          </a:p>
          <a:p>
            <a:pPr marL="0" indent="0" fontAlgn="base">
              <a:buNone/>
            </a:pPr>
            <a:r>
              <a:rPr lang="en-IN" sz="2000" dirty="0" smtClean="0"/>
              <a:t>If </a:t>
            </a:r>
            <a:r>
              <a:rPr lang="en-IN" sz="2000" dirty="0"/>
              <a:t>individuals measured were 5 feet, 6 feet, and 5 feet.</a:t>
            </a:r>
          </a:p>
          <a:p>
            <a:pPr fontAlgn="base"/>
            <a:r>
              <a:rPr lang="en-IN" sz="2000" dirty="0"/>
              <a:t>We could estimate the average height to be around 5 feet. This single number, called a score estimator, gives a rough idea of the group's characteristics.</a:t>
            </a:r>
          </a:p>
          <a:p>
            <a:pPr fontAlgn="base"/>
            <a:r>
              <a:rPr lang="en-IN" sz="2000" dirty="0"/>
              <a:t>Population mean is estimated using the sample mean.</a:t>
            </a:r>
          </a:p>
          <a:p>
            <a:pPr fontAlgn="base"/>
            <a:r>
              <a:rPr lang="en-IN" sz="2000" dirty="0"/>
              <a:t>Similar techniques can be applied to estimate other attributes like percentages of specific characteristics in a population.</a:t>
            </a:r>
          </a:p>
          <a:p>
            <a:endParaRPr lang="en-IN" sz="2000" dirty="0"/>
          </a:p>
        </p:txBody>
      </p:sp>
    </p:spTree>
    <p:extLst>
      <p:ext uri="{BB962C8B-B14F-4D97-AF65-F5344CB8AC3E}">
        <p14:creationId xmlns:p14="http://schemas.microsoft.com/office/powerpoint/2010/main" val="282988299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Point </a:t>
            </a:r>
            <a:r>
              <a:rPr lang="en-IN" dirty="0" smtClean="0"/>
              <a:t>Estimation Example</a:t>
            </a:r>
            <a:endParaRPr lang="en-IN" dirty="0"/>
          </a:p>
        </p:txBody>
      </p:sp>
      <p:sp>
        <p:nvSpPr>
          <p:cNvPr id="3" name="Content Placeholder 2"/>
          <p:cNvSpPr>
            <a:spLocks noGrp="1"/>
          </p:cNvSpPr>
          <p:nvPr>
            <p:ph idx="1"/>
          </p:nvPr>
        </p:nvSpPr>
        <p:spPr/>
        <p:txBody>
          <a:bodyPr>
            <a:normAutofit/>
          </a:bodyPr>
          <a:lstStyle/>
          <a:p>
            <a:pPr marL="0" indent="0">
              <a:buNone/>
            </a:pPr>
            <a:r>
              <a:rPr lang="en-IN" sz="2000" b="1" dirty="0"/>
              <a:t>Problem 1: Point Estimation (Mean)</a:t>
            </a:r>
            <a:endParaRPr lang="en-IN" sz="2000" dirty="0" smtClean="0"/>
          </a:p>
          <a:p>
            <a:pPr marL="0" indent="0">
              <a:buNone/>
            </a:pPr>
            <a:r>
              <a:rPr lang="en-IN" sz="2000" dirty="0" smtClean="0"/>
              <a:t>A </a:t>
            </a:r>
            <a:r>
              <a:rPr lang="en-IN" sz="2000" dirty="0"/>
              <a:t>random sample of 10 students from a college class scored the following marks in an exam: 85, 78, 92, 80, 65, 90, 72, 88, 95, 83. Estimate the average score for the entire class.</a:t>
            </a:r>
          </a:p>
          <a:p>
            <a:pPr marL="0" indent="0">
              <a:buNone/>
            </a:pPr>
            <a:r>
              <a:rPr lang="en-IN" sz="2000" dirty="0" smtClean="0"/>
              <a:t>Solution</a:t>
            </a:r>
            <a:r>
              <a:rPr lang="en-IN" sz="2000" dirty="0"/>
              <a:t>:</a:t>
            </a:r>
          </a:p>
          <a:p>
            <a:pPr marL="0" indent="0">
              <a:buNone/>
            </a:pPr>
            <a:r>
              <a:rPr lang="en-IN" sz="2000" dirty="0" smtClean="0"/>
              <a:t>We </a:t>
            </a:r>
            <a:r>
              <a:rPr lang="en-IN" sz="2000" dirty="0"/>
              <a:t>can use the sample mean (average) as a point estimate for the population mean.</a:t>
            </a:r>
          </a:p>
          <a:p>
            <a:r>
              <a:rPr lang="en-IN" sz="2000" dirty="0"/>
              <a:t>Sample Mean (x̄) = Σ(xi) / n</a:t>
            </a:r>
          </a:p>
          <a:p>
            <a:pPr fontAlgn="base"/>
            <a:r>
              <a:rPr lang="en-IN" sz="2000" dirty="0"/>
              <a:t>n is the sample size (n = 10)</a:t>
            </a:r>
          </a:p>
          <a:p>
            <a:pPr fontAlgn="base"/>
            <a:r>
              <a:rPr lang="en-IN" sz="2000" dirty="0"/>
              <a:t>Calculating the sum of scores: Σ(xi)= 833</a:t>
            </a:r>
          </a:p>
          <a:p>
            <a:pPr fontAlgn="base"/>
            <a:r>
              <a:rPr lang="en-IN" sz="2000" dirty="0"/>
              <a:t>Therefore, Sample Mean (x̄) = 833 / 10 = 83.3</a:t>
            </a:r>
          </a:p>
          <a:p>
            <a:endParaRPr lang="en-IN" sz="2000" dirty="0"/>
          </a:p>
          <a:p>
            <a:endParaRPr lang="en-IN" sz="2000" dirty="0"/>
          </a:p>
          <a:p>
            <a:endParaRPr lang="en-IN" sz="2000" dirty="0"/>
          </a:p>
        </p:txBody>
      </p:sp>
    </p:spTree>
    <p:extLst>
      <p:ext uri="{BB962C8B-B14F-4D97-AF65-F5344CB8AC3E}">
        <p14:creationId xmlns:p14="http://schemas.microsoft.com/office/powerpoint/2010/main" val="235740478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Point Estimation Example</a:t>
            </a:r>
          </a:p>
        </p:txBody>
      </p:sp>
      <p:sp>
        <p:nvSpPr>
          <p:cNvPr id="3" name="Content Placeholder 2"/>
          <p:cNvSpPr>
            <a:spLocks noGrp="1"/>
          </p:cNvSpPr>
          <p:nvPr>
            <p:ph idx="1"/>
          </p:nvPr>
        </p:nvSpPr>
        <p:spPr/>
        <p:txBody>
          <a:bodyPr>
            <a:normAutofit fontScale="92500" lnSpcReduction="10000"/>
          </a:bodyPr>
          <a:lstStyle/>
          <a:p>
            <a:pPr marL="0" indent="0" fontAlgn="base">
              <a:buNone/>
            </a:pPr>
            <a:r>
              <a:rPr lang="fr-FR" sz="2200" b="1" dirty="0" err="1"/>
              <a:t>Problem</a:t>
            </a:r>
            <a:r>
              <a:rPr lang="fr-FR" sz="2200" b="1" dirty="0"/>
              <a:t> 2: Point Estimation (Proportion)</a:t>
            </a:r>
            <a:endParaRPr lang="en-IN" sz="2200" b="1" dirty="0" smtClean="0"/>
          </a:p>
          <a:p>
            <a:pPr fontAlgn="base"/>
            <a:r>
              <a:rPr lang="en-IN" sz="2200" b="1" dirty="0" smtClean="0"/>
              <a:t>A </a:t>
            </a:r>
            <a:r>
              <a:rPr lang="en-IN" sz="2200" b="1" dirty="0"/>
              <a:t>survey of 200 customers at a grocery store revealed that 120 prefer brand A. Estimate the proportion of all customers who prefer brand A.</a:t>
            </a:r>
            <a:endParaRPr lang="en-IN" sz="2200" dirty="0"/>
          </a:p>
          <a:p>
            <a:pPr fontAlgn="base"/>
            <a:r>
              <a:rPr lang="en-IN" sz="2200" b="1" dirty="0"/>
              <a:t>Solution</a:t>
            </a:r>
            <a:r>
              <a:rPr lang="en-IN" sz="2200" dirty="0"/>
              <a:t>:</a:t>
            </a:r>
          </a:p>
          <a:p>
            <a:r>
              <a:rPr lang="en-IN" sz="2000" dirty="0"/>
              <a:t>We can use the sample proportion (p̂) as a point estimate for the population proportion (p).</a:t>
            </a:r>
          </a:p>
          <a:p>
            <a:r>
              <a:rPr lang="en-IN" sz="2000" dirty="0" smtClean="0"/>
              <a:t>Sample </a:t>
            </a:r>
            <a:r>
              <a:rPr lang="en-IN" sz="2000" dirty="0"/>
              <a:t>Proportion (p̂) = x / n</a:t>
            </a:r>
          </a:p>
          <a:p>
            <a:endParaRPr lang="en-IN" sz="2000" dirty="0"/>
          </a:p>
          <a:p>
            <a:r>
              <a:rPr lang="en-IN" sz="2000" dirty="0" smtClean="0"/>
              <a:t>Therefore</a:t>
            </a:r>
            <a:r>
              <a:rPr lang="en-IN" sz="2000" dirty="0"/>
              <a:t>, Sample Proportion (p̂) = 120 / 200 = 0.6</a:t>
            </a:r>
          </a:p>
          <a:p>
            <a:endParaRPr lang="en-IN" sz="2000" dirty="0"/>
          </a:p>
          <a:p>
            <a:r>
              <a:rPr lang="en-IN" sz="2000" dirty="0" smtClean="0"/>
              <a:t>Interpretation</a:t>
            </a:r>
            <a:r>
              <a:rPr lang="en-IN" sz="2000" dirty="0"/>
              <a:t>: Based on the survey, we can estimate that around 60% of all customers at the store prefer brand A.</a:t>
            </a:r>
          </a:p>
          <a:p>
            <a:endParaRPr lang="en-IN" dirty="0"/>
          </a:p>
          <a:p>
            <a:endParaRPr lang="en-IN" dirty="0"/>
          </a:p>
        </p:txBody>
      </p:sp>
    </p:spTree>
    <p:extLst>
      <p:ext uri="{BB962C8B-B14F-4D97-AF65-F5344CB8AC3E}">
        <p14:creationId xmlns:p14="http://schemas.microsoft.com/office/powerpoint/2010/main" val="216122194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Point Estimation Example</a:t>
            </a:r>
          </a:p>
        </p:txBody>
      </p:sp>
      <p:pic>
        <p:nvPicPr>
          <p:cNvPr id="7" name="Picture 2"/>
          <p:cNvPicPr>
            <a:picLocks noGrp="1" noChangeAspect="1" noChangeArrowheads="1"/>
          </p:cNvPicPr>
          <p:nvPr>
            <p:ph idx="1"/>
          </p:nvPr>
        </p:nvPicPr>
        <p:blipFill>
          <a:blip r:embed="rId2"/>
          <a:stretch>
            <a:fillRect/>
          </a:stretch>
        </p:blipFill>
        <p:spPr bwMode="auto">
          <a:xfrm>
            <a:off x="668373" y="1935163"/>
            <a:ext cx="7807253" cy="4389437"/>
          </a:xfrm>
          <a:prstGeom prst="rect">
            <a:avLst/>
          </a:prstGeom>
          <a:noFill/>
          <a:ln w="9525">
            <a:noFill/>
            <a:miter lim="800000"/>
            <a:headEnd/>
            <a:tailEnd/>
          </a:ln>
          <a:effectLst/>
        </p:spPr>
      </p:pic>
    </p:spTree>
    <p:extLst>
      <p:ext uri="{BB962C8B-B14F-4D97-AF65-F5344CB8AC3E}">
        <p14:creationId xmlns:p14="http://schemas.microsoft.com/office/powerpoint/2010/main" val="39574850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Point Estimation Example</a:t>
            </a:r>
          </a:p>
        </p:txBody>
      </p:sp>
      <p:pic>
        <p:nvPicPr>
          <p:cNvPr id="4" name="Picture 2"/>
          <p:cNvPicPr>
            <a:picLocks noGrp="1" noChangeAspect="1" noChangeArrowheads="1"/>
          </p:cNvPicPr>
          <p:nvPr>
            <p:ph idx="1"/>
          </p:nvPr>
        </p:nvPicPr>
        <p:blipFill>
          <a:blip r:embed="rId2"/>
          <a:stretch>
            <a:fillRect/>
          </a:stretch>
        </p:blipFill>
        <p:spPr bwMode="auto">
          <a:xfrm>
            <a:off x="668373" y="1935163"/>
            <a:ext cx="7807253" cy="4389437"/>
          </a:xfrm>
          <a:prstGeom prst="rect">
            <a:avLst/>
          </a:prstGeom>
          <a:noFill/>
          <a:ln w="9525">
            <a:noFill/>
            <a:miter lim="800000"/>
            <a:headEnd/>
            <a:tailEnd/>
          </a:ln>
          <a:effectLst/>
        </p:spPr>
      </p:pic>
    </p:spTree>
    <p:extLst>
      <p:ext uri="{BB962C8B-B14F-4D97-AF65-F5344CB8AC3E}">
        <p14:creationId xmlns:p14="http://schemas.microsoft.com/office/powerpoint/2010/main" val="184918192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Point Estimation Example</a:t>
            </a:r>
          </a:p>
        </p:txBody>
      </p:sp>
      <p:pic>
        <p:nvPicPr>
          <p:cNvPr id="4" name="Picture 2"/>
          <p:cNvPicPr>
            <a:picLocks noGrp="1" noChangeAspect="1" noChangeArrowheads="1"/>
          </p:cNvPicPr>
          <p:nvPr>
            <p:ph idx="1"/>
          </p:nvPr>
        </p:nvPicPr>
        <p:blipFill>
          <a:blip r:embed="rId2"/>
          <a:stretch>
            <a:fillRect/>
          </a:stretch>
        </p:blipFill>
        <p:spPr bwMode="auto">
          <a:xfrm>
            <a:off x="668373" y="1935163"/>
            <a:ext cx="7807253" cy="4389437"/>
          </a:xfrm>
          <a:prstGeom prst="rect">
            <a:avLst/>
          </a:prstGeom>
          <a:noFill/>
          <a:ln w="9525">
            <a:noFill/>
            <a:miter lim="800000"/>
            <a:headEnd/>
            <a:tailEnd/>
          </a:ln>
          <a:effectLst/>
        </p:spPr>
      </p:pic>
    </p:spTree>
    <p:extLst>
      <p:ext uri="{BB962C8B-B14F-4D97-AF65-F5344CB8AC3E}">
        <p14:creationId xmlns:p14="http://schemas.microsoft.com/office/powerpoint/2010/main" val="251582359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t">
            <a:normAutofit fontScale="90000"/>
          </a:bodyPr>
          <a:lstStyle/>
          <a:p>
            <a:r>
              <a:rPr lang="en-IN" dirty="0"/>
              <a:t>Interval Estimation</a:t>
            </a:r>
            <a:br>
              <a:rPr lang="en-IN" dirty="0"/>
            </a:br>
            <a:endParaRPr lang="en-IN" dirty="0"/>
          </a:p>
        </p:txBody>
      </p:sp>
      <p:sp>
        <p:nvSpPr>
          <p:cNvPr id="3" name="Content Placeholder 2"/>
          <p:cNvSpPr>
            <a:spLocks noGrp="1"/>
          </p:cNvSpPr>
          <p:nvPr>
            <p:ph idx="1"/>
          </p:nvPr>
        </p:nvSpPr>
        <p:spPr>
          <a:xfrm>
            <a:off x="457200" y="1524000"/>
            <a:ext cx="8229600" cy="5181600"/>
          </a:xfrm>
        </p:spPr>
        <p:txBody>
          <a:bodyPr>
            <a:normAutofit fontScale="92500" lnSpcReduction="20000"/>
          </a:bodyPr>
          <a:lstStyle/>
          <a:p>
            <a:pPr algn="just"/>
            <a:r>
              <a:rPr lang="en-IN" sz="2000" dirty="0"/>
              <a:t>An interval estimate is defined by two numbers, between which a population parameter is said to lie. For example, </a:t>
            </a:r>
            <a:r>
              <a:rPr lang="en-IN" sz="2000" i="1" dirty="0"/>
              <a:t>a</a:t>
            </a:r>
            <a:r>
              <a:rPr lang="en-IN" sz="2000" dirty="0"/>
              <a:t> &lt; x &lt; </a:t>
            </a:r>
            <a:r>
              <a:rPr lang="en-IN" sz="2000" i="1" dirty="0"/>
              <a:t>b</a:t>
            </a:r>
            <a:r>
              <a:rPr lang="en-IN" sz="2000" dirty="0"/>
              <a:t> is an interval estimate of the population mean μ. It indicates that the population mean is greater than </a:t>
            </a:r>
            <a:r>
              <a:rPr lang="en-IN" sz="2000" i="1" dirty="0"/>
              <a:t>a</a:t>
            </a:r>
            <a:r>
              <a:rPr lang="en-IN" sz="2000" dirty="0"/>
              <a:t> but less than </a:t>
            </a:r>
            <a:r>
              <a:rPr lang="en-IN" sz="2000" i="1" dirty="0"/>
              <a:t>b</a:t>
            </a:r>
            <a:r>
              <a:rPr lang="en-IN" sz="2000" dirty="0" smtClean="0"/>
              <a:t>.</a:t>
            </a:r>
          </a:p>
          <a:p>
            <a:pPr algn="just" fontAlgn="base"/>
            <a:r>
              <a:rPr lang="en-IN" sz="2000" dirty="0"/>
              <a:t>An </a:t>
            </a:r>
            <a:r>
              <a:rPr lang="en-IN" sz="2000" b="1" dirty="0"/>
              <a:t>interval estimate</a:t>
            </a:r>
            <a:r>
              <a:rPr lang="en-IN" sz="2000" dirty="0"/>
              <a:t> is a range of values, derived from sample data, that is used to estimate an unknown population parameter. Unlike a point estimate, which gives a single value, an interval estimate provides a range within which the true value of the parameter is likely to fall, offering a degree of uncertainty.</a:t>
            </a:r>
          </a:p>
          <a:p>
            <a:pPr algn="just" fontAlgn="base"/>
            <a:r>
              <a:rPr lang="en-IN" sz="2000" dirty="0"/>
              <a:t>The most common type of interval estimate is a </a:t>
            </a:r>
            <a:r>
              <a:rPr lang="en-IN" sz="2000" b="1" dirty="0"/>
              <a:t>confidence interval</a:t>
            </a:r>
            <a:r>
              <a:rPr lang="en-IN" sz="2000" dirty="0"/>
              <a:t>, which specifies a range around the point estimate and includes a confidence level (typically 90%, 95%, or 99%). This confidence level represents the probability that the interval contains the true population parameter.</a:t>
            </a:r>
          </a:p>
          <a:p>
            <a:pPr algn="just" fontAlgn="base"/>
            <a:r>
              <a:rPr lang="en-IN" sz="2000" dirty="0"/>
              <a:t>For example:</a:t>
            </a:r>
          </a:p>
          <a:p>
            <a:pPr algn="just" fontAlgn="base"/>
            <a:r>
              <a:rPr lang="en-IN" sz="2000" dirty="0"/>
              <a:t>If we calculate a </a:t>
            </a:r>
            <a:r>
              <a:rPr lang="en-IN" sz="2000" b="1" dirty="0"/>
              <a:t>95% confidence interval</a:t>
            </a:r>
            <a:r>
              <a:rPr lang="en-IN" sz="2000" dirty="0"/>
              <a:t> for the population mean, it means that if we were to take many samples and calculate confidence intervals for each, 95% of those intervals would contain the true population mean.</a:t>
            </a:r>
          </a:p>
          <a:p>
            <a:pPr algn="just"/>
            <a:endParaRPr lang="en-IN" sz="2000" dirty="0"/>
          </a:p>
        </p:txBody>
      </p:sp>
    </p:spTree>
    <p:extLst>
      <p:ext uri="{BB962C8B-B14F-4D97-AF65-F5344CB8AC3E}">
        <p14:creationId xmlns:p14="http://schemas.microsoft.com/office/powerpoint/2010/main" val="2222630834"/>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t"/>
          <a:lstStyle/>
          <a:p>
            <a:r>
              <a:rPr lang="en-IN" dirty="0"/>
              <a:t>Confidence Intervals </a:t>
            </a:r>
          </a:p>
        </p:txBody>
      </p:sp>
      <p:sp>
        <p:nvSpPr>
          <p:cNvPr id="3" name="Content Placeholder 2"/>
          <p:cNvSpPr>
            <a:spLocks noGrp="1"/>
          </p:cNvSpPr>
          <p:nvPr>
            <p:ph idx="1"/>
          </p:nvPr>
        </p:nvSpPr>
        <p:spPr/>
        <p:txBody>
          <a:bodyPr>
            <a:normAutofit/>
          </a:bodyPr>
          <a:lstStyle/>
          <a:p>
            <a:pPr algn="just"/>
            <a:r>
              <a:rPr lang="en-IN" sz="2000" b="1" dirty="0"/>
              <a:t>Confidence Intervals as Interval Estimates</a:t>
            </a:r>
          </a:p>
          <a:p>
            <a:pPr marL="0" lvl="0" indent="0" algn="just" eaLnBrk="0" fontAlgn="base" hangingPunct="0">
              <a:spcBef>
                <a:spcPct val="0"/>
              </a:spcBef>
              <a:spcAft>
                <a:spcPct val="0"/>
              </a:spcAft>
              <a:buClrTx/>
              <a:buSzTx/>
              <a:buNone/>
            </a:pPr>
            <a:r>
              <a:rPr lang="en-US" sz="2000" dirty="0"/>
              <a:t>confidence interval is a specific type of the interval estimate that provides the range of values for the population parameter with an associated confidence level.</a:t>
            </a:r>
            <a:endParaRPr lang="en-US" sz="1050" dirty="0"/>
          </a:p>
          <a:p>
            <a:pPr marL="0" lvl="0" indent="0" algn="just" eaLnBrk="0" fontAlgn="base" hangingPunct="0">
              <a:spcBef>
                <a:spcPct val="0"/>
              </a:spcBef>
              <a:spcAft>
                <a:spcPct val="0"/>
              </a:spcAft>
              <a:buClrTx/>
              <a:buSzTx/>
              <a:buNone/>
            </a:pPr>
            <a:r>
              <a:rPr lang="en-US" sz="2000" dirty="0">
                <a:solidFill>
                  <a:srgbClr val="273239"/>
                </a:solidFill>
              </a:rPr>
              <a:t>For example : a 95% confidence interval suggests that if we were to take 100 different samples and compute a confidence interval for the each about 95 of them would contain the true population parameter.</a:t>
            </a:r>
            <a:endParaRPr lang="en-US" sz="2800" dirty="0"/>
          </a:p>
          <a:p>
            <a:pPr algn="just"/>
            <a:endParaRPr lang="en-IN" sz="2000" dirty="0"/>
          </a:p>
        </p:txBody>
      </p:sp>
      <p:sp>
        <p:nvSpPr>
          <p:cNvPr id="5" name="Rectangle 2"/>
          <p:cNvSpPr>
            <a:spLocks noChangeArrowheads="1"/>
          </p:cNvSpPr>
          <p:nvPr/>
        </p:nvSpPr>
        <p:spPr bwMode="auto">
          <a:xfrm>
            <a:off x="0"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916353271"/>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Slide Number Placeholder 5"/>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1A4A6D10-9F2C-41E5-A888-994978FD7751}" type="slidenum">
              <a:rPr lang="tr-TR">
                <a:solidFill>
                  <a:srgbClr val="898989"/>
                </a:solidFill>
                <a:latin typeface="Calibri" panose="020F0502020204030204" pitchFamily="34" charset="0"/>
              </a:rPr>
              <a:pPr eaLnBrk="1" hangingPunct="1"/>
              <a:t>19</a:t>
            </a:fld>
            <a:endParaRPr lang="tr-TR">
              <a:solidFill>
                <a:srgbClr val="898989"/>
              </a:solidFill>
              <a:latin typeface="Calibri" panose="020F0502020204030204" pitchFamily="34" charset="0"/>
            </a:endParaRPr>
          </a:p>
        </p:txBody>
      </p:sp>
      <p:sp>
        <p:nvSpPr>
          <p:cNvPr id="8199" name="Line 2"/>
          <p:cNvSpPr>
            <a:spLocks noChangeShapeType="1"/>
          </p:cNvSpPr>
          <p:nvPr/>
        </p:nvSpPr>
        <p:spPr bwMode="auto">
          <a:xfrm>
            <a:off x="1828800" y="4200525"/>
            <a:ext cx="5105400" cy="0"/>
          </a:xfrm>
          <a:prstGeom prst="line">
            <a:avLst/>
          </a:prstGeom>
          <a:noFill/>
          <a:ln w="9525">
            <a:solidFill>
              <a:srgbClr val="CCCCFF"/>
            </a:solidFill>
            <a:round/>
            <a:headEnd/>
            <a:tailEnd/>
          </a:ln>
          <a:scene3d>
            <a:camera prst="legacyObliqueTopRight"/>
            <a:lightRig rig="legacyFlat3" dir="b"/>
          </a:scene3d>
          <a:sp3d extrusionH="887400" prstMaterial="legacyMatte">
            <a:bevelT w="13500" h="13500" prst="angle"/>
            <a:bevelB w="13500" h="13500" prst="angle"/>
            <a:extrusionClr>
              <a:srgbClr val="CCCCFF"/>
            </a:extrusionClr>
            <a:contourClr>
              <a:srgbClr val="CCCCFF"/>
            </a:contourClr>
          </a:sp3d>
          <a:extLst>
            <a:ext uri="{909E8E84-426E-40DD-AFC4-6F175D3DCCD1}">
              <a14:hiddenFill xmlns:a14="http://schemas.microsoft.com/office/drawing/2010/main">
                <a:noFill/>
              </a14:hiddenFill>
            </a:ext>
          </a:extLst>
        </p:spPr>
        <p:txBody>
          <a:bodyPr wrap="none" anchor="ctr">
            <a:flatTx/>
          </a:bodyPr>
          <a:lstStyle/>
          <a:p>
            <a:endParaRPr lang="en-IN"/>
          </a:p>
        </p:txBody>
      </p:sp>
      <p:sp>
        <p:nvSpPr>
          <p:cNvPr id="97283" name="Text Box 3"/>
          <p:cNvSpPr txBox="1">
            <a:spLocks noChangeArrowheads="1"/>
          </p:cNvSpPr>
          <p:nvPr/>
        </p:nvSpPr>
        <p:spPr bwMode="auto">
          <a:xfrm>
            <a:off x="4175125" y="4165600"/>
            <a:ext cx="184150" cy="457200"/>
          </a:xfrm>
          <a:prstGeom prst="rect">
            <a:avLst/>
          </a:prstGeom>
          <a:noFill/>
          <a:ln w="9525">
            <a:noFill/>
            <a:miter lim="800000"/>
            <a:headEnd/>
            <a:tailEnd/>
          </a:ln>
          <a:effectLst>
            <a:outerShdw dist="117088" dir="19163922" algn="ctr" rotWithShape="0">
              <a:srgbClr val="FF0000"/>
            </a:outerShdw>
          </a:effectLst>
        </p:spPr>
        <p:txBody>
          <a:bodyPr wrap="none">
            <a:spAutoFit/>
          </a:bodyPr>
          <a:lstStyle/>
          <a:p>
            <a:pPr algn="ctr" fontAlgn="auto">
              <a:spcAft>
                <a:spcPts val="0"/>
              </a:spcAft>
              <a:defRPr/>
            </a:pPr>
            <a:endParaRPr lang="en-US" sz="2400">
              <a:latin typeface="Times New Roman" pitchFamily="18" charset="0"/>
              <a:cs typeface="+mn-cs"/>
            </a:endParaRPr>
          </a:p>
        </p:txBody>
      </p:sp>
      <p:graphicFrame>
        <p:nvGraphicFramePr>
          <p:cNvPr id="97284" name="Object 2"/>
          <p:cNvGraphicFramePr>
            <a:graphicFrameLocks noChangeAspect="1"/>
          </p:cNvGraphicFramePr>
          <p:nvPr/>
        </p:nvGraphicFramePr>
        <p:xfrm>
          <a:off x="4267200" y="4229100"/>
          <a:ext cx="304800" cy="409575"/>
        </p:xfrm>
        <a:graphic>
          <a:graphicData uri="http://schemas.openxmlformats.org/presentationml/2006/ole">
            <mc:AlternateContent xmlns:mc="http://schemas.openxmlformats.org/markup-compatibility/2006">
              <mc:Choice xmlns:v="urn:schemas-microsoft-com:vml" Requires="v">
                <p:oleObj spid="_x0000_s3130" name="Equation" r:id="rId4" imgW="114120" imgH="164880" progId="Equation.3">
                  <p:embed/>
                </p:oleObj>
              </mc:Choice>
              <mc:Fallback>
                <p:oleObj name="Equation" r:id="rId4" imgW="114120" imgH="16488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267200" y="4229100"/>
                        <a:ext cx="304800" cy="4095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8080"/>
                            </a:solidFill>
                            <a:miter lim="800000"/>
                            <a:headEnd/>
                            <a:tailEnd/>
                          </a14:hiddenLine>
                        </a:ext>
                        <a:ext uri="{AF507438-7753-43E0-B8FC-AC1667EBCBE1}">
                          <a14:hiddenEffects xmlns:a14="http://schemas.microsoft.com/office/drawing/2010/main">
                            <a:effectLst>
                              <a:outerShdw dist="107763" dir="18900000" algn="ctr" rotWithShape="0">
                                <a:srgbClr val="808080"/>
                              </a:outerShdw>
                            </a:effectLst>
                          </a14:hiddenEffects>
                        </a:ext>
                      </a:extLst>
                    </p:spPr>
                  </p:pic>
                </p:oleObj>
              </mc:Fallback>
            </mc:AlternateContent>
          </a:graphicData>
        </a:graphic>
      </p:graphicFrame>
      <p:graphicFrame>
        <p:nvGraphicFramePr>
          <p:cNvPr id="97285" name="Object 3"/>
          <p:cNvGraphicFramePr>
            <a:graphicFrameLocks noChangeAspect="1"/>
          </p:cNvGraphicFramePr>
          <p:nvPr/>
        </p:nvGraphicFramePr>
        <p:xfrm>
          <a:off x="3505200" y="5267325"/>
          <a:ext cx="1524000" cy="1057275"/>
        </p:xfrm>
        <a:graphic>
          <a:graphicData uri="http://schemas.openxmlformats.org/presentationml/2006/ole">
            <mc:AlternateContent xmlns:mc="http://schemas.openxmlformats.org/markup-compatibility/2006">
              <mc:Choice xmlns:v="urn:schemas-microsoft-com:vml" Requires="v">
                <p:oleObj spid="_x0000_s3131" name="Equation" r:id="rId6" imgW="558720" imgH="419040" progId="Equation.3">
                  <p:embed/>
                </p:oleObj>
              </mc:Choice>
              <mc:Fallback>
                <p:oleObj name="Equation" r:id="rId6" imgW="558720" imgH="419040"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505200" y="5267325"/>
                        <a:ext cx="1524000" cy="1057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2" name="Group 6"/>
          <p:cNvGrpSpPr>
            <a:grpSpLocks/>
          </p:cNvGrpSpPr>
          <p:nvPr/>
        </p:nvGrpSpPr>
        <p:grpSpPr bwMode="auto">
          <a:xfrm>
            <a:off x="2209800" y="4097338"/>
            <a:ext cx="4483100" cy="865187"/>
            <a:chOff x="1392" y="1392"/>
            <a:chExt cx="2824" cy="545"/>
          </a:xfrm>
        </p:grpSpPr>
        <p:graphicFrame>
          <p:nvGraphicFramePr>
            <p:cNvPr id="8196" name="Object 4"/>
            <p:cNvGraphicFramePr>
              <a:graphicFrameLocks noChangeAspect="1"/>
            </p:cNvGraphicFramePr>
            <p:nvPr/>
          </p:nvGraphicFramePr>
          <p:xfrm>
            <a:off x="1392" y="1392"/>
            <a:ext cx="816" cy="545"/>
          </p:xfrm>
          <a:graphic>
            <a:graphicData uri="http://schemas.openxmlformats.org/presentationml/2006/ole">
              <mc:AlternateContent xmlns:mc="http://schemas.openxmlformats.org/markup-compatibility/2006">
                <mc:Choice xmlns:v="urn:schemas-microsoft-com:vml" Requires="v">
                  <p:oleObj spid="_x0000_s3132" name="Equation" r:id="rId8" imgW="685800" imgH="419040" progId="Equation.3">
                    <p:embed/>
                  </p:oleObj>
                </mc:Choice>
                <mc:Fallback>
                  <p:oleObj name="Equation" r:id="rId8" imgW="685800" imgH="419040" progId="Equation.3">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392" y="1392"/>
                          <a:ext cx="816" cy="54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197" name="Object 5"/>
            <p:cNvGraphicFramePr>
              <a:graphicFrameLocks noChangeAspect="1"/>
            </p:cNvGraphicFramePr>
            <p:nvPr/>
          </p:nvGraphicFramePr>
          <p:xfrm>
            <a:off x="3360" y="1392"/>
            <a:ext cx="856" cy="545"/>
          </p:xfrm>
          <a:graphic>
            <a:graphicData uri="http://schemas.openxmlformats.org/presentationml/2006/ole">
              <mc:AlternateContent xmlns:mc="http://schemas.openxmlformats.org/markup-compatibility/2006">
                <mc:Choice xmlns:v="urn:schemas-microsoft-com:vml" Requires="v">
                  <p:oleObj spid="_x0000_s3133" name="Equation" r:id="rId10" imgW="711000" imgH="419040" progId="Equation.3">
                    <p:embed/>
                  </p:oleObj>
                </mc:Choice>
                <mc:Fallback>
                  <p:oleObj name="Equation" r:id="rId10" imgW="711000" imgH="419040" progId="Equation.3">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360" y="1392"/>
                          <a:ext cx="856" cy="54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97289" name="AutoShape 9"/>
          <p:cNvSpPr>
            <a:spLocks/>
          </p:cNvSpPr>
          <p:nvPr/>
        </p:nvSpPr>
        <p:spPr bwMode="auto">
          <a:xfrm rot="-5400000">
            <a:off x="4238625" y="4076700"/>
            <a:ext cx="209550" cy="2438400"/>
          </a:xfrm>
          <a:prstGeom prst="leftBrace">
            <a:avLst>
              <a:gd name="adj1" fmla="val 96970"/>
              <a:gd name="adj2" fmla="val 49931"/>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GB">
              <a:latin typeface="Calibri" panose="020F0502020204030204" pitchFamily="34" charset="0"/>
            </a:endParaRPr>
          </a:p>
        </p:txBody>
      </p:sp>
      <p:sp>
        <p:nvSpPr>
          <p:cNvPr id="97290" name="Text Box 10"/>
          <p:cNvSpPr txBox="1">
            <a:spLocks noChangeArrowheads="1"/>
          </p:cNvSpPr>
          <p:nvPr/>
        </p:nvSpPr>
        <p:spPr bwMode="auto">
          <a:xfrm>
            <a:off x="381000" y="5191125"/>
            <a:ext cx="2674938" cy="466725"/>
          </a:xfrm>
          <a:prstGeom prst="rect">
            <a:avLst/>
          </a:prstGeom>
          <a:noFill/>
          <a:ln w="9525">
            <a:solidFill>
              <a:schemeClr val="tx2"/>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sz="2400">
                <a:solidFill>
                  <a:schemeClr val="tx2"/>
                </a:solidFill>
                <a:latin typeface="Arial Narrow" panose="020B0606020202030204" pitchFamily="34" charset="0"/>
              </a:rPr>
              <a:t>Lower confidence limit</a:t>
            </a:r>
          </a:p>
        </p:txBody>
      </p:sp>
      <p:sp>
        <p:nvSpPr>
          <p:cNvPr id="97291" name="Line 11"/>
          <p:cNvSpPr>
            <a:spLocks noChangeShapeType="1"/>
          </p:cNvSpPr>
          <p:nvPr/>
        </p:nvSpPr>
        <p:spPr bwMode="auto">
          <a:xfrm flipV="1">
            <a:off x="1600200" y="4800600"/>
            <a:ext cx="990600" cy="381000"/>
          </a:xfrm>
          <a:prstGeom prst="line">
            <a:avLst/>
          </a:prstGeom>
          <a:noFill/>
          <a:ln w="9525">
            <a:solidFill>
              <a:schemeClr val="tx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IN"/>
          </a:p>
        </p:txBody>
      </p:sp>
      <p:sp>
        <p:nvSpPr>
          <p:cNvPr id="97292" name="Text Box 12"/>
          <p:cNvSpPr txBox="1">
            <a:spLocks noChangeArrowheads="1"/>
          </p:cNvSpPr>
          <p:nvPr/>
        </p:nvSpPr>
        <p:spPr bwMode="auto">
          <a:xfrm>
            <a:off x="5783263" y="5186363"/>
            <a:ext cx="2674937" cy="466725"/>
          </a:xfrm>
          <a:prstGeom prst="rect">
            <a:avLst/>
          </a:prstGeom>
          <a:noFill/>
          <a:ln w="9525">
            <a:solidFill>
              <a:schemeClr val="tx2"/>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sz="2400">
                <a:solidFill>
                  <a:schemeClr val="tx2"/>
                </a:solidFill>
                <a:latin typeface="Arial Narrow" panose="020B0606020202030204" pitchFamily="34" charset="0"/>
              </a:rPr>
              <a:t>Upper confidence limit</a:t>
            </a:r>
          </a:p>
        </p:txBody>
      </p:sp>
      <p:sp>
        <p:nvSpPr>
          <p:cNvPr id="97293" name="Line 13"/>
          <p:cNvSpPr>
            <a:spLocks noChangeShapeType="1"/>
          </p:cNvSpPr>
          <p:nvPr/>
        </p:nvSpPr>
        <p:spPr bwMode="auto">
          <a:xfrm flipH="1" flipV="1">
            <a:off x="5943600" y="4810125"/>
            <a:ext cx="914400" cy="381000"/>
          </a:xfrm>
          <a:prstGeom prst="line">
            <a:avLst/>
          </a:prstGeom>
          <a:noFill/>
          <a:ln w="9525">
            <a:solidFill>
              <a:schemeClr val="tx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IN"/>
          </a:p>
        </p:txBody>
      </p:sp>
      <p:grpSp>
        <p:nvGrpSpPr>
          <p:cNvPr id="3" name="Group 14"/>
          <p:cNvGrpSpPr>
            <a:grpSpLocks/>
          </p:cNvGrpSpPr>
          <p:nvPr/>
        </p:nvGrpSpPr>
        <p:grpSpPr bwMode="auto">
          <a:xfrm>
            <a:off x="3449638" y="2620963"/>
            <a:ext cx="1920875" cy="1427162"/>
            <a:chOff x="2173" y="541"/>
            <a:chExt cx="1210" cy="899"/>
          </a:xfrm>
        </p:grpSpPr>
        <p:grpSp>
          <p:nvGrpSpPr>
            <p:cNvPr id="8222" name="Group 15"/>
            <p:cNvGrpSpPr>
              <a:grpSpLocks/>
            </p:cNvGrpSpPr>
            <p:nvPr/>
          </p:nvGrpSpPr>
          <p:grpSpPr bwMode="auto">
            <a:xfrm>
              <a:off x="2173" y="541"/>
              <a:ext cx="563" cy="899"/>
              <a:chOff x="2173" y="541"/>
              <a:chExt cx="563" cy="899"/>
            </a:xfrm>
          </p:grpSpPr>
          <p:sp>
            <p:nvSpPr>
              <p:cNvPr id="8231" name="Line 16"/>
              <p:cNvSpPr>
                <a:spLocks noChangeShapeType="1"/>
              </p:cNvSpPr>
              <p:nvPr/>
            </p:nvSpPr>
            <p:spPr bwMode="auto">
              <a:xfrm>
                <a:off x="2173" y="1273"/>
                <a:ext cx="0" cy="144"/>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8232" name="Line 17"/>
              <p:cNvSpPr>
                <a:spLocks noChangeShapeType="1"/>
              </p:cNvSpPr>
              <p:nvPr/>
            </p:nvSpPr>
            <p:spPr bwMode="auto">
              <a:xfrm>
                <a:off x="2256" y="1200"/>
                <a:ext cx="0" cy="240"/>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8233" name="Line 18"/>
              <p:cNvSpPr>
                <a:spLocks noChangeShapeType="1"/>
              </p:cNvSpPr>
              <p:nvPr/>
            </p:nvSpPr>
            <p:spPr bwMode="auto">
              <a:xfrm>
                <a:off x="2352" y="1104"/>
                <a:ext cx="0" cy="336"/>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8234" name="Line 19"/>
              <p:cNvSpPr>
                <a:spLocks noChangeShapeType="1"/>
              </p:cNvSpPr>
              <p:nvPr/>
            </p:nvSpPr>
            <p:spPr bwMode="auto">
              <a:xfrm>
                <a:off x="2448" y="938"/>
                <a:ext cx="0" cy="502"/>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8235" name="Line 20"/>
              <p:cNvSpPr>
                <a:spLocks noChangeShapeType="1"/>
              </p:cNvSpPr>
              <p:nvPr/>
            </p:nvSpPr>
            <p:spPr bwMode="auto">
              <a:xfrm>
                <a:off x="2544" y="809"/>
                <a:ext cx="0" cy="618"/>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8236" name="Line 21"/>
              <p:cNvSpPr>
                <a:spLocks noChangeShapeType="1"/>
              </p:cNvSpPr>
              <p:nvPr/>
            </p:nvSpPr>
            <p:spPr bwMode="auto">
              <a:xfrm>
                <a:off x="2640" y="637"/>
                <a:ext cx="0" cy="797"/>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8237" name="Line 22"/>
              <p:cNvSpPr>
                <a:spLocks noChangeShapeType="1"/>
              </p:cNvSpPr>
              <p:nvPr/>
            </p:nvSpPr>
            <p:spPr bwMode="auto">
              <a:xfrm flipH="1">
                <a:off x="2736" y="541"/>
                <a:ext cx="0" cy="899"/>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grpSp>
        <p:grpSp>
          <p:nvGrpSpPr>
            <p:cNvPr id="8223" name="Group 23"/>
            <p:cNvGrpSpPr>
              <a:grpSpLocks/>
            </p:cNvGrpSpPr>
            <p:nvPr/>
          </p:nvGrpSpPr>
          <p:grpSpPr bwMode="auto">
            <a:xfrm flipH="1">
              <a:off x="2820" y="541"/>
              <a:ext cx="563" cy="899"/>
              <a:chOff x="2173" y="541"/>
              <a:chExt cx="563" cy="899"/>
            </a:xfrm>
          </p:grpSpPr>
          <p:sp>
            <p:nvSpPr>
              <p:cNvPr id="8224" name="Line 24"/>
              <p:cNvSpPr>
                <a:spLocks noChangeShapeType="1"/>
              </p:cNvSpPr>
              <p:nvPr/>
            </p:nvSpPr>
            <p:spPr bwMode="auto">
              <a:xfrm>
                <a:off x="2173" y="1273"/>
                <a:ext cx="0" cy="144"/>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8225" name="Line 25"/>
              <p:cNvSpPr>
                <a:spLocks noChangeShapeType="1"/>
              </p:cNvSpPr>
              <p:nvPr/>
            </p:nvSpPr>
            <p:spPr bwMode="auto">
              <a:xfrm>
                <a:off x="2256" y="1200"/>
                <a:ext cx="0" cy="240"/>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8226" name="Line 26"/>
              <p:cNvSpPr>
                <a:spLocks noChangeShapeType="1"/>
              </p:cNvSpPr>
              <p:nvPr/>
            </p:nvSpPr>
            <p:spPr bwMode="auto">
              <a:xfrm>
                <a:off x="2352" y="1104"/>
                <a:ext cx="0" cy="336"/>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8227" name="Line 27"/>
              <p:cNvSpPr>
                <a:spLocks noChangeShapeType="1"/>
              </p:cNvSpPr>
              <p:nvPr/>
            </p:nvSpPr>
            <p:spPr bwMode="auto">
              <a:xfrm>
                <a:off x="2448" y="938"/>
                <a:ext cx="0" cy="502"/>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8228" name="Line 28"/>
              <p:cNvSpPr>
                <a:spLocks noChangeShapeType="1"/>
              </p:cNvSpPr>
              <p:nvPr/>
            </p:nvSpPr>
            <p:spPr bwMode="auto">
              <a:xfrm>
                <a:off x="2544" y="809"/>
                <a:ext cx="0" cy="618"/>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8229" name="Line 29"/>
              <p:cNvSpPr>
                <a:spLocks noChangeShapeType="1"/>
              </p:cNvSpPr>
              <p:nvPr/>
            </p:nvSpPr>
            <p:spPr bwMode="auto">
              <a:xfrm>
                <a:off x="2640" y="637"/>
                <a:ext cx="0" cy="797"/>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8230" name="Line 30"/>
              <p:cNvSpPr>
                <a:spLocks noChangeShapeType="1"/>
              </p:cNvSpPr>
              <p:nvPr/>
            </p:nvSpPr>
            <p:spPr bwMode="auto">
              <a:xfrm flipH="1">
                <a:off x="2736" y="541"/>
                <a:ext cx="0" cy="899"/>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grpSp>
      </p:grpSp>
      <p:sp>
        <p:nvSpPr>
          <p:cNvPr id="97311" name="Text Box 31"/>
          <p:cNvSpPr txBox="1">
            <a:spLocks noChangeArrowheads="1"/>
          </p:cNvSpPr>
          <p:nvPr/>
        </p:nvSpPr>
        <p:spPr bwMode="auto">
          <a:xfrm>
            <a:off x="4013200" y="3133725"/>
            <a:ext cx="792163" cy="466725"/>
          </a:xfrm>
          <a:prstGeom prst="rect">
            <a:avLst/>
          </a:prstGeom>
          <a:solidFill>
            <a:schemeClr val="bg1">
              <a:alpha val="50195"/>
            </a:schemeClr>
          </a:solidFill>
          <a:ln w="9525">
            <a:solidFill>
              <a:schemeClr val="tx2"/>
            </a:solidFill>
            <a:miter lim="800000"/>
            <a:headEnd/>
            <a:tailEnd/>
          </a:ln>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sz="2400" b="1">
                <a:solidFill>
                  <a:schemeClr val="tx2"/>
                </a:solidFill>
                <a:latin typeface="Times New Roman" panose="02020603050405020304" pitchFamily="18" charset="0"/>
              </a:rPr>
              <a:t>1 - </a:t>
            </a:r>
            <a:r>
              <a:rPr lang="en-US" sz="2400" b="1">
                <a:solidFill>
                  <a:schemeClr val="tx2"/>
                </a:solidFill>
                <a:latin typeface="Symbol" panose="05050102010706020507" pitchFamily="18" charset="2"/>
              </a:rPr>
              <a:t>a</a:t>
            </a:r>
            <a:endParaRPr lang="en-US" sz="2400" b="1">
              <a:solidFill>
                <a:schemeClr val="tx2"/>
              </a:solidFill>
              <a:latin typeface="Times New Roman" panose="02020603050405020304" pitchFamily="18" charset="0"/>
            </a:endParaRPr>
          </a:p>
        </p:txBody>
      </p:sp>
      <p:sp>
        <p:nvSpPr>
          <p:cNvPr id="8209" name="Line 32"/>
          <p:cNvSpPr>
            <a:spLocks noChangeShapeType="1"/>
          </p:cNvSpPr>
          <p:nvPr/>
        </p:nvSpPr>
        <p:spPr bwMode="auto">
          <a:xfrm>
            <a:off x="2362200" y="4032250"/>
            <a:ext cx="4267200"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grpSp>
        <p:nvGrpSpPr>
          <p:cNvPr id="8210" name="Group 33"/>
          <p:cNvGrpSpPr>
            <a:grpSpLocks/>
          </p:cNvGrpSpPr>
          <p:nvPr/>
        </p:nvGrpSpPr>
        <p:grpSpPr bwMode="auto">
          <a:xfrm>
            <a:off x="2286000" y="2562225"/>
            <a:ext cx="4248150" cy="1485900"/>
            <a:chOff x="1488" y="504"/>
            <a:chExt cx="2676" cy="936"/>
          </a:xfrm>
        </p:grpSpPr>
        <p:sp>
          <p:nvSpPr>
            <p:cNvPr id="8220" name="Freeform 34"/>
            <p:cNvSpPr>
              <a:spLocks/>
            </p:cNvSpPr>
            <p:nvPr/>
          </p:nvSpPr>
          <p:spPr bwMode="auto">
            <a:xfrm>
              <a:off x="1488" y="504"/>
              <a:ext cx="1344" cy="936"/>
            </a:xfrm>
            <a:custGeom>
              <a:avLst/>
              <a:gdLst>
                <a:gd name="T0" fmla="*/ 0 w 1344"/>
                <a:gd name="T1" fmla="*/ 936 h 936"/>
                <a:gd name="T2" fmla="*/ 768 w 1344"/>
                <a:gd name="T3" fmla="*/ 744 h 936"/>
                <a:gd name="T4" fmla="*/ 1200 w 1344"/>
                <a:gd name="T5" fmla="*/ 120 h 936"/>
                <a:gd name="T6" fmla="*/ 1344 w 1344"/>
                <a:gd name="T7" fmla="*/ 24 h 936"/>
                <a:gd name="T8" fmla="*/ 0 60000 65536"/>
                <a:gd name="T9" fmla="*/ 0 60000 65536"/>
                <a:gd name="T10" fmla="*/ 0 60000 65536"/>
                <a:gd name="T11" fmla="*/ 0 60000 65536"/>
                <a:gd name="T12" fmla="*/ 0 w 1344"/>
                <a:gd name="T13" fmla="*/ 0 h 936"/>
                <a:gd name="T14" fmla="*/ 1344 w 1344"/>
                <a:gd name="T15" fmla="*/ 936 h 936"/>
              </a:gdLst>
              <a:ahLst/>
              <a:cxnLst>
                <a:cxn ang="T8">
                  <a:pos x="T0" y="T1"/>
                </a:cxn>
                <a:cxn ang="T9">
                  <a:pos x="T2" y="T3"/>
                </a:cxn>
                <a:cxn ang="T10">
                  <a:pos x="T4" y="T5"/>
                </a:cxn>
                <a:cxn ang="T11">
                  <a:pos x="T6" y="T7"/>
                </a:cxn>
              </a:cxnLst>
              <a:rect l="T12" t="T13" r="T14" b="T15"/>
              <a:pathLst>
                <a:path w="1344" h="936">
                  <a:moveTo>
                    <a:pt x="0" y="936"/>
                  </a:moveTo>
                  <a:cubicBezTo>
                    <a:pt x="284" y="908"/>
                    <a:pt x="568" y="880"/>
                    <a:pt x="768" y="744"/>
                  </a:cubicBezTo>
                  <a:cubicBezTo>
                    <a:pt x="968" y="608"/>
                    <a:pt x="1104" y="240"/>
                    <a:pt x="1200" y="120"/>
                  </a:cubicBezTo>
                  <a:cubicBezTo>
                    <a:pt x="1296" y="0"/>
                    <a:pt x="1320" y="40"/>
                    <a:pt x="1344" y="24"/>
                  </a:cubicBez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IN"/>
            </a:p>
          </p:txBody>
        </p:sp>
        <p:sp>
          <p:nvSpPr>
            <p:cNvPr id="8221" name="Freeform 35"/>
            <p:cNvSpPr>
              <a:spLocks/>
            </p:cNvSpPr>
            <p:nvPr/>
          </p:nvSpPr>
          <p:spPr bwMode="auto">
            <a:xfrm flipH="1">
              <a:off x="2820" y="504"/>
              <a:ext cx="1344" cy="936"/>
            </a:xfrm>
            <a:custGeom>
              <a:avLst/>
              <a:gdLst>
                <a:gd name="T0" fmla="*/ 0 w 1344"/>
                <a:gd name="T1" fmla="*/ 936 h 936"/>
                <a:gd name="T2" fmla="*/ 768 w 1344"/>
                <a:gd name="T3" fmla="*/ 744 h 936"/>
                <a:gd name="T4" fmla="*/ 1200 w 1344"/>
                <a:gd name="T5" fmla="*/ 120 h 936"/>
                <a:gd name="T6" fmla="*/ 1344 w 1344"/>
                <a:gd name="T7" fmla="*/ 24 h 936"/>
                <a:gd name="T8" fmla="*/ 0 60000 65536"/>
                <a:gd name="T9" fmla="*/ 0 60000 65536"/>
                <a:gd name="T10" fmla="*/ 0 60000 65536"/>
                <a:gd name="T11" fmla="*/ 0 60000 65536"/>
                <a:gd name="T12" fmla="*/ 0 w 1344"/>
                <a:gd name="T13" fmla="*/ 0 h 936"/>
                <a:gd name="T14" fmla="*/ 1344 w 1344"/>
                <a:gd name="T15" fmla="*/ 936 h 936"/>
              </a:gdLst>
              <a:ahLst/>
              <a:cxnLst>
                <a:cxn ang="T8">
                  <a:pos x="T0" y="T1"/>
                </a:cxn>
                <a:cxn ang="T9">
                  <a:pos x="T2" y="T3"/>
                </a:cxn>
                <a:cxn ang="T10">
                  <a:pos x="T4" y="T5"/>
                </a:cxn>
                <a:cxn ang="T11">
                  <a:pos x="T6" y="T7"/>
                </a:cxn>
              </a:cxnLst>
              <a:rect l="T12" t="T13" r="T14" b="T15"/>
              <a:pathLst>
                <a:path w="1344" h="936">
                  <a:moveTo>
                    <a:pt x="0" y="936"/>
                  </a:moveTo>
                  <a:cubicBezTo>
                    <a:pt x="284" y="908"/>
                    <a:pt x="568" y="880"/>
                    <a:pt x="768" y="744"/>
                  </a:cubicBezTo>
                  <a:cubicBezTo>
                    <a:pt x="968" y="608"/>
                    <a:pt x="1104" y="240"/>
                    <a:pt x="1200" y="120"/>
                  </a:cubicBezTo>
                  <a:cubicBezTo>
                    <a:pt x="1296" y="0"/>
                    <a:pt x="1320" y="40"/>
                    <a:pt x="1344" y="24"/>
                  </a:cubicBez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IN"/>
            </a:p>
          </p:txBody>
        </p:sp>
      </p:grpSp>
      <p:grpSp>
        <p:nvGrpSpPr>
          <p:cNvPr id="7" name="Group 36"/>
          <p:cNvGrpSpPr>
            <a:grpSpLocks/>
          </p:cNvGrpSpPr>
          <p:nvPr/>
        </p:nvGrpSpPr>
        <p:grpSpPr bwMode="auto">
          <a:xfrm>
            <a:off x="4724400" y="2371725"/>
            <a:ext cx="2806700" cy="838200"/>
            <a:chOff x="2976" y="384"/>
            <a:chExt cx="1768" cy="528"/>
          </a:xfrm>
        </p:grpSpPr>
        <p:sp>
          <p:nvSpPr>
            <p:cNvPr id="8218" name="Line 37"/>
            <p:cNvSpPr>
              <a:spLocks noChangeShapeType="1"/>
            </p:cNvSpPr>
            <p:nvPr/>
          </p:nvSpPr>
          <p:spPr bwMode="auto">
            <a:xfrm flipH="1">
              <a:off x="2976" y="672"/>
              <a:ext cx="816" cy="240"/>
            </a:xfrm>
            <a:prstGeom prst="line">
              <a:avLst/>
            </a:prstGeom>
            <a:noFill/>
            <a:ln w="9525">
              <a:solidFill>
                <a:schemeClr val="tx2"/>
              </a:solidFill>
              <a:round/>
              <a:headEnd/>
              <a:tailEnd type="triangle" w="med" len="med"/>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8219" name="Text Box 38"/>
            <p:cNvSpPr txBox="1">
              <a:spLocks noChangeArrowheads="1"/>
            </p:cNvSpPr>
            <p:nvPr/>
          </p:nvSpPr>
          <p:spPr bwMode="auto">
            <a:xfrm>
              <a:off x="3453" y="384"/>
              <a:ext cx="1291" cy="294"/>
            </a:xfrm>
            <a:prstGeom prst="rect">
              <a:avLst/>
            </a:prstGeom>
            <a:noFill/>
            <a:ln w="9525">
              <a:solidFill>
                <a:schemeClr val="tx2"/>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sz="2400">
                  <a:solidFill>
                    <a:schemeClr val="tx2"/>
                  </a:solidFill>
                  <a:latin typeface="Arial Narrow" panose="020B0606020202030204" pitchFamily="34" charset="0"/>
                </a:rPr>
                <a:t>Confidence level</a:t>
              </a:r>
            </a:p>
          </p:txBody>
        </p:sp>
      </p:grpSp>
      <p:sp>
        <p:nvSpPr>
          <p:cNvPr id="8212" name="Line 39"/>
          <p:cNvSpPr>
            <a:spLocks noChangeShapeType="1"/>
          </p:cNvSpPr>
          <p:nvPr/>
        </p:nvSpPr>
        <p:spPr bwMode="auto">
          <a:xfrm flipV="1">
            <a:off x="3124200" y="3819525"/>
            <a:ext cx="0" cy="381000"/>
          </a:xfrm>
          <a:prstGeom prst="line">
            <a:avLst/>
          </a:prstGeom>
          <a:noFill/>
          <a:ln w="9525">
            <a:solidFill>
              <a:srgbClr val="FF0000"/>
            </a:solidFill>
            <a:round/>
            <a:headEnd/>
            <a:tailEnd/>
          </a:ln>
          <a:scene3d>
            <a:camera prst="legacyObliqueTopRight"/>
            <a:lightRig rig="legacyFlat3" dir="b"/>
          </a:scene3d>
          <a:sp3d extrusionH="430200" prstMaterial="legacyMatte">
            <a:bevelT w="13500" h="13500" prst="angle"/>
            <a:bevelB w="13500" h="13500" prst="angle"/>
            <a:extrusionClr>
              <a:srgbClr val="FF0000"/>
            </a:extrusionClr>
            <a:contourClr>
              <a:srgbClr val="FF0000"/>
            </a:contourClr>
          </a:sp3d>
          <a:extLst>
            <a:ext uri="{909E8E84-426E-40DD-AFC4-6F175D3DCCD1}">
              <a14:hiddenFill xmlns:a14="http://schemas.microsoft.com/office/drawing/2010/main">
                <a:noFill/>
              </a14:hiddenFill>
            </a:ext>
          </a:extLst>
        </p:spPr>
        <p:txBody>
          <a:bodyPr wrap="none" anchor="ctr">
            <a:flatTx/>
          </a:bodyPr>
          <a:lstStyle/>
          <a:p>
            <a:endParaRPr lang="en-IN"/>
          </a:p>
        </p:txBody>
      </p:sp>
      <p:sp>
        <p:nvSpPr>
          <p:cNvPr id="97320" name="AutoShape 40"/>
          <p:cNvSpPr>
            <a:spLocks noChangeArrowheads="1"/>
          </p:cNvSpPr>
          <p:nvPr/>
        </p:nvSpPr>
        <p:spPr bwMode="auto">
          <a:xfrm flipH="1">
            <a:off x="3200400" y="3819525"/>
            <a:ext cx="1182688" cy="304800"/>
          </a:xfrm>
          <a:prstGeom prst="rightArrow">
            <a:avLst>
              <a:gd name="adj1" fmla="val 50000"/>
              <a:gd name="adj2" fmla="val 97005"/>
            </a:avLst>
          </a:prstGeom>
          <a:solidFill>
            <a:schemeClr val="bg1"/>
          </a:solidFill>
          <a:ln w="9525">
            <a:noFill/>
            <a:miter lim="800000"/>
            <a:headEnd/>
            <a:tailEnd/>
          </a:ln>
          <a:effectLst>
            <a:outerShdw dist="35921" dir="18900000" algn="ctr" rotWithShape="0">
              <a:srgbClr val="FF0000"/>
            </a:outerShdw>
          </a:effectLst>
        </p:spPr>
        <p:txBody>
          <a:bodyPr wrap="none" anchor="ctr"/>
          <a:lstStyle/>
          <a:p>
            <a:pPr fontAlgn="auto">
              <a:spcBef>
                <a:spcPts val="0"/>
              </a:spcBef>
              <a:spcAft>
                <a:spcPts val="0"/>
              </a:spcAft>
              <a:defRPr/>
            </a:pPr>
            <a:endParaRPr lang="en-GB">
              <a:latin typeface="+mn-lt"/>
              <a:cs typeface="+mn-cs"/>
            </a:endParaRPr>
          </a:p>
        </p:txBody>
      </p:sp>
      <p:sp>
        <p:nvSpPr>
          <p:cNvPr id="8214" name="Line 41"/>
          <p:cNvSpPr>
            <a:spLocks noChangeShapeType="1"/>
          </p:cNvSpPr>
          <p:nvPr/>
        </p:nvSpPr>
        <p:spPr bwMode="auto">
          <a:xfrm flipV="1">
            <a:off x="4343400" y="3743325"/>
            <a:ext cx="0" cy="381000"/>
          </a:xfrm>
          <a:prstGeom prst="line">
            <a:avLst/>
          </a:prstGeom>
          <a:noFill/>
          <a:ln w="9525">
            <a:solidFill>
              <a:schemeClr val="tx1"/>
            </a:solidFill>
            <a:round/>
            <a:headEnd/>
            <a:tailEnd/>
          </a:ln>
          <a:scene3d>
            <a:camera prst="legacyObliqueTopRight"/>
            <a:lightRig rig="legacyFlat3" dir="b"/>
          </a:scene3d>
          <a:sp3d extrusionH="430200" prstMaterial="legacyMatte">
            <a:bevelT w="13500" h="13500" prst="angle"/>
            <a:bevelB w="13500" h="13500" prst="angle"/>
            <a:extrusionClr>
              <a:schemeClr val="tx1"/>
            </a:extrusionClr>
            <a:contourClr>
              <a:schemeClr val="tx1"/>
            </a:contourClr>
          </a:sp3d>
          <a:extLst>
            <a:ext uri="{909E8E84-426E-40DD-AFC4-6F175D3DCCD1}">
              <a14:hiddenFill xmlns:a14="http://schemas.microsoft.com/office/drawing/2010/main">
                <a:noFill/>
              </a14:hiddenFill>
            </a:ext>
          </a:extLst>
        </p:spPr>
        <p:txBody>
          <a:bodyPr wrap="none" anchor="ctr">
            <a:flatTx/>
          </a:bodyPr>
          <a:lstStyle/>
          <a:p>
            <a:endParaRPr lang="en-IN"/>
          </a:p>
        </p:txBody>
      </p:sp>
      <p:sp>
        <p:nvSpPr>
          <p:cNvPr id="97322" name="AutoShape 42"/>
          <p:cNvSpPr>
            <a:spLocks noChangeArrowheads="1"/>
          </p:cNvSpPr>
          <p:nvPr/>
        </p:nvSpPr>
        <p:spPr bwMode="auto">
          <a:xfrm>
            <a:off x="4419600" y="3819525"/>
            <a:ext cx="1295400" cy="333375"/>
          </a:xfrm>
          <a:prstGeom prst="rightArrow">
            <a:avLst>
              <a:gd name="adj1" fmla="val 50000"/>
              <a:gd name="adj2" fmla="val 97143"/>
            </a:avLst>
          </a:prstGeom>
          <a:solidFill>
            <a:schemeClr val="bg1"/>
          </a:solidFill>
          <a:ln w="9525">
            <a:noFill/>
            <a:miter lim="800000"/>
            <a:headEnd/>
            <a:tailEnd/>
          </a:ln>
          <a:effectLst>
            <a:outerShdw dist="25400" dir="16200000" algn="ctr" rotWithShape="0">
              <a:srgbClr val="FF0000"/>
            </a:outerShdw>
          </a:effectLst>
        </p:spPr>
        <p:txBody>
          <a:bodyPr wrap="none" anchor="ctr"/>
          <a:lstStyle/>
          <a:p>
            <a:pPr fontAlgn="auto">
              <a:spcBef>
                <a:spcPts val="0"/>
              </a:spcBef>
              <a:spcAft>
                <a:spcPts val="0"/>
              </a:spcAft>
              <a:defRPr/>
            </a:pPr>
            <a:endParaRPr lang="en-GB">
              <a:latin typeface="+mn-lt"/>
              <a:cs typeface="+mn-cs"/>
            </a:endParaRPr>
          </a:p>
        </p:txBody>
      </p:sp>
      <p:sp>
        <p:nvSpPr>
          <p:cNvPr id="8216" name="Line 43"/>
          <p:cNvSpPr>
            <a:spLocks noChangeShapeType="1"/>
          </p:cNvSpPr>
          <p:nvPr/>
        </p:nvSpPr>
        <p:spPr bwMode="auto">
          <a:xfrm flipV="1">
            <a:off x="5638800" y="3819525"/>
            <a:ext cx="0" cy="381000"/>
          </a:xfrm>
          <a:prstGeom prst="line">
            <a:avLst/>
          </a:prstGeom>
          <a:noFill/>
          <a:ln w="9525">
            <a:solidFill>
              <a:srgbClr val="FF0000"/>
            </a:solidFill>
            <a:round/>
            <a:headEnd/>
            <a:tailEnd/>
          </a:ln>
          <a:scene3d>
            <a:camera prst="legacyObliqueTopRight"/>
            <a:lightRig rig="legacyFlat3" dir="b"/>
          </a:scene3d>
          <a:sp3d extrusionH="430200" prstMaterial="legacyMatte">
            <a:bevelT w="13500" h="13500" prst="angle"/>
            <a:bevelB w="13500" h="13500" prst="angle"/>
            <a:extrusionClr>
              <a:srgbClr val="FF0000"/>
            </a:extrusionClr>
            <a:contourClr>
              <a:srgbClr val="FF0000"/>
            </a:contourClr>
          </a:sp3d>
          <a:extLst>
            <a:ext uri="{909E8E84-426E-40DD-AFC4-6F175D3DCCD1}">
              <a14:hiddenFill xmlns:a14="http://schemas.microsoft.com/office/drawing/2010/main">
                <a:noFill/>
              </a14:hiddenFill>
            </a:ext>
          </a:extLst>
        </p:spPr>
        <p:txBody>
          <a:bodyPr wrap="none" anchor="ctr">
            <a:flatTx/>
          </a:bodyPr>
          <a:lstStyle/>
          <a:p>
            <a:endParaRPr lang="en-IN"/>
          </a:p>
        </p:txBody>
      </p:sp>
      <p:sp>
        <p:nvSpPr>
          <p:cNvPr id="97324" name="Rectangle 44"/>
          <p:cNvSpPr>
            <a:spLocks noGrp="1" noChangeArrowheads="1"/>
          </p:cNvSpPr>
          <p:nvPr>
            <p:ph type="title"/>
          </p:nvPr>
        </p:nvSpPr>
        <p:spPr/>
        <p:txBody>
          <a:bodyPr rtlCol="0">
            <a:normAutofit/>
          </a:bodyPr>
          <a:lstStyle/>
          <a:p>
            <a:pPr eaLnBrk="1" fontAlgn="auto" hangingPunct="1">
              <a:spcAft>
                <a:spcPts val="0"/>
              </a:spcAft>
              <a:defRPr/>
            </a:pPr>
            <a:r>
              <a:rPr lang="en-US" sz="3600" smtClean="0">
                <a:solidFill>
                  <a:srgbClr val="FF0000"/>
                </a:solidFill>
              </a:rPr>
              <a:t>Graphical Demonstration of the Confidence Interval for </a:t>
            </a:r>
            <a:r>
              <a:rPr lang="en-US" sz="3600" smtClean="0">
                <a:solidFill>
                  <a:srgbClr val="FF0000"/>
                </a:solidFill>
                <a:latin typeface="Symbol" pitchFamily="18" charset="2"/>
              </a:rPr>
              <a:t>m</a:t>
            </a:r>
          </a:p>
        </p:txBody>
      </p:sp>
    </p:spTree>
    <p:extLst>
      <p:ext uri="{BB962C8B-B14F-4D97-AF65-F5344CB8AC3E}">
        <p14:creationId xmlns:p14="http://schemas.microsoft.com/office/powerpoint/2010/main" val="3376854303"/>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nodeType="afterEffect">
                                  <p:stCondLst>
                                    <p:cond delay="0"/>
                                  </p:stCondLst>
                                  <p:childTnLst>
                                    <p:set>
                                      <p:cBhvr>
                                        <p:cTn id="6" dur="1" fill="hold">
                                          <p:stCondLst>
                                            <p:cond delay="499"/>
                                          </p:stCondLst>
                                        </p:cTn>
                                        <p:tgtEl>
                                          <p:spTgt spid="97284"/>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2" presetClass="entr" presetSubtype="1"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anim calcmode="lin" valueType="num">
                                      <p:cBhvr additive="base">
                                        <p:cTn id="11" dur="500" fill="hold"/>
                                        <p:tgtEl>
                                          <p:spTgt spid="2"/>
                                        </p:tgtEl>
                                        <p:attrNameLst>
                                          <p:attrName>ppt_x</p:attrName>
                                        </p:attrNameLst>
                                      </p:cBhvr>
                                      <p:tavLst>
                                        <p:tav tm="0">
                                          <p:val>
                                            <p:strVal val="#ppt_x"/>
                                          </p:val>
                                        </p:tav>
                                        <p:tav tm="100000">
                                          <p:val>
                                            <p:strVal val="#ppt_x"/>
                                          </p:val>
                                        </p:tav>
                                      </p:tavLst>
                                    </p:anim>
                                    <p:anim calcmode="lin" valueType="num">
                                      <p:cBhvr additive="base">
                                        <p:cTn id="12" dur="500" fill="hold"/>
                                        <p:tgtEl>
                                          <p:spTgt spid="2"/>
                                        </p:tgtEl>
                                        <p:attrNameLst>
                                          <p:attrName>ppt_y</p:attrName>
                                        </p:attrNameLst>
                                      </p:cBhvr>
                                      <p:tavLst>
                                        <p:tav tm="0">
                                          <p:val>
                                            <p:strVal val="0-#ppt_h/2"/>
                                          </p:val>
                                        </p:tav>
                                        <p:tav tm="100000">
                                          <p:val>
                                            <p:strVal val="#ppt_y"/>
                                          </p:val>
                                        </p:tav>
                                      </p:tavLst>
                                    </p:anim>
                                  </p:childTnLst>
                                </p:cTn>
                              </p:par>
                            </p:childTnLst>
                          </p:cTn>
                        </p:par>
                        <p:par>
                          <p:cTn id="13" fill="hold" nodeType="afterGroup">
                            <p:stCondLst>
                              <p:cond delay="500"/>
                            </p:stCondLst>
                            <p:childTnLst>
                              <p:par>
                                <p:cTn id="14" presetID="22" presetClass="entr" presetSubtype="4" fill="hold" grpId="0" nodeType="afterEffect">
                                  <p:stCondLst>
                                    <p:cond delay="0"/>
                                  </p:stCondLst>
                                  <p:childTnLst>
                                    <p:set>
                                      <p:cBhvr>
                                        <p:cTn id="15" dur="1" fill="hold">
                                          <p:stCondLst>
                                            <p:cond delay="0"/>
                                          </p:stCondLst>
                                        </p:cTn>
                                        <p:tgtEl>
                                          <p:spTgt spid="97290"/>
                                        </p:tgtEl>
                                        <p:attrNameLst>
                                          <p:attrName>style.visibility</p:attrName>
                                        </p:attrNameLst>
                                      </p:cBhvr>
                                      <p:to>
                                        <p:strVal val="visible"/>
                                      </p:to>
                                    </p:set>
                                    <p:animEffect transition="in" filter="wipe(down)">
                                      <p:cBhvr>
                                        <p:cTn id="16" dur="500"/>
                                        <p:tgtEl>
                                          <p:spTgt spid="97290"/>
                                        </p:tgtEl>
                                      </p:cBhvr>
                                    </p:animEffect>
                                  </p:childTnLst>
                                </p:cTn>
                              </p:par>
                            </p:childTnLst>
                          </p:cTn>
                        </p:par>
                        <p:par>
                          <p:cTn id="17" fill="hold" nodeType="afterGroup">
                            <p:stCondLst>
                              <p:cond delay="1000"/>
                            </p:stCondLst>
                            <p:childTnLst>
                              <p:par>
                                <p:cTn id="18" presetID="22" presetClass="entr" presetSubtype="4" fill="hold" grpId="0" nodeType="afterEffect">
                                  <p:stCondLst>
                                    <p:cond delay="0"/>
                                  </p:stCondLst>
                                  <p:childTnLst>
                                    <p:set>
                                      <p:cBhvr>
                                        <p:cTn id="19" dur="1" fill="hold">
                                          <p:stCondLst>
                                            <p:cond delay="0"/>
                                          </p:stCondLst>
                                        </p:cTn>
                                        <p:tgtEl>
                                          <p:spTgt spid="97291"/>
                                        </p:tgtEl>
                                        <p:attrNameLst>
                                          <p:attrName>style.visibility</p:attrName>
                                        </p:attrNameLst>
                                      </p:cBhvr>
                                      <p:to>
                                        <p:strVal val="visible"/>
                                      </p:to>
                                    </p:set>
                                    <p:animEffect transition="in" filter="wipe(down)">
                                      <p:cBhvr>
                                        <p:cTn id="20" dur="500"/>
                                        <p:tgtEl>
                                          <p:spTgt spid="97291"/>
                                        </p:tgtEl>
                                      </p:cBhvr>
                                    </p:animEffect>
                                  </p:childTnLst>
                                </p:cTn>
                              </p:par>
                            </p:childTnLst>
                          </p:cTn>
                        </p:par>
                        <p:par>
                          <p:cTn id="21" fill="hold" nodeType="afterGroup">
                            <p:stCondLst>
                              <p:cond delay="1500"/>
                            </p:stCondLst>
                            <p:childTnLst>
                              <p:par>
                                <p:cTn id="22" presetID="22" presetClass="entr" presetSubtype="4" fill="hold" grpId="0" nodeType="afterEffect">
                                  <p:stCondLst>
                                    <p:cond delay="0"/>
                                  </p:stCondLst>
                                  <p:childTnLst>
                                    <p:set>
                                      <p:cBhvr>
                                        <p:cTn id="23" dur="1" fill="hold">
                                          <p:stCondLst>
                                            <p:cond delay="0"/>
                                          </p:stCondLst>
                                        </p:cTn>
                                        <p:tgtEl>
                                          <p:spTgt spid="97292"/>
                                        </p:tgtEl>
                                        <p:attrNameLst>
                                          <p:attrName>style.visibility</p:attrName>
                                        </p:attrNameLst>
                                      </p:cBhvr>
                                      <p:to>
                                        <p:strVal val="visible"/>
                                      </p:to>
                                    </p:set>
                                    <p:animEffect transition="in" filter="wipe(down)">
                                      <p:cBhvr>
                                        <p:cTn id="24" dur="500"/>
                                        <p:tgtEl>
                                          <p:spTgt spid="97292"/>
                                        </p:tgtEl>
                                      </p:cBhvr>
                                    </p:animEffect>
                                  </p:childTnLst>
                                </p:cTn>
                              </p:par>
                            </p:childTnLst>
                          </p:cTn>
                        </p:par>
                        <p:par>
                          <p:cTn id="25" fill="hold" nodeType="afterGroup">
                            <p:stCondLst>
                              <p:cond delay="2000"/>
                            </p:stCondLst>
                            <p:childTnLst>
                              <p:par>
                                <p:cTn id="26" presetID="22" presetClass="entr" presetSubtype="4" fill="hold" grpId="0" nodeType="afterEffect">
                                  <p:stCondLst>
                                    <p:cond delay="0"/>
                                  </p:stCondLst>
                                  <p:childTnLst>
                                    <p:set>
                                      <p:cBhvr>
                                        <p:cTn id="27" dur="1" fill="hold">
                                          <p:stCondLst>
                                            <p:cond delay="0"/>
                                          </p:stCondLst>
                                        </p:cTn>
                                        <p:tgtEl>
                                          <p:spTgt spid="97293"/>
                                        </p:tgtEl>
                                        <p:attrNameLst>
                                          <p:attrName>style.visibility</p:attrName>
                                        </p:attrNameLst>
                                      </p:cBhvr>
                                      <p:to>
                                        <p:strVal val="visible"/>
                                      </p:to>
                                    </p:set>
                                    <p:animEffect transition="in" filter="wipe(down)">
                                      <p:cBhvr>
                                        <p:cTn id="28" dur="500"/>
                                        <p:tgtEl>
                                          <p:spTgt spid="97293"/>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17" presetClass="entr" presetSubtype="4" fill="hold" nodeType="clickEffect">
                                  <p:stCondLst>
                                    <p:cond delay="0"/>
                                  </p:stCondLst>
                                  <p:childTnLst>
                                    <p:set>
                                      <p:cBhvr>
                                        <p:cTn id="32" dur="1" fill="hold">
                                          <p:stCondLst>
                                            <p:cond delay="0"/>
                                          </p:stCondLst>
                                        </p:cTn>
                                        <p:tgtEl>
                                          <p:spTgt spid="3"/>
                                        </p:tgtEl>
                                        <p:attrNameLst>
                                          <p:attrName>style.visibility</p:attrName>
                                        </p:attrNameLst>
                                      </p:cBhvr>
                                      <p:to>
                                        <p:strVal val="visible"/>
                                      </p:to>
                                    </p:set>
                                    <p:anim calcmode="lin" valueType="num">
                                      <p:cBhvr>
                                        <p:cTn id="33" dur="500" fill="hold"/>
                                        <p:tgtEl>
                                          <p:spTgt spid="3"/>
                                        </p:tgtEl>
                                        <p:attrNameLst>
                                          <p:attrName>ppt_x</p:attrName>
                                        </p:attrNameLst>
                                      </p:cBhvr>
                                      <p:tavLst>
                                        <p:tav tm="0">
                                          <p:val>
                                            <p:strVal val="#ppt_x"/>
                                          </p:val>
                                        </p:tav>
                                        <p:tav tm="100000">
                                          <p:val>
                                            <p:strVal val="#ppt_x"/>
                                          </p:val>
                                        </p:tav>
                                      </p:tavLst>
                                    </p:anim>
                                    <p:anim calcmode="lin" valueType="num">
                                      <p:cBhvr>
                                        <p:cTn id="34" dur="500" fill="hold"/>
                                        <p:tgtEl>
                                          <p:spTgt spid="3"/>
                                        </p:tgtEl>
                                        <p:attrNameLst>
                                          <p:attrName>ppt_y</p:attrName>
                                        </p:attrNameLst>
                                      </p:cBhvr>
                                      <p:tavLst>
                                        <p:tav tm="0">
                                          <p:val>
                                            <p:strVal val="#ppt_y+#ppt_h/2"/>
                                          </p:val>
                                        </p:tav>
                                        <p:tav tm="100000">
                                          <p:val>
                                            <p:strVal val="#ppt_y"/>
                                          </p:val>
                                        </p:tav>
                                      </p:tavLst>
                                    </p:anim>
                                    <p:anim calcmode="lin" valueType="num">
                                      <p:cBhvr>
                                        <p:cTn id="35" dur="500" fill="hold"/>
                                        <p:tgtEl>
                                          <p:spTgt spid="3"/>
                                        </p:tgtEl>
                                        <p:attrNameLst>
                                          <p:attrName>ppt_w</p:attrName>
                                        </p:attrNameLst>
                                      </p:cBhvr>
                                      <p:tavLst>
                                        <p:tav tm="0">
                                          <p:val>
                                            <p:strVal val="#ppt_w"/>
                                          </p:val>
                                        </p:tav>
                                        <p:tav tm="100000">
                                          <p:val>
                                            <p:strVal val="#ppt_w"/>
                                          </p:val>
                                        </p:tav>
                                      </p:tavLst>
                                    </p:anim>
                                    <p:anim calcmode="lin" valueType="num">
                                      <p:cBhvr>
                                        <p:cTn id="36" dur="500" fill="hold"/>
                                        <p:tgtEl>
                                          <p:spTgt spid="3"/>
                                        </p:tgtEl>
                                        <p:attrNameLst>
                                          <p:attrName>ppt_h</p:attrName>
                                        </p:attrNameLst>
                                      </p:cBhvr>
                                      <p:tavLst>
                                        <p:tav tm="0">
                                          <p:val>
                                            <p:fltVal val="0"/>
                                          </p:val>
                                        </p:tav>
                                        <p:tav tm="100000">
                                          <p:val>
                                            <p:strVal val="#ppt_h"/>
                                          </p:val>
                                        </p:tav>
                                      </p:tavLst>
                                    </p:anim>
                                  </p:childTnLst>
                                </p:cTn>
                              </p:par>
                            </p:childTnLst>
                          </p:cTn>
                        </p:par>
                        <p:par>
                          <p:cTn id="37" fill="hold" nodeType="afterGroup">
                            <p:stCondLst>
                              <p:cond delay="500"/>
                            </p:stCondLst>
                            <p:childTnLst>
                              <p:par>
                                <p:cTn id="38" presetID="17" presetClass="entr" presetSubtype="4" fill="hold" grpId="0" nodeType="afterEffect">
                                  <p:stCondLst>
                                    <p:cond delay="0"/>
                                  </p:stCondLst>
                                  <p:childTnLst>
                                    <p:set>
                                      <p:cBhvr>
                                        <p:cTn id="39" dur="1" fill="hold">
                                          <p:stCondLst>
                                            <p:cond delay="0"/>
                                          </p:stCondLst>
                                        </p:cTn>
                                        <p:tgtEl>
                                          <p:spTgt spid="97311"/>
                                        </p:tgtEl>
                                        <p:attrNameLst>
                                          <p:attrName>style.visibility</p:attrName>
                                        </p:attrNameLst>
                                      </p:cBhvr>
                                      <p:to>
                                        <p:strVal val="visible"/>
                                      </p:to>
                                    </p:set>
                                    <p:anim calcmode="lin" valueType="num">
                                      <p:cBhvr>
                                        <p:cTn id="40" dur="500" fill="hold"/>
                                        <p:tgtEl>
                                          <p:spTgt spid="97311"/>
                                        </p:tgtEl>
                                        <p:attrNameLst>
                                          <p:attrName>ppt_x</p:attrName>
                                        </p:attrNameLst>
                                      </p:cBhvr>
                                      <p:tavLst>
                                        <p:tav tm="0">
                                          <p:val>
                                            <p:strVal val="#ppt_x"/>
                                          </p:val>
                                        </p:tav>
                                        <p:tav tm="100000">
                                          <p:val>
                                            <p:strVal val="#ppt_x"/>
                                          </p:val>
                                        </p:tav>
                                      </p:tavLst>
                                    </p:anim>
                                    <p:anim calcmode="lin" valueType="num">
                                      <p:cBhvr>
                                        <p:cTn id="41" dur="500" fill="hold"/>
                                        <p:tgtEl>
                                          <p:spTgt spid="97311"/>
                                        </p:tgtEl>
                                        <p:attrNameLst>
                                          <p:attrName>ppt_y</p:attrName>
                                        </p:attrNameLst>
                                      </p:cBhvr>
                                      <p:tavLst>
                                        <p:tav tm="0">
                                          <p:val>
                                            <p:strVal val="#ppt_y+#ppt_h/2"/>
                                          </p:val>
                                        </p:tav>
                                        <p:tav tm="100000">
                                          <p:val>
                                            <p:strVal val="#ppt_y"/>
                                          </p:val>
                                        </p:tav>
                                      </p:tavLst>
                                    </p:anim>
                                    <p:anim calcmode="lin" valueType="num">
                                      <p:cBhvr>
                                        <p:cTn id="42" dur="500" fill="hold"/>
                                        <p:tgtEl>
                                          <p:spTgt spid="97311"/>
                                        </p:tgtEl>
                                        <p:attrNameLst>
                                          <p:attrName>ppt_w</p:attrName>
                                        </p:attrNameLst>
                                      </p:cBhvr>
                                      <p:tavLst>
                                        <p:tav tm="0">
                                          <p:val>
                                            <p:strVal val="#ppt_w"/>
                                          </p:val>
                                        </p:tav>
                                        <p:tav tm="100000">
                                          <p:val>
                                            <p:strVal val="#ppt_w"/>
                                          </p:val>
                                        </p:tav>
                                      </p:tavLst>
                                    </p:anim>
                                    <p:anim calcmode="lin" valueType="num">
                                      <p:cBhvr>
                                        <p:cTn id="43" dur="500" fill="hold"/>
                                        <p:tgtEl>
                                          <p:spTgt spid="97311"/>
                                        </p:tgtEl>
                                        <p:attrNameLst>
                                          <p:attrName>ppt_h</p:attrName>
                                        </p:attrNameLst>
                                      </p:cBhvr>
                                      <p:tavLst>
                                        <p:tav tm="0">
                                          <p:val>
                                            <p:fltVal val="0"/>
                                          </p:val>
                                        </p:tav>
                                        <p:tav tm="100000">
                                          <p:val>
                                            <p:strVal val="#ppt_h"/>
                                          </p:val>
                                        </p:tav>
                                      </p:tavLst>
                                    </p:anim>
                                  </p:childTnLst>
                                </p:cTn>
                              </p:par>
                            </p:childTnLst>
                          </p:cTn>
                        </p:par>
                        <p:par>
                          <p:cTn id="44" fill="hold" nodeType="afterGroup">
                            <p:stCondLst>
                              <p:cond delay="1000"/>
                            </p:stCondLst>
                            <p:childTnLst>
                              <p:par>
                                <p:cTn id="45" presetID="22" presetClass="entr" presetSubtype="1" fill="hold" nodeType="afterEffect">
                                  <p:stCondLst>
                                    <p:cond delay="0"/>
                                  </p:stCondLst>
                                  <p:childTnLst>
                                    <p:set>
                                      <p:cBhvr>
                                        <p:cTn id="46" dur="1" fill="hold">
                                          <p:stCondLst>
                                            <p:cond delay="0"/>
                                          </p:stCondLst>
                                        </p:cTn>
                                        <p:tgtEl>
                                          <p:spTgt spid="7"/>
                                        </p:tgtEl>
                                        <p:attrNameLst>
                                          <p:attrName>style.visibility</p:attrName>
                                        </p:attrNameLst>
                                      </p:cBhvr>
                                      <p:to>
                                        <p:strVal val="visible"/>
                                      </p:to>
                                    </p:set>
                                    <p:animEffect transition="in" filter="wipe(up)">
                                      <p:cBhvr>
                                        <p:cTn id="47" dur="500"/>
                                        <p:tgtEl>
                                          <p:spTgt spid="7"/>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1" presetClass="entr" presetSubtype="0" fill="hold" grpId="0" nodeType="clickEffect">
                                  <p:stCondLst>
                                    <p:cond delay="0"/>
                                  </p:stCondLst>
                                  <p:childTnLst>
                                    <p:set>
                                      <p:cBhvr>
                                        <p:cTn id="51" dur="1" fill="hold">
                                          <p:stCondLst>
                                            <p:cond delay="499"/>
                                          </p:stCondLst>
                                        </p:cTn>
                                        <p:tgtEl>
                                          <p:spTgt spid="97289"/>
                                        </p:tgtEl>
                                        <p:attrNameLst>
                                          <p:attrName>style.visibility</p:attrName>
                                        </p:attrNameLst>
                                      </p:cBhvr>
                                      <p:to>
                                        <p:strVal val="visible"/>
                                      </p:to>
                                    </p:set>
                                  </p:childTnLst>
                                </p:cTn>
                              </p:par>
                            </p:childTnLst>
                          </p:cTn>
                        </p:par>
                        <p:par>
                          <p:cTn id="52" fill="hold" nodeType="afterGroup">
                            <p:stCondLst>
                              <p:cond delay="500"/>
                            </p:stCondLst>
                            <p:childTnLst>
                              <p:par>
                                <p:cTn id="53" presetID="1" presetClass="entr" presetSubtype="0" fill="hold" nodeType="afterEffect">
                                  <p:stCondLst>
                                    <p:cond delay="0"/>
                                  </p:stCondLst>
                                  <p:childTnLst>
                                    <p:set>
                                      <p:cBhvr>
                                        <p:cTn id="54" dur="1" fill="hold">
                                          <p:stCondLst>
                                            <p:cond delay="499"/>
                                          </p:stCondLst>
                                        </p:cTn>
                                        <p:tgtEl>
                                          <p:spTgt spid="9728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289" grpId="0" animBg="1"/>
      <p:bldP spid="97290" grpId="0" animBg="1" autoUpdateAnimBg="0"/>
      <p:bldP spid="97291" grpId="0" animBg="1"/>
      <p:bldP spid="97292" grpId="0" animBg="1" autoUpdateAnimBg="0"/>
      <p:bldP spid="97293" grpId="0" animBg="1"/>
      <p:bldP spid="97311" grpId="0" animBg="1" autoUpdateAnimBg="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5"/>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3A804D2D-D1E0-4603-9E6F-C910106E4550}" type="slidenum">
              <a:rPr lang="tr-TR">
                <a:solidFill>
                  <a:srgbClr val="898989"/>
                </a:solidFill>
                <a:latin typeface="Calibri" panose="020F0502020204030204" pitchFamily="34" charset="0"/>
              </a:rPr>
              <a:pPr eaLnBrk="1" hangingPunct="1"/>
              <a:t>20</a:t>
            </a:fld>
            <a:endParaRPr lang="tr-TR">
              <a:solidFill>
                <a:srgbClr val="898989"/>
              </a:solidFill>
              <a:latin typeface="Calibri" panose="020F0502020204030204" pitchFamily="34" charset="0"/>
            </a:endParaRPr>
          </a:p>
        </p:txBody>
      </p:sp>
      <p:sp>
        <p:nvSpPr>
          <p:cNvPr id="99330" name="Text Box 2"/>
          <p:cNvSpPr txBox="1">
            <a:spLocks noChangeArrowheads="1"/>
          </p:cNvSpPr>
          <p:nvPr/>
        </p:nvSpPr>
        <p:spPr bwMode="auto">
          <a:xfrm>
            <a:off x="762000" y="1905000"/>
            <a:ext cx="6932613" cy="1570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tabLst>
                <a:tab pos="222250" algn="l"/>
              </a:tabLst>
              <a:defRPr>
                <a:solidFill>
                  <a:schemeClr val="tx1"/>
                </a:solidFill>
                <a:latin typeface="Arial" panose="020B0604020202020204" pitchFamily="34" charset="0"/>
                <a:cs typeface="Arial" panose="020B0604020202020204" pitchFamily="34" charset="0"/>
              </a:defRPr>
            </a:lvl1pPr>
            <a:lvl2pPr marL="742950" indent="-285750" eaLnBrk="0" hangingPunct="0">
              <a:tabLst>
                <a:tab pos="222250" algn="l"/>
              </a:tabLst>
              <a:defRPr>
                <a:solidFill>
                  <a:schemeClr val="tx1"/>
                </a:solidFill>
                <a:latin typeface="Arial" panose="020B0604020202020204" pitchFamily="34" charset="0"/>
                <a:cs typeface="Arial" panose="020B0604020202020204" pitchFamily="34" charset="0"/>
              </a:defRPr>
            </a:lvl2pPr>
            <a:lvl3pPr marL="1143000" indent="-228600" eaLnBrk="0" hangingPunct="0">
              <a:tabLst>
                <a:tab pos="222250" algn="l"/>
              </a:tabLst>
              <a:defRPr>
                <a:solidFill>
                  <a:schemeClr val="tx1"/>
                </a:solidFill>
                <a:latin typeface="Arial" panose="020B0604020202020204" pitchFamily="34" charset="0"/>
                <a:cs typeface="Arial" panose="020B0604020202020204" pitchFamily="34" charset="0"/>
              </a:defRPr>
            </a:lvl3pPr>
            <a:lvl4pPr marL="1600200" indent="-228600" eaLnBrk="0" hangingPunct="0">
              <a:tabLst>
                <a:tab pos="222250" algn="l"/>
              </a:tabLst>
              <a:defRPr>
                <a:solidFill>
                  <a:schemeClr val="tx1"/>
                </a:solidFill>
                <a:latin typeface="Arial" panose="020B0604020202020204" pitchFamily="34" charset="0"/>
                <a:cs typeface="Arial" panose="020B0604020202020204" pitchFamily="34" charset="0"/>
              </a:defRPr>
            </a:lvl4pPr>
            <a:lvl5pPr marL="2057400" indent="-228600" eaLnBrk="0" hangingPunct="0">
              <a:tabLst>
                <a:tab pos="222250" algn="l"/>
              </a:tabLst>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tabLst>
                <a:tab pos="222250" algn="l"/>
              </a:tabLs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tabLst>
                <a:tab pos="222250" algn="l"/>
              </a:tabLs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tabLst>
                <a:tab pos="222250" algn="l"/>
              </a:tabLs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tabLst>
                <a:tab pos="222250" algn="l"/>
              </a:tabLst>
              <a:defRPr>
                <a:solidFill>
                  <a:schemeClr val="tx1"/>
                </a:solidFill>
                <a:latin typeface="Arial" panose="020B0604020202020204" pitchFamily="34" charset="0"/>
                <a:cs typeface="Arial" panose="020B0604020202020204" pitchFamily="34" charset="0"/>
              </a:defRPr>
            </a:lvl9pPr>
          </a:lstStyle>
          <a:p>
            <a:pPr eaLnBrk="1" hangingPunct="1">
              <a:buFontTx/>
              <a:buChar char="•"/>
            </a:pPr>
            <a:r>
              <a:rPr lang="en-US" sz="2400">
                <a:solidFill>
                  <a:schemeClr val="tx2"/>
                </a:solidFill>
                <a:latin typeface="Arial Narrow" panose="020B0606020202030204" pitchFamily="34" charset="0"/>
              </a:rPr>
              <a:t> 	</a:t>
            </a:r>
            <a:r>
              <a:rPr lang="en-US" sz="2400" b="1">
                <a:solidFill>
                  <a:schemeClr val="tx2"/>
                </a:solidFill>
                <a:latin typeface="Arial Narrow" panose="020B0606020202030204" pitchFamily="34" charset="0"/>
              </a:rPr>
              <a:t>Example:</a:t>
            </a:r>
            <a:r>
              <a:rPr lang="en-US" sz="2400">
                <a:solidFill>
                  <a:schemeClr val="tx2"/>
                </a:solidFill>
                <a:latin typeface="Arial Narrow" panose="020B0606020202030204" pitchFamily="34" charset="0"/>
              </a:rPr>
              <a:t> Suppose that </a:t>
            </a:r>
            <a:r>
              <a:rPr lang="en-US" sz="2400">
                <a:solidFill>
                  <a:schemeClr val="tx2"/>
                </a:solidFill>
                <a:latin typeface="Symbol" panose="05050102010706020507" pitchFamily="18" charset="2"/>
              </a:rPr>
              <a:t>s</a:t>
            </a:r>
            <a:r>
              <a:rPr lang="en-US" sz="2400">
                <a:solidFill>
                  <a:schemeClr val="tx2"/>
                </a:solidFill>
                <a:latin typeface="Arial Narrow" panose="020B0606020202030204" pitchFamily="34" charset="0"/>
              </a:rPr>
              <a:t> = 1.71 and n=100.  Use a 90% </a:t>
            </a:r>
            <a:br>
              <a:rPr lang="en-US" sz="2400">
                <a:solidFill>
                  <a:schemeClr val="tx2"/>
                </a:solidFill>
                <a:latin typeface="Arial Narrow" panose="020B0606020202030204" pitchFamily="34" charset="0"/>
              </a:rPr>
            </a:br>
            <a:r>
              <a:rPr lang="en-US" sz="2400">
                <a:solidFill>
                  <a:schemeClr val="tx2"/>
                </a:solidFill>
                <a:latin typeface="Arial Narrow" panose="020B0606020202030204" pitchFamily="34" charset="0"/>
              </a:rPr>
              <a:t>	confidence level.</a:t>
            </a:r>
            <a:br>
              <a:rPr lang="en-US" sz="2400">
                <a:solidFill>
                  <a:schemeClr val="tx2"/>
                </a:solidFill>
                <a:latin typeface="Arial Narrow" panose="020B0606020202030204" pitchFamily="34" charset="0"/>
              </a:rPr>
            </a:br>
            <a:endParaRPr lang="en-US" sz="2400">
              <a:solidFill>
                <a:schemeClr val="tx2"/>
              </a:solidFill>
              <a:latin typeface="Arial Narrow" panose="020B0606020202030204" pitchFamily="34" charset="0"/>
            </a:endParaRPr>
          </a:p>
          <a:p>
            <a:pPr eaLnBrk="1" hangingPunct="1">
              <a:buFontTx/>
              <a:buChar char="•"/>
            </a:pPr>
            <a:r>
              <a:rPr lang="en-US" sz="2400" b="1">
                <a:solidFill>
                  <a:schemeClr val="tx2"/>
                </a:solidFill>
                <a:latin typeface="Arial Narrow" panose="020B0606020202030204" pitchFamily="34" charset="0"/>
              </a:rPr>
              <a:t>Solution:</a:t>
            </a:r>
            <a:r>
              <a:rPr lang="en-US" sz="2400">
                <a:solidFill>
                  <a:schemeClr val="tx2"/>
                </a:solidFill>
                <a:latin typeface="Arial Narrow" panose="020B0606020202030204" pitchFamily="34" charset="0"/>
              </a:rPr>
              <a:t> The confidence interval is  </a:t>
            </a:r>
          </a:p>
        </p:txBody>
      </p:sp>
      <p:sp>
        <p:nvSpPr>
          <p:cNvPr id="9222" name="Rectangle 3"/>
          <p:cNvSpPr>
            <a:spLocks noGrp="1" noChangeArrowheads="1"/>
          </p:cNvSpPr>
          <p:nvPr>
            <p:ph type="title"/>
          </p:nvPr>
        </p:nvSpPr>
        <p:spPr>
          <a:xfrm>
            <a:off x="533400" y="609600"/>
            <a:ext cx="8610600" cy="990600"/>
          </a:xfrm>
          <a:noFill/>
        </p:spPr>
        <p:txBody>
          <a:bodyPr/>
          <a:lstStyle/>
          <a:p>
            <a:pPr algn="l" eaLnBrk="1" hangingPunct="1">
              <a:tabLst>
                <a:tab pos="911225" algn="l"/>
              </a:tabLst>
            </a:pPr>
            <a:r>
              <a:rPr lang="en-US" sz="3600" smtClean="0">
                <a:solidFill>
                  <a:srgbClr val="FF0000"/>
                </a:solidFill>
              </a:rPr>
              <a:t>The Confidence Interval for </a:t>
            </a:r>
            <a:r>
              <a:rPr lang="en-US" sz="3600" smtClean="0">
                <a:solidFill>
                  <a:srgbClr val="FF0000"/>
                </a:solidFill>
                <a:latin typeface="Symbol" panose="05050102010706020507" pitchFamily="18" charset="2"/>
              </a:rPr>
              <a:t>m</a:t>
            </a:r>
            <a:r>
              <a:rPr lang="en-US" sz="3600" smtClean="0">
                <a:solidFill>
                  <a:srgbClr val="FF0000"/>
                </a:solidFill>
              </a:rPr>
              <a:t> ( </a:t>
            </a:r>
            <a:r>
              <a:rPr lang="en-US" sz="3600" smtClean="0">
                <a:solidFill>
                  <a:srgbClr val="FF0000"/>
                </a:solidFill>
                <a:latin typeface="Symbol" panose="05050102010706020507" pitchFamily="18" charset="2"/>
              </a:rPr>
              <a:t>s</a:t>
            </a:r>
            <a:r>
              <a:rPr lang="en-US" sz="3600" smtClean="0">
                <a:solidFill>
                  <a:srgbClr val="FF0000"/>
                </a:solidFill>
              </a:rPr>
              <a:t> is known)</a:t>
            </a:r>
          </a:p>
        </p:txBody>
      </p:sp>
      <p:grpSp>
        <p:nvGrpSpPr>
          <p:cNvPr id="2" name="Group 4"/>
          <p:cNvGrpSpPr>
            <a:grpSpLocks/>
          </p:cNvGrpSpPr>
          <p:nvPr/>
        </p:nvGrpSpPr>
        <p:grpSpPr bwMode="auto">
          <a:xfrm>
            <a:off x="2209800" y="3759200"/>
            <a:ext cx="4778375" cy="850900"/>
            <a:chOff x="1392" y="2368"/>
            <a:chExt cx="3010" cy="536"/>
          </a:xfrm>
        </p:grpSpPr>
        <p:graphicFrame>
          <p:nvGraphicFramePr>
            <p:cNvPr id="9218" name="Object 2"/>
            <p:cNvGraphicFramePr>
              <a:graphicFrameLocks noChangeAspect="1"/>
            </p:cNvGraphicFramePr>
            <p:nvPr/>
          </p:nvGraphicFramePr>
          <p:xfrm>
            <a:off x="1392" y="2368"/>
            <a:ext cx="1124" cy="536"/>
          </p:xfrm>
          <a:graphic>
            <a:graphicData uri="http://schemas.openxmlformats.org/presentationml/2006/ole">
              <mc:AlternateContent xmlns:mc="http://schemas.openxmlformats.org/markup-compatibility/2006">
                <mc:Choice xmlns:v="urn:schemas-microsoft-com:vml" Requires="v">
                  <p:oleObj spid="_x0000_s4126" name="Equation" r:id="rId4" imgW="838080" imgH="419040" progId="Equation.3">
                    <p:embed/>
                  </p:oleObj>
                </mc:Choice>
                <mc:Fallback>
                  <p:oleObj name="Equation" r:id="rId4" imgW="838080" imgH="41904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92" y="2368"/>
                          <a:ext cx="1124" cy="53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117088" dir="19163922" algn="ctr" rotWithShape="0">
                                  <a:srgbClr val="FF0000"/>
                                </a:outerShdw>
                              </a:effectLst>
                            </a14:hiddenEffects>
                          </a:ext>
                        </a:extLst>
                      </p:spPr>
                    </p:pic>
                  </p:oleObj>
                </mc:Fallback>
              </mc:AlternateContent>
            </a:graphicData>
          </a:graphic>
        </p:graphicFrame>
        <p:graphicFrame>
          <p:nvGraphicFramePr>
            <p:cNvPr id="9219" name="Object 3"/>
            <p:cNvGraphicFramePr>
              <a:graphicFrameLocks noChangeAspect="1"/>
            </p:cNvGraphicFramePr>
            <p:nvPr/>
          </p:nvGraphicFramePr>
          <p:xfrm>
            <a:off x="2496" y="2368"/>
            <a:ext cx="1906" cy="532"/>
          </p:xfrm>
          <a:graphic>
            <a:graphicData uri="http://schemas.openxmlformats.org/presentationml/2006/ole">
              <mc:AlternateContent xmlns:mc="http://schemas.openxmlformats.org/markup-compatibility/2006">
                <mc:Choice xmlns:v="urn:schemas-microsoft-com:vml" Requires="v">
                  <p:oleObj spid="_x0000_s4127" name="Equation" r:id="rId6" imgW="1434960" imgH="419040" progId="Equation.3">
                    <p:embed/>
                  </p:oleObj>
                </mc:Choice>
                <mc:Fallback>
                  <p:oleObj name="Equation" r:id="rId6" imgW="1434960" imgH="419040"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496" y="2368"/>
                          <a:ext cx="1906" cy="53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117088" dir="19163922" algn="ctr" rotWithShape="0">
                                  <a:srgbClr val="FF0000"/>
                                </a:outerShdw>
                              </a:effectLst>
                            </a14:hiddenEffects>
                          </a:ext>
                        </a:extLst>
                      </p:spPr>
                    </p:pic>
                  </p:oleObj>
                </mc:Fallback>
              </mc:AlternateContent>
            </a:graphicData>
          </a:graphic>
        </p:graphicFrame>
      </p:grpSp>
    </p:spTree>
    <p:extLst>
      <p:ext uri="{BB962C8B-B14F-4D97-AF65-F5344CB8AC3E}">
        <p14:creationId xmlns:p14="http://schemas.microsoft.com/office/powerpoint/2010/main" val="293562388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99330">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99330">
                                            <p:txEl>
                                              <p:pRg st="1" end="1"/>
                                            </p:txEl>
                                          </p:spTgt>
                                        </p:tgtEl>
                                        <p:attrNameLst>
                                          <p:attrName>style.visibility</p:attrName>
                                        </p:attrNameLst>
                                      </p:cBhvr>
                                      <p:to>
                                        <p:strVal val="visible"/>
                                      </p:to>
                                    </p:set>
                                  </p:childTnLst>
                                </p:cTn>
                              </p:par>
                            </p:childTnLst>
                          </p:cTn>
                        </p:par>
                        <p:par>
                          <p:cTn id="11" fill="hold" nodeType="afterGroup">
                            <p:stCondLst>
                              <p:cond delay="500"/>
                            </p:stCondLst>
                            <p:childTnLst>
                              <p:par>
                                <p:cTn id="12" presetID="16" presetClass="entr" presetSubtype="37" fill="hold" nodeType="after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barn(outVertical)">
                                      <p:cBhvr>
                                        <p:cTn id="14"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330" grpId="0" build="p" autoUpdateAnimBg="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Slide Number Placeholder 5"/>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38B9B7FD-50C9-43B5-B69E-4E3EF73F426A}" type="slidenum">
              <a:rPr lang="tr-TR">
                <a:solidFill>
                  <a:srgbClr val="898989"/>
                </a:solidFill>
                <a:latin typeface="Calibri" panose="020F0502020204030204" pitchFamily="34" charset="0"/>
              </a:rPr>
              <a:pPr eaLnBrk="1" hangingPunct="1"/>
              <a:t>21</a:t>
            </a:fld>
            <a:endParaRPr lang="tr-TR">
              <a:solidFill>
                <a:srgbClr val="898989"/>
              </a:solidFill>
              <a:latin typeface="Calibri" panose="020F0502020204030204" pitchFamily="34" charset="0"/>
            </a:endParaRPr>
          </a:p>
        </p:txBody>
      </p:sp>
      <p:sp>
        <p:nvSpPr>
          <p:cNvPr id="10249" name="Rectangle 2"/>
          <p:cNvSpPr>
            <a:spLocks noGrp="1" noChangeArrowheads="1"/>
          </p:cNvSpPr>
          <p:nvPr>
            <p:ph type="title"/>
          </p:nvPr>
        </p:nvSpPr>
        <p:spPr>
          <a:xfrm>
            <a:off x="609600" y="685800"/>
            <a:ext cx="8305800" cy="990600"/>
          </a:xfrm>
          <a:noFill/>
        </p:spPr>
        <p:txBody>
          <a:bodyPr/>
          <a:lstStyle/>
          <a:p>
            <a:pPr algn="l" eaLnBrk="1" hangingPunct="1">
              <a:tabLst>
                <a:tab pos="911225" algn="l"/>
              </a:tabLst>
            </a:pPr>
            <a:r>
              <a:rPr lang="en-US" sz="3600" smtClean="0">
                <a:solidFill>
                  <a:srgbClr val="FF0000"/>
                </a:solidFill>
              </a:rPr>
              <a:t>The Confidence Interval for </a:t>
            </a:r>
            <a:r>
              <a:rPr lang="en-US" sz="3600" smtClean="0">
                <a:solidFill>
                  <a:srgbClr val="FF0000"/>
                </a:solidFill>
                <a:latin typeface="Symbol" panose="05050102010706020507" pitchFamily="18" charset="2"/>
              </a:rPr>
              <a:t>m</a:t>
            </a:r>
            <a:r>
              <a:rPr lang="en-US" sz="3600" smtClean="0">
                <a:solidFill>
                  <a:srgbClr val="FF0000"/>
                </a:solidFill>
              </a:rPr>
              <a:t> ( </a:t>
            </a:r>
            <a:r>
              <a:rPr lang="en-US" sz="3600" smtClean="0">
                <a:solidFill>
                  <a:srgbClr val="FF0000"/>
                </a:solidFill>
                <a:latin typeface="Symbol" panose="05050102010706020507" pitchFamily="18" charset="2"/>
              </a:rPr>
              <a:t>s</a:t>
            </a:r>
            <a:r>
              <a:rPr lang="en-US" sz="3600" smtClean="0">
                <a:solidFill>
                  <a:srgbClr val="FF0000"/>
                </a:solidFill>
              </a:rPr>
              <a:t> is known)</a:t>
            </a:r>
          </a:p>
        </p:txBody>
      </p:sp>
      <p:sp>
        <p:nvSpPr>
          <p:cNvPr id="10250" name="Text Box 3"/>
          <p:cNvSpPr txBox="1">
            <a:spLocks noChangeArrowheads="1"/>
          </p:cNvSpPr>
          <p:nvPr/>
        </p:nvSpPr>
        <p:spPr bwMode="auto">
          <a:xfrm>
            <a:off x="1066800" y="2057400"/>
            <a:ext cx="7177088" cy="1077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buFontTx/>
              <a:buChar char="•"/>
            </a:pPr>
            <a:r>
              <a:rPr lang="en-US" sz="2400">
                <a:solidFill>
                  <a:schemeClr val="tx2"/>
                </a:solidFill>
                <a:latin typeface="Arial Narrow" panose="020B0606020202030204" pitchFamily="34" charset="0"/>
              </a:rPr>
              <a:t>  Recalculate the confidence interval for 95% confidence level.</a:t>
            </a:r>
          </a:p>
          <a:p>
            <a:pPr eaLnBrk="1" hangingPunct="1">
              <a:lnSpc>
                <a:spcPct val="70000"/>
              </a:lnSpc>
            </a:pPr>
            <a:r>
              <a:rPr lang="en-US" sz="2400">
                <a:solidFill>
                  <a:schemeClr val="tx2"/>
                </a:solidFill>
                <a:latin typeface="Arial Narrow" panose="020B0606020202030204" pitchFamily="34" charset="0"/>
              </a:rPr>
              <a:t> </a:t>
            </a:r>
          </a:p>
          <a:p>
            <a:pPr eaLnBrk="1" hangingPunct="1">
              <a:buFontTx/>
              <a:buChar char="•"/>
            </a:pPr>
            <a:r>
              <a:rPr lang="en-US" sz="2400">
                <a:solidFill>
                  <a:schemeClr val="tx2"/>
                </a:solidFill>
                <a:latin typeface="Arial Narrow" panose="020B0606020202030204" pitchFamily="34" charset="0"/>
              </a:rPr>
              <a:t> Solution: </a:t>
            </a:r>
          </a:p>
        </p:txBody>
      </p:sp>
      <p:graphicFrame>
        <p:nvGraphicFramePr>
          <p:cNvPr id="10242" name="Object 2"/>
          <p:cNvGraphicFramePr>
            <a:graphicFrameLocks noChangeAspect="1"/>
          </p:cNvGraphicFramePr>
          <p:nvPr/>
        </p:nvGraphicFramePr>
        <p:xfrm>
          <a:off x="2341563" y="2573338"/>
          <a:ext cx="1874837" cy="771525"/>
        </p:xfrm>
        <a:graphic>
          <a:graphicData uri="http://schemas.openxmlformats.org/presentationml/2006/ole">
            <mc:AlternateContent xmlns:mc="http://schemas.openxmlformats.org/markup-compatibility/2006">
              <mc:Choice xmlns:v="urn:schemas-microsoft-com:vml" Requires="v">
                <p:oleObj spid="_x0000_s5206" name="Equation" r:id="rId4" imgW="838080" imgH="419040" progId="Equation.3">
                  <p:embed/>
                </p:oleObj>
              </mc:Choice>
              <mc:Fallback>
                <p:oleObj name="Equation" r:id="rId4" imgW="838080" imgH="41904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341563" y="2573338"/>
                        <a:ext cx="1874837" cy="7715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117088" dir="19163922" algn="ctr" rotWithShape="0">
                                <a:srgbClr val="FF0000"/>
                              </a:outerShdw>
                            </a:effectLst>
                          </a14:hiddenEffects>
                        </a:ext>
                      </a:extLst>
                    </p:spPr>
                  </p:pic>
                </p:oleObj>
              </mc:Fallback>
            </mc:AlternateContent>
          </a:graphicData>
        </a:graphic>
      </p:graphicFrame>
      <p:graphicFrame>
        <p:nvGraphicFramePr>
          <p:cNvPr id="10243" name="Object 3"/>
          <p:cNvGraphicFramePr>
            <a:graphicFrameLocks noChangeAspect="1"/>
          </p:cNvGraphicFramePr>
          <p:nvPr/>
        </p:nvGraphicFramePr>
        <p:xfrm>
          <a:off x="4175125" y="2603500"/>
          <a:ext cx="3095625" cy="773113"/>
        </p:xfrm>
        <a:graphic>
          <a:graphicData uri="http://schemas.openxmlformats.org/presentationml/2006/ole">
            <mc:AlternateContent xmlns:mc="http://schemas.openxmlformats.org/markup-compatibility/2006">
              <mc:Choice xmlns:v="urn:schemas-microsoft-com:vml" Requires="v">
                <p:oleObj spid="_x0000_s5207" name="Equation" r:id="rId6" imgW="1384200" imgH="419040" progId="Equation.3">
                  <p:embed/>
                </p:oleObj>
              </mc:Choice>
              <mc:Fallback>
                <p:oleObj name="Equation" r:id="rId6" imgW="1384200" imgH="419040"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175125" y="2603500"/>
                        <a:ext cx="3095625" cy="77311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117088" dir="19163922" algn="ctr" rotWithShape="0">
                                <a:srgbClr val="FF0000"/>
                              </a:outerShdw>
                            </a:effectLst>
                          </a14:hiddenEffects>
                        </a:ext>
                      </a:extLst>
                    </p:spPr>
                  </p:pic>
                </p:oleObj>
              </mc:Fallback>
            </mc:AlternateContent>
          </a:graphicData>
        </a:graphic>
      </p:graphicFrame>
      <p:sp>
        <p:nvSpPr>
          <p:cNvPr id="100358" name="Line 6"/>
          <p:cNvSpPr>
            <a:spLocks noChangeShapeType="1"/>
          </p:cNvSpPr>
          <p:nvPr/>
        </p:nvSpPr>
        <p:spPr bwMode="auto">
          <a:xfrm>
            <a:off x="1981200" y="5840413"/>
            <a:ext cx="5105400" cy="0"/>
          </a:xfrm>
          <a:prstGeom prst="line">
            <a:avLst/>
          </a:prstGeom>
          <a:noFill/>
          <a:ln w="9525">
            <a:solidFill>
              <a:srgbClr val="000000"/>
            </a:solidFill>
            <a:round/>
            <a:headEnd/>
            <a:tailEnd/>
          </a:ln>
          <a:scene3d>
            <a:camera prst="legacyObliqueTopRight"/>
            <a:lightRig rig="legacyFlat3" dir="b"/>
          </a:scene3d>
          <a:sp3d extrusionH="887400" prstMaterial="legacyMatte">
            <a:bevelT w="13500" h="13500" prst="angle"/>
            <a:bevelB w="13500" h="13500" prst="angle"/>
            <a:extrusionClr>
              <a:srgbClr val="000000"/>
            </a:extrusionClr>
            <a:contourClr>
              <a:srgbClr val="000000"/>
            </a:contourClr>
          </a:sp3d>
          <a:extLst>
            <a:ext uri="{909E8E84-426E-40DD-AFC4-6F175D3DCCD1}">
              <a14:hiddenFill xmlns:a14="http://schemas.microsoft.com/office/drawing/2010/main">
                <a:noFill/>
              </a14:hiddenFill>
            </a:ext>
          </a:extLst>
        </p:spPr>
        <p:txBody>
          <a:bodyPr wrap="none" anchor="ctr">
            <a:flatTx/>
          </a:bodyPr>
          <a:lstStyle/>
          <a:p>
            <a:endParaRPr lang="en-IN"/>
          </a:p>
        </p:txBody>
      </p:sp>
      <p:grpSp>
        <p:nvGrpSpPr>
          <p:cNvPr id="2" name="Group 7"/>
          <p:cNvGrpSpPr>
            <a:grpSpLocks/>
          </p:cNvGrpSpPr>
          <p:nvPr/>
        </p:nvGrpSpPr>
        <p:grpSpPr bwMode="auto">
          <a:xfrm>
            <a:off x="3602038" y="4260850"/>
            <a:ext cx="1920875" cy="1427163"/>
            <a:chOff x="2173" y="541"/>
            <a:chExt cx="1210" cy="899"/>
          </a:xfrm>
        </p:grpSpPr>
        <p:grpSp>
          <p:nvGrpSpPr>
            <p:cNvPr id="10280" name="Group 8"/>
            <p:cNvGrpSpPr>
              <a:grpSpLocks/>
            </p:cNvGrpSpPr>
            <p:nvPr/>
          </p:nvGrpSpPr>
          <p:grpSpPr bwMode="auto">
            <a:xfrm>
              <a:off x="2173" y="541"/>
              <a:ext cx="563" cy="899"/>
              <a:chOff x="2173" y="541"/>
              <a:chExt cx="563" cy="899"/>
            </a:xfrm>
          </p:grpSpPr>
          <p:sp>
            <p:nvSpPr>
              <p:cNvPr id="10289" name="Line 9"/>
              <p:cNvSpPr>
                <a:spLocks noChangeShapeType="1"/>
              </p:cNvSpPr>
              <p:nvPr/>
            </p:nvSpPr>
            <p:spPr bwMode="auto">
              <a:xfrm>
                <a:off x="2173" y="1273"/>
                <a:ext cx="0" cy="144"/>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10290" name="Line 10"/>
              <p:cNvSpPr>
                <a:spLocks noChangeShapeType="1"/>
              </p:cNvSpPr>
              <p:nvPr/>
            </p:nvSpPr>
            <p:spPr bwMode="auto">
              <a:xfrm>
                <a:off x="2256" y="1200"/>
                <a:ext cx="0" cy="240"/>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10291" name="Line 11"/>
              <p:cNvSpPr>
                <a:spLocks noChangeShapeType="1"/>
              </p:cNvSpPr>
              <p:nvPr/>
            </p:nvSpPr>
            <p:spPr bwMode="auto">
              <a:xfrm>
                <a:off x="2352" y="1104"/>
                <a:ext cx="0" cy="336"/>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10292" name="Line 12"/>
              <p:cNvSpPr>
                <a:spLocks noChangeShapeType="1"/>
              </p:cNvSpPr>
              <p:nvPr/>
            </p:nvSpPr>
            <p:spPr bwMode="auto">
              <a:xfrm>
                <a:off x="2448" y="938"/>
                <a:ext cx="0" cy="502"/>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10293" name="Line 13"/>
              <p:cNvSpPr>
                <a:spLocks noChangeShapeType="1"/>
              </p:cNvSpPr>
              <p:nvPr/>
            </p:nvSpPr>
            <p:spPr bwMode="auto">
              <a:xfrm>
                <a:off x="2544" y="809"/>
                <a:ext cx="0" cy="618"/>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10294" name="Line 14"/>
              <p:cNvSpPr>
                <a:spLocks noChangeShapeType="1"/>
              </p:cNvSpPr>
              <p:nvPr/>
            </p:nvSpPr>
            <p:spPr bwMode="auto">
              <a:xfrm>
                <a:off x="2640" y="637"/>
                <a:ext cx="0" cy="797"/>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10295" name="Line 15"/>
              <p:cNvSpPr>
                <a:spLocks noChangeShapeType="1"/>
              </p:cNvSpPr>
              <p:nvPr/>
            </p:nvSpPr>
            <p:spPr bwMode="auto">
              <a:xfrm flipH="1">
                <a:off x="2736" y="541"/>
                <a:ext cx="0" cy="899"/>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grpSp>
        <p:grpSp>
          <p:nvGrpSpPr>
            <p:cNvPr id="10281" name="Group 16"/>
            <p:cNvGrpSpPr>
              <a:grpSpLocks/>
            </p:cNvGrpSpPr>
            <p:nvPr/>
          </p:nvGrpSpPr>
          <p:grpSpPr bwMode="auto">
            <a:xfrm flipH="1">
              <a:off x="2820" y="541"/>
              <a:ext cx="563" cy="899"/>
              <a:chOff x="2173" y="541"/>
              <a:chExt cx="563" cy="899"/>
            </a:xfrm>
          </p:grpSpPr>
          <p:sp>
            <p:nvSpPr>
              <p:cNvPr id="10282" name="Line 17"/>
              <p:cNvSpPr>
                <a:spLocks noChangeShapeType="1"/>
              </p:cNvSpPr>
              <p:nvPr/>
            </p:nvSpPr>
            <p:spPr bwMode="auto">
              <a:xfrm>
                <a:off x="2173" y="1273"/>
                <a:ext cx="0" cy="144"/>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10283" name="Line 18"/>
              <p:cNvSpPr>
                <a:spLocks noChangeShapeType="1"/>
              </p:cNvSpPr>
              <p:nvPr/>
            </p:nvSpPr>
            <p:spPr bwMode="auto">
              <a:xfrm>
                <a:off x="2256" y="1200"/>
                <a:ext cx="0" cy="240"/>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10284" name="Line 19"/>
              <p:cNvSpPr>
                <a:spLocks noChangeShapeType="1"/>
              </p:cNvSpPr>
              <p:nvPr/>
            </p:nvSpPr>
            <p:spPr bwMode="auto">
              <a:xfrm>
                <a:off x="2352" y="1104"/>
                <a:ext cx="0" cy="336"/>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10285" name="Line 20"/>
              <p:cNvSpPr>
                <a:spLocks noChangeShapeType="1"/>
              </p:cNvSpPr>
              <p:nvPr/>
            </p:nvSpPr>
            <p:spPr bwMode="auto">
              <a:xfrm>
                <a:off x="2448" y="938"/>
                <a:ext cx="0" cy="502"/>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10286" name="Line 21"/>
              <p:cNvSpPr>
                <a:spLocks noChangeShapeType="1"/>
              </p:cNvSpPr>
              <p:nvPr/>
            </p:nvSpPr>
            <p:spPr bwMode="auto">
              <a:xfrm>
                <a:off x="2544" y="809"/>
                <a:ext cx="0" cy="618"/>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10287" name="Line 22"/>
              <p:cNvSpPr>
                <a:spLocks noChangeShapeType="1"/>
              </p:cNvSpPr>
              <p:nvPr/>
            </p:nvSpPr>
            <p:spPr bwMode="auto">
              <a:xfrm>
                <a:off x="2640" y="637"/>
                <a:ext cx="0" cy="797"/>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10288" name="Line 23"/>
              <p:cNvSpPr>
                <a:spLocks noChangeShapeType="1"/>
              </p:cNvSpPr>
              <p:nvPr/>
            </p:nvSpPr>
            <p:spPr bwMode="auto">
              <a:xfrm flipH="1">
                <a:off x="2736" y="541"/>
                <a:ext cx="0" cy="899"/>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grpSp>
      </p:grpSp>
      <p:sp>
        <p:nvSpPr>
          <p:cNvPr id="100376" name="Line 24"/>
          <p:cNvSpPr>
            <a:spLocks noChangeShapeType="1"/>
          </p:cNvSpPr>
          <p:nvPr/>
        </p:nvSpPr>
        <p:spPr bwMode="auto">
          <a:xfrm>
            <a:off x="2514600" y="5672138"/>
            <a:ext cx="4267200"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grpSp>
        <p:nvGrpSpPr>
          <p:cNvPr id="5" name="Group 25"/>
          <p:cNvGrpSpPr>
            <a:grpSpLocks/>
          </p:cNvGrpSpPr>
          <p:nvPr/>
        </p:nvGrpSpPr>
        <p:grpSpPr bwMode="auto">
          <a:xfrm>
            <a:off x="2438400" y="4202113"/>
            <a:ext cx="4248150" cy="1485900"/>
            <a:chOff x="1488" y="504"/>
            <a:chExt cx="2676" cy="936"/>
          </a:xfrm>
        </p:grpSpPr>
        <p:sp>
          <p:nvSpPr>
            <p:cNvPr id="10278" name="Freeform 26"/>
            <p:cNvSpPr>
              <a:spLocks/>
            </p:cNvSpPr>
            <p:nvPr/>
          </p:nvSpPr>
          <p:spPr bwMode="auto">
            <a:xfrm>
              <a:off x="1488" y="504"/>
              <a:ext cx="1344" cy="936"/>
            </a:xfrm>
            <a:custGeom>
              <a:avLst/>
              <a:gdLst>
                <a:gd name="T0" fmla="*/ 0 w 1344"/>
                <a:gd name="T1" fmla="*/ 936 h 936"/>
                <a:gd name="T2" fmla="*/ 768 w 1344"/>
                <a:gd name="T3" fmla="*/ 744 h 936"/>
                <a:gd name="T4" fmla="*/ 1200 w 1344"/>
                <a:gd name="T5" fmla="*/ 120 h 936"/>
                <a:gd name="T6" fmla="*/ 1344 w 1344"/>
                <a:gd name="T7" fmla="*/ 24 h 936"/>
                <a:gd name="T8" fmla="*/ 0 60000 65536"/>
                <a:gd name="T9" fmla="*/ 0 60000 65536"/>
                <a:gd name="T10" fmla="*/ 0 60000 65536"/>
                <a:gd name="T11" fmla="*/ 0 60000 65536"/>
                <a:gd name="T12" fmla="*/ 0 w 1344"/>
                <a:gd name="T13" fmla="*/ 0 h 936"/>
                <a:gd name="T14" fmla="*/ 1344 w 1344"/>
                <a:gd name="T15" fmla="*/ 936 h 936"/>
              </a:gdLst>
              <a:ahLst/>
              <a:cxnLst>
                <a:cxn ang="T8">
                  <a:pos x="T0" y="T1"/>
                </a:cxn>
                <a:cxn ang="T9">
                  <a:pos x="T2" y="T3"/>
                </a:cxn>
                <a:cxn ang="T10">
                  <a:pos x="T4" y="T5"/>
                </a:cxn>
                <a:cxn ang="T11">
                  <a:pos x="T6" y="T7"/>
                </a:cxn>
              </a:cxnLst>
              <a:rect l="T12" t="T13" r="T14" b="T15"/>
              <a:pathLst>
                <a:path w="1344" h="936">
                  <a:moveTo>
                    <a:pt x="0" y="936"/>
                  </a:moveTo>
                  <a:cubicBezTo>
                    <a:pt x="284" y="908"/>
                    <a:pt x="568" y="880"/>
                    <a:pt x="768" y="744"/>
                  </a:cubicBezTo>
                  <a:cubicBezTo>
                    <a:pt x="968" y="608"/>
                    <a:pt x="1104" y="240"/>
                    <a:pt x="1200" y="120"/>
                  </a:cubicBezTo>
                  <a:cubicBezTo>
                    <a:pt x="1296" y="0"/>
                    <a:pt x="1320" y="40"/>
                    <a:pt x="1344" y="24"/>
                  </a:cubicBez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IN"/>
            </a:p>
          </p:txBody>
        </p:sp>
        <p:sp>
          <p:nvSpPr>
            <p:cNvPr id="10279" name="Freeform 27"/>
            <p:cNvSpPr>
              <a:spLocks/>
            </p:cNvSpPr>
            <p:nvPr/>
          </p:nvSpPr>
          <p:spPr bwMode="auto">
            <a:xfrm flipH="1">
              <a:off x="2820" y="504"/>
              <a:ext cx="1344" cy="936"/>
            </a:xfrm>
            <a:custGeom>
              <a:avLst/>
              <a:gdLst>
                <a:gd name="T0" fmla="*/ 0 w 1344"/>
                <a:gd name="T1" fmla="*/ 936 h 936"/>
                <a:gd name="T2" fmla="*/ 768 w 1344"/>
                <a:gd name="T3" fmla="*/ 744 h 936"/>
                <a:gd name="T4" fmla="*/ 1200 w 1344"/>
                <a:gd name="T5" fmla="*/ 120 h 936"/>
                <a:gd name="T6" fmla="*/ 1344 w 1344"/>
                <a:gd name="T7" fmla="*/ 24 h 936"/>
                <a:gd name="T8" fmla="*/ 0 60000 65536"/>
                <a:gd name="T9" fmla="*/ 0 60000 65536"/>
                <a:gd name="T10" fmla="*/ 0 60000 65536"/>
                <a:gd name="T11" fmla="*/ 0 60000 65536"/>
                <a:gd name="T12" fmla="*/ 0 w 1344"/>
                <a:gd name="T13" fmla="*/ 0 h 936"/>
                <a:gd name="T14" fmla="*/ 1344 w 1344"/>
                <a:gd name="T15" fmla="*/ 936 h 936"/>
              </a:gdLst>
              <a:ahLst/>
              <a:cxnLst>
                <a:cxn ang="T8">
                  <a:pos x="T0" y="T1"/>
                </a:cxn>
                <a:cxn ang="T9">
                  <a:pos x="T2" y="T3"/>
                </a:cxn>
                <a:cxn ang="T10">
                  <a:pos x="T4" y="T5"/>
                </a:cxn>
                <a:cxn ang="T11">
                  <a:pos x="T6" y="T7"/>
                </a:cxn>
              </a:cxnLst>
              <a:rect l="T12" t="T13" r="T14" b="T15"/>
              <a:pathLst>
                <a:path w="1344" h="936">
                  <a:moveTo>
                    <a:pt x="0" y="936"/>
                  </a:moveTo>
                  <a:cubicBezTo>
                    <a:pt x="284" y="908"/>
                    <a:pt x="568" y="880"/>
                    <a:pt x="768" y="744"/>
                  </a:cubicBezTo>
                  <a:cubicBezTo>
                    <a:pt x="968" y="608"/>
                    <a:pt x="1104" y="240"/>
                    <a:pt x="1200" y="120"/>
                  </a:cubicBezTo>
                  <a:cubicBezTo>
                    <a:pt x="1296" y="0"/>
                    <a:pt x="1320" y="40"/>
                    <a:pt x="1344" y="24"/>
                  </a:cubicBez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IN"/>
            </a:p>
          </p:txBody>
        </p:sp>
      </p:grpSp>
      <p:grpSp>
        <p:nvGrpSpPr>
          <p:cNvPr id="6" name="Group 28"/>
          <p:cNvGrpSpPr>
            <a:grpSpLocks/>
          </p:cNvGrpSpPr>
          <p:nvPr/>
        </p:nvGrpSpPr>
        <p:grpSpPr bwMode="auto">
          <a:xfrm>
            <a:off x="3622675" y="5389563"/>
            <a:ext cx="1890713" cy="298450"/>
            <a:chOff x="1968" y="1248"/>
            <a:chExt cx="1584" cy="240"/>
          </a:xfrm>
        </p:grpSpPr>
        <p:sp>
          <p:nvSpPr>
            <p:cNvPr id="10276" name="Line 29"/>
            <p:cNvSpPr>
              <a:spLocks noChangeShapeType="1"/>
            </p:cNvSpPr>
            <p:nvPr/>
          </p:nvSpPr>
          <p:spPr bwMode="auto">
            <a:xfrm flipV="1">
              <a:off x="1968" y="1248"/>
              <a:ext cx="0" cy="240"/>
            </a:xfrm>
            <a:prstGeom prst="line">
              <a:avLst/>
            </a:prstGeom>
            <a:noFill/>
            <a:ln w="5715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10277" name="Line 30"/>
            <p:cNvSpPr>
              <a:spLocks noChangeShapeType="1"/>
            </p:cNvSpPr>
            <p:nvPr/>
          </p:nvSpPr>
          <p:spPr bwMode="auto">
            <a:xfrm flipV="1">
              <a:off x="3552" y="1248"/>
              <a:ext cx="0" cy="240"/>
            </a:xfrm>
            <a:prstGeom prst="line">
              <a:avLst/>
            </a:prstGeom>
            <a:noFill/>
            <a:ln w="5715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grpSp>
      <p:grpSp>
        <p:nvGrpSpPr>
          <p:cNvPr id="7" name="Group 31"/>
          <p:cNvGrpSpPr>
            <a:grpSpLocks/>
          </p:cNvGrpSpPr>
          <p:nvPr/>
        </p:nvGrpSpPr>
        <p:grpSpPr bwMode="auto">
          <a:xfrm>
            <a:off x="3870325" y="5187950"/>
            <a:ext cx="1387475" cy="479425"/>
            <a:chOff x="1968" y="1248"/>
            <a:chExt cx="1584" cy="240"/>
          </a:xfrm>
        </p:grpSpPr>
        <p:sp>
          <p:nvSpPr>
            <p:cNvPr id="10274" name="Line 32"/>
            <p:cNvSpPr>
              <a:spLocks noChangeShapeType="1"/>
            </p:cNvSpPr>
            <p:nvPr/>
          </p:nvSpPr>
          <p:spPr bwMode="auto">
            <a:xfrm flipV="1">
              <a:off x="1968" y="1248"/>
              <a:ext cx="0" cy="24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10275" name="Line 33"/>
            <p:cNvSpPr>
              <a:spLocks noChangeShapeType="1"/>
            </p:cNvSpPr>
            <p:nvPr/>
          </p:nvSpPr>
          <p:spPr bwMode="auto">
            <a:xfrm flipV="1">
              <a:off x="3552" y="1248"/>
              <a:ext cx="0" cy="24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grpSp>
      <p:grpSp>
        <p:nvGrpSpPr>
          <p:cNvPr id="8" name="Group 34"/>
          <p:cNvGrpSpPr>
            <a:grpSpLocks/>
          </p:cNvGrpSpPr>
          <p:nvPr/>
        </p:nvGrpSpPr>
        <p:grpSpPr bwMode="auto">
          <a:xfrm>
            <a:off x="3124200" y="5919788"/>
            <a:ext cx="2971800" cy="314325"/>
            <a:chOff x="1968" y="3738"/>
            <a:chExt cx="1872" cy="198"/>
          </a:xfrm>
        </p:grpSpPr>
        <p:graphicFrame>
          <p:nvGraphicFramePr>
            <p:cNvPr id="10246" name="Object 6"/>
            <p:cNvGraphicFramePr>
              <a:graphicFrameLocks noChangeAspect="1"/>
            </p:cNvGraphicFramePr>
            <p:nvPr/>
          </p:nvGraphicFramePr>
          <p:xfrm>
            <a:off x="3312" y="3738"/>
            <a:ext cx="528" cy="198"/>
          </p:xfrm>
          <a:graphic>
            <a:graphicData uri="http://schemas.openxmlformats.org/presentationml/2006/ole">
              <mc:AlternateContent xmlns:mc="http://schemas.openxmlformats.org/markup-compatibility/2006">
                <mc:Choice xmlns:v="urn:schemas-microsoft-com:vml" Requires="v">
                  <p:oleObj spid="_x0000_s5208" name="Equation" r:id="rId8" imgW="444240" imgH="203040" progId="Equation.3">
                    <p:embed/>
                  </p:oleObj>
                </mc:Choice>
                <mc:Fallback>
                  <p:oleObj name="Equation" r:id="rId8" imgW="444240" imgH="203040" progId="Equation.3">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312" y="3738"/>
                          <a:ext cx="528" cy="19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117088" dir="19163922" algn="ctr" rotWithShape="0">
                                  <a:srgbClr val="FF0000"/>
                                </a:outerShdw>
                              </a:effectLst>
                            </a14:hiddenEffects>
                          </a:ext>
                        </a:extLst>
                      </p:spPr>
                    </p:pic>
                  </p:oleObj>
                </mc:Fallback>
              </mc:AlternateContent>
            </a:graphicData>
          </a:graphic>
        </p:graphicFrame>
        <p:graphicFrame>
          <p:nvGraphicFramePr>
            <p:cNvPr id="10247" name="Object 7"/>
            <p:cNvGraphicFramePr>
              <a:graphicFrameLocks noChangeAspect="1"/>
            </p:cNvGraphicFramePr>
            <p:nvPr/>
          </p:nvGraphicFramePr>
          <p:xfrm>
            <a:off x="1968" y="3756"/>
            <a:ext cx="480" cy="180"/>
          </p:xfrm>
          <a:graphic>
            <a:graphicData uri="http://schemas.openxmlformats.org/presentationml/2006/ole">
              <mc:AlternateContent xmlns:mc="http://schemas.openxmlformats.org/markup-compatibility/2006">
                <mc:Choice xmlns:v="urn:schemas-microsoft-com:vml" Requires="v">
                  <p:oleObj spid="_x0000_s5209" name="Equation" r:id="rId10" imgW="444240" imgH="203040" progId="Equation.3">
                    <p:embed/>
                  </p:oleObj>
                </mc:Choice>
                <mc:Fallback>
                  <p:oleObj name="Equation" r:id="rId10" imgW="444240" imgH="203040" progId="Equation.3">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968" y="3756"/>
                          <a:ext cx="480" cy="18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117088" dir="19163922" algn="ctr" rotWithShape="0">
                                  <a:srgbClr val="FF0000"/>
                                </a:outerShdw>
                              </a:effectLst>
                            </a14:hiddenEffects>
                          </a:ext>
                        </a:extLst>
                      </p:spPr>
                    </p:pic>
                  </p:oleObj>
                </mc:Fallback>
              </mc:AlternateContent>
            </a:graphicData>
          </a:graphic>
        </p:graphicFrame>
      </p:grpSp>
      <p:sp>
        <p:nvSpPr>
          <p:cNvPr id="100389" name="Text Box 37"/>
          <p:cNvSpPr txBox="1">
            <a:spLocks noChangeArrowheads="1"/>
          </p:cNvSpPr>
          <p:nvPr/>
        </p:nvSpPr>
        <p:spPr bwMode="auto">
          <a:xfrm>
            <a:off x="4267200" y="4545013"/>
            <a:ext cx="533400" cy="4572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sz="2400" b="1">
                <a:solidFill>
                  <a:srgbClr val="FF0000"/>
                </a:solidFill>
                <a:latin typeface="Arial Narrow" panose="020B0606020202030204" pitchFamily="34" charset="0"/>
              </a:rPr>
              <a:t>.95</a:t>
            </a:r>
          </a:p>
        </p:txBody>
      </p:sp>
      <p:grpSp>
        <p:nvGrpSpPr>
          <p:cNvPr id="9" name="Group 38"/>
          <p:cNvGrpSpPr>
            <a:grpSpLocks/>
          </p:cNvGrpSpPr>
          <p:nvPr/>
        </p:nvGrpSpPr>
        <p:grpSpPr bwMode="auto">
          <a:xfrm>
            <a:off x="3886200" y="4240213"/>
            <a:ext cx="1352550" cy="1427162"/>
            <a:chOff x="4716" y="2736"/>
            <a:chExt cx="852" cy="899"/>
          </a:xfrm>
        </p:grpSpPr>
        <p:grpSp>
          <p:nvGrpSpPr>
            <p:cNvPr id="10262" name="Group 39"/>
            <p:cNvGrpSpPr>
              <a:grpSpLocks/>
            </p:cNvGrpSpPr>
            <p:nvPr/>
          </p:nvGrpSpPr>
          <p:grpSpPr bwMode="auto">
            <a:xfrm>
              <a:off x="4716" y="2736"/>
              <a:ext cx="384" cy="899"/>
              <a:chOff x="4716" y="2736"/>
              <a:chExt cx="384" cy="899"/>
            </a:xfrm>
          </p:grpSpPr>
          <p:sp>
            <p:nvSpPr>
              <p:cNvPr id="10269" name="Line 40"/>
              <p:cNvSpPr>
                <a:spLocks noChangeShapeType="1"/>
              </p:cNvSpPr>
              <p:nvPr/>
            </p:nvSpPr>
            <p:spPr bwMode="auto">
              <a:xfrm>
                <a:off x="4716" y="3299"/>
                <a:ext cx="0" cy="336"/>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10270" name="Line 41"/>
              <p:cNvSpPr>
                <a:spLocks noChangeShapeType="1"/>
              </p:cNvSpPr>
              <p:nvPr/>
            </p:nvSpPr>
            <p:spPr bwMode="auto">
              <a:xfrm>
                <a:off x="4812" y="3133"/>
                <a:ext cx="0" cy="502"/>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10271" name="Line 42"/>
              <p:cNvSpPr>
                <a:spLocks noChangeShapeType="1"/>
              </p:cNvSpPr>
              <p:nvPr/>
            </p:nvSpPr>
            <p:spPr bwMode="auto">
              <a:xfrm>
                <a:off x="4908" y="3004"/>
                <a:ext cx="0" cy="618"/>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10272" name="Line 43"/>
              <p:cNvSpPr>
                <a:spLocks noChangeShapeType="1"/>
              </p:cNvSpPr>
              <p:nvPr/>
            </p:nvSpPr>
            <p:spPr bwMode="auto">
              <a:xfrm>
                <a:off x="5004" y="2832"/>
                <a:ext cx="0" cy="797"/>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10273" name="Line 44"/>
              <p:cNvSpPr>
                <a:spLocks noChangeShapeType="1"/>
              </p:cNvSpPr>
              <p:nvPr/>
            </p:nvSpPr>
            <p:spPr bwMode="auto">
              <a:xfrm flipH="1">
                <a:off x="5100" y="2736"/>
                <a:ext cx="0" cy="899"/>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grpSp>
        <p:grpSp>
          <p:nvGrpSpPr>
            <p:cNvPr id="10263" name="Group 45"/>
            <p:cNvGrpSpPr>
              <a:grpSpLocks/>
            </p:cNvGrpSpPr>
            <p:nvPr/>
          </p:nvGrpSpPr>
          <p:grpSpPr bwMode="auto">
            <a:xfrm>
              <a:off x="5184" y="2736"/>
              <a:ext cx="384" cy="899"/>
              <a:chOff x="5184" y="2736"/>
              <a:chExt cx="384" cy="899"/>
            </a:xfrm>
          </p:grpSpPr>
          <p:sp>
            <p:nvSpPr>
              <p:cNvPr id="10264" name="Line 46"/>
              <p:cNvSpPr>
                <a:spLocks noChangeShapeType="1"/>
              </p:cNvSpPr>
              <p:nvPr/>
            </p:nvSpPr>
            <p:spPr bwMode="auto">
              <a:xfrm flipH="1">
                <a:off x="5568" y="3299"/>
                <a:ext cx="0" cy="336"/>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10265" name="Line 47"/>
              <p:cNvSpPr>
                <a:spLocks noChangeShapeType="1"/>
              </p:cNvSpPr>
              <p:nvPr/>
            </p:nvSpPr>
            <p:spPr bwMode="auto">
              <a:xfrm flipH="1">
                <a:off x="5472" y="3133"/>
                <a:ext cx="0" cy="502"/>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10266" name="Line 48"/>
              <p:cNvSpPr>
                <a:spLocks noChangeShapeType="1"/>
              </p:cNvSpPr>
              <p:nvPr/>
            </p:nvSpPr>
            <p:spPr bwMode="auto">
              <a:xfrm flipH="1">
                <a:off x="5376" y="3004"/>
                <a:ext cx="0" cy="618"/>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10267" name="Line 49"/>
              <p:cNvSpPr>
                <a:spLocks noChangeShapeType="1"/>
              </p:cNvSpPr>
              <p:nvPr/>
            </p:nvSpPr>
            <p:spPr bwMode="auto">
              <a:xfrm flipH="1">
                <a:off x="5280" y="2832"/>
                <a:ext cx="0" cy="797"/>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10268" name="Line 50"/>
              <p:cNvSpPr>
                <a:spLocks noChangeShapeType="1"/>
              </p:cNvSpPr>
              <p:nvPr/>
            </p:nvSpPr>
            <p:spPr bwMode="auto">
              <a:xfrm>
                <a:off x="5184" y="2736"/>
                <a:ext cx="0" cy="899"/>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grpSp>
      </p:grpSp>
      <p:sp>
        <p:nvSpPr>
          <p:cNvPr id="100403" name="Text Box 51"/>
          <p:cNvSpPr txBox="1">
            <a:spLocks noChangeArrowheads="1"/>
          </p:cNvSpPr>
          <p:nvPr/>
        </p:nvSpPr>
        <p:spPr bwMode="auto">
          <a:xfrm>
            <a:off x="4267200" y="5002213"/>
            <a:ext cx="533400" cy="4572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sz="2400" b="1">
                <a:solidFill>
                  <a:schemeClr val="tx2"/>
                </a:solidFill>
                <a:latin typeface="Arial Narrow" panose="020B0606020202030204" pitchFamily="34" charset="0"/>
              </a:rPr>
              <a:t>.90</a:t>
            </a:r>
          </a:p>
        </p:txBody>
      </p:sp>
      <p:grpSp>
        <p:nvGrpSpPr>
          <p:cNvPr id="12" name="Group 52"/>
          <p:cNvGrpSpPr>
            <a:grpSpLocks/>
          </p:cNvGrpSpPr>
          <p:nvPr/>
        </p:nvGrpSpPr>
        <p:grpSpPr bwMode="auto">
          <a:xfrm>
            <a:off x="3508375" y="5678488"/>
            <a:ext cx="2209800" cy="285750"/>
            <a:chOff x="576" y="3024"/>
            <a:chExt cx="1392" cy="180"/>
          </a:xfrm>
        </p:grpSpPr>
        <p:graphicFrame>
          <p:nvGraphicFramePr>
            <p:cNvPr id="10244" name="Object 4"/>
            <p:cNvGraphicFramePr>
              <a:graphicFrameLocks noChangeAspect="1"/>
            </p:cNvGraphicFramePr>
            <p:nvPr/>
          </p:nvGraphicFramePr>
          <p:xfrm>
            <a:off x="1488" y="3024"/>
            <a:ext cx="480" cy="180"/>
          </p:xfrm>
          <a:graphic>
            <a:graphicData uri="http://schemas.openxmlformats.org/presentationml/2006/ole">
              <mc:AlternateContent xmlns:mc="http://schemas.openxmlformats.org/markup-compatibility/2006">
                <mc:Choice xmlns:v="urn:schemas-microsoft-com:vml" Requires="v">
                  <p:oleObj spid="_x0000_s5210" name="Equation" r:id="rId12" imgW="444240" imgH="203040" progId="Equation.3">
                    <p:embed/>
                  </p:oleObj>
                </mc:Choice>
                <mc:Fallback>
                  <p:oleObj name="Equation" r:id="rId12" imgW="444240" imgH="203040" progId="Equation.3">
                    <p:embed/>
                    <p:pic>
                      <p:nvPicPr>
                        <p:cNvPr id="0" name=""/>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488" y="3024"/>
                          <a:ext cx="480" cy="180"/>
                        </a:xfrm>
                        <a:prstGeom prst="rect">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117088" dir="19163922" algn="ctr" rotWithShape="0">
                                  <a:srgbClr val="FF0000"/>
                                </a:outerShdw>
                              </a:effectLst>
                            </a14:hiddenEffects>
                          </a:ext>
                        </a:extLst>
                      </p:spPr>
                    </p:pic>
                  </p:oleObj>
                </mc:Fallback>
              </mc:AlternateContent>
            </a:graphicData>
          </a:graphic>
        </p:graphicFrame>
        <p:graphicFrame>
          <p:nvGraphicFramePr>
            <p:cNvPr id="10245" name="Object 5"/>
            <p:cNvGraphicFramePr>
              <a:graphicFrameLocks noChangeAspect="1"/>
            </p:cNvGraphicFramePr>
            <p:nvPr/>
          </p:nvGraphicFramePr>
          <p:xfrm>
            <a:off x="576" y="3024"/>
            <a:ext cx="480" cy="180"/>
          </p:xfrm>
          <a:graphic>
            <a:graphicData uri="http://schemas.openxmlformats.org/presentationml/2006/ole">
              <mc:AlternateContent xmlns:mc="http://schemas.openxmlformats.org/markup-compatibility/2006">
                <mc:Choice xmlns:v="urn:schemas-microsoft-com:vml" Requires="v">
                  <p:oleObj spid="_x0000_s5211" name="Equation" r:id="rId14" imgW="444240" imgH="203040" progId="Equation.3">
                    <p:embed/>
                  </p:oleObj>
                </mc:Choice>
                <mc:Fallback>
                  <p:oleObj name="Equation" r:id="rId14" imgW="444240" imgH="203040" progId="Equation.3">
                    <p:embed/>
                    <p:pic>
                      <p:nvPicPr>
                        <p:cNvPr id="0" name=""/>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576" y="3024"/>
                          <a:ext cx="480" cy="180"/>
                        </a:xfrm>
                        <a:prstGeom prst="rect">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117088" dir="19163922" algn="ctr" rotWithShape="0">
                                  <a:srgbClr val="FF0000"/>
                                </a:outerShdw>
                              </a:effectLst>
                            </a14:hiddenEffects>
                          </a:ext>
                        </a:extLst>
                      </p:spPr>
                    </p:pic>
                  </p:oleObj>
                </mc:Fallback>
              </mc:AlternateContent>
            </a:graphicData>
          </a:graphic>
        </p:graphicFrame>
      </p:grpSp>
    </p:spTree>
    <p:extLst>
      <p:ext uri="{BB962C8B-B14F-4D97-AF65-F5344CB8AC3E}">
        <p14:creationId xmlns:p14="http://schemas.microsoft.com/office/powerpoint/2010/main" val="82743498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00358"/>
                                        </p:tgtEl>
                                        <p:attrNameLst>
                                          <p:attrName>style.visibility</p:attrName>
                                        </p:attrNameLst>
                                      </p:cBhvr>
                                      <p:to>
                                        <p:strVal val="visible"/>
                                      </p:to>
                                    </p:set>
                                  </p:childTnLst>
                                </p:cTn>
                              </p:par>
                            </p:childTnLst>
                          </p:cTn>
                        </p:par>
                        <p:par>
                          <p:cTn id="7" fill="hold" nodeType="afterGroup">
                            <p:stCondLst>
                              <p:cond delay="500"/>
                            </p:stCondLst>
                            <p:childTnLst>
                              <p:par>
                                <p:cTn id="8" presetID="2" presetClass="entr" presetSubtype="2" fill="hold" grpId="0" nodeType="afterEffect">
                                  <p:stCondLst>
                                    <p:cond delay="0"/>
                                  </p:stCondLst>
                                  <p:childTnLst>
                                    <p:set>
                                      <p:cBhvr>
                                        <p:cTn id="9" dur="1" fill="hold">
                                          <p:stCondLst>
                                            <p:cond delay="0"/>
                                          </p:stCondLst>
                                        </p:cTn>
                                        <p:tgtEl>
                                          <p:spTgt spid="100376"/>
                                        </p:tgtEl>
                                        <p:attrNameLst>
                                          <p:attrName>style.visibility</p:attrName>
                                        </p:attrNameLst>
                                      </p:cBhvr>
                                      <p:to>
                                        <p:strVal val="visible"/>
                                      </p:to>
                                    </p:set>
                                    <p:anim calcmode="lin" valueType="num">
                                      <p:cBhvr additive="base">
                                        <p:cTn id="10" dur="500" fill="hold"/>
                                        <p:tgtEl>
                                          <p:spTgt spid="100376"/>
                                        </p:tgtEl>
                                        <p:attrNameLst>
                                          <p:attrName>ppt_x</p:attrName>
                                        </p:attrNameLst>
                                      </p:cBhvr>
                                      <p:tavLst>
                                        <p:tav tm="0">
                                          <p:val>
                                            <p:strVal val="1+#ppt_w/2"/>
                                          </p:val>
                                        </p:tav>
                                        <p:tav tm="100000">
                                          <p:val>
                                            <p:strVal val="#ppt_x"/>
                                          </p:val>
                                        </p:tav>
                                      </p:tavLst>
                                    </p:anim>
                                    <p:anim calcmode="lin" valueType="num">
                                      <p:cBhvr additive="base">
                                        <p:cTn id="11" dur="500" fill="hold"/>
                                        <p:tgtEl>
                                          <p:spTgt spid="100376"/>
                                        </p:tgtEl>
                                        <p:attrNameLst>
                                          <p:attrName>ppt_y</p:attrName>
                                        </p:attrNameLst>
                                      </p:cBhvr>
                                      <p:tavLst>
                                        <p:tav tm="0">
                                          <p:val>
                                            <p:strVal val="#ppt_y"/>
                                          </p:val>
                                        </p:tav>
                                        <p:tav tm="100000">
                                          <p:val>
                                            <p:strVal val="#ppt_y"/>
                                          </p:val>
                                        </p:tav>
                                      </p:tavLst>
                                    </p:anim>
                                  </p:childTnLst>
                                </p:cTn>
                              </p:par>
                            </p:childTnLst>
                          </p:cTn>
                        </p:par>
                        <p:par>
                          <p:cTn id="12" fill="hold" nodeType="afterGroup">
                            <p:stCondLst>
                              <p:cond delay="1000"/>
                            </p:stCondLst>
                            <p:childTnLst>
                              <p:par>
                                <p:cTn id="13" presetID="22" presetClass="entr" presetSubtype="4" fill="hold" nodeType="after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wipe(down)">
                                      <p:cBhvr>
                                        <p:cTn id="15" dur="500"/>
                                        <p:tgtEl>
                                          <p:spTgt spid="5"/>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 presetClass="entr" presetSubtype="4" fill="hold" nodeType="clickEffect">
                                  <p:stCondLst>
                                    <p:cond delay="0"/>
                                  </p:stCondLst>
                                  <p:childTnLst>
                                    <p:set>
                                      <p:cBhvr>
                                        <p:cTn id="19" dur="1" fill="hold">
                                          <p:stCondLst>
                                            <p:cond delay="0"/>
                                          </p:stCondLst>
                                        </p:cTn>
                                        <p:tgtEl>
                                          <p:spTgt spid="8"/>
                                        </p:tgtEl>
                                        <p:attrNameLst>
                                          <p:attrName>style.visibility</p:attrName>
                                        </p:attrNameLst>
                                      </p:cBhvr>
                                      <p:to>
                                        <p:strVal val="visible"/>
                                      </p:to>
                                    </p:set>
                                    <p:anim calcmode="lin" valueType="num">
                                      <p:cBhvr additive="base">
                                        <p:cTn id="20" dur="500" fill="hold"/>
                                        <p:tgtEl>
                                          <p:spTgt spid="8"/>
                                        </p:tgtEl>
                                        <p:attrNameLst>
                                          <p:attrName>ppt_x</p:attrName>
                                        </p:attrNameLst>
                                      </p:cBhvr>
                                      <p:tavLst>
                                        <p:tav tm="0">
                                          <p:val>
                                            <p:strVal val="#ppt_x"/>
                                          </p:val>
                                        </p:tav>
                                        <p:tav tm="100000">
                                          <p:val>
                                            <p:strVal val="#ppt_x"/>
                                          </p:val>
                                        </p:tav>
                                      </p:tavLst>
                                    </p:anim>
                                    <p:anim calcmode="lin" valueType="num">
                                      <p:cBhvr additive="base">
                                        <p:cTn id="21" dur="500" fill="hold"/>
                                        <p:tgtEl>
                                          <p:spTgt spid="8"/>
                                        </p:tgtEl>
                                        <p:attrNameLst>
                                          <p:attrName>ppt_y</p:attrName>
                                        </p:attrNameLst>
                                      </p:cBhvr>
                                      <p:tavLst>
                                        <p:tav tm="0">
                                          <p:val>
                                            <p:strVal val="1+#ppt_h/2"/>
                                          </p:val>
                                        </p:tav>
                                        <p:tav tm="100000">
                                          <p:val>
                                            <p:strVal val="#ppt_y"/>
                                          </p:val>
                                        </p:tav>
                                      </p:tavLst>
                                    </p:anim>
                                  </p:childTnLst>
                                </p:cTn>
                              </p:par>
                            </p:childTnLst>
                          </p:cTn>
                        </p:par>
                        <p:par>
                          <p:cTn id="22" fill="hold" nodeType="afterGroup">
                            <p:stCondLst>
                              <p:cond delay="500"/>
                            </p:stCondLst>
                            <p:childTnLst>
                              <p:par>
                                <p:cTn id="23" presetID="17" presetClass="entr" presetSubtype="4" fill="hold" nodeType="afterEffect">
                                  <p:stCondLst>
                                    <p:cond delay="0"/>
                                  </p:stCondLst>
                                  <p:childTnLst>
                                    <p:set>
                                      <p:cBhvr>
                                        <p:cTn id="24" dur="1" fill="hold">
                                          <p:stCondLst>
                                            <p:cond delay="0"/>
                                          </p:stCondLst>
                                        </p:cTn>
                                        <p:tgtEl>
                                          <p:spTgt spid="6"/>
                                        </p:tgtEl>
                                        <p:attrNameLst>
                                          <p:attrName>style.visibility</p:attrName>
                                        </p:attrNameLst>
                                      </p:cBhvr>
                                      <p:to>
                                        <p:strVal val="visible"/>
                                      </p:to>
                                    </p:set>
                                    <p:anim calcmode="lin" valueType="num">
                                      <p:cBhvr>
                                        <p:cTn id="25" dur="500" fill="hold"/>
                                        <p:tgtEl>
                                          <p:spTgt spid="6"/>
                                        </p:tgtEl>
                                        <p:attrNameLst>
                                          <p:attrName>ppt_x</p:attrName>
                                        </p:attrNameLst>
                                      </p:cBhvr>
                                      <p:tavLst>
                                        <p:tav tm="0">
                                          <p:val>
                                            <p:strVal val="#ppt_x"/>
                                          </p:val>
                                        </p:tav>
                                        <p:tav tm="100000">
                                          <p:val>
                                            <p:strVal val="#ppt_x"/>
                                          </p:val>
                                        </p:tav>
                                      </p:tavLst>
                                    </p:anim>
                                    <p:anim calcmode="lin" valueType="num">
                                      <p:cBhvr>
                                        <p:cTn id="26" dur="500" fill="hold"/>
                                        <p:tgtEl>
                                          <p:spTgt spid="6"/>
                                        </p:tgtEl>
                                        <p:attrNameLst>
                                          <p:attrName>ppt_y</p:attrName>
                                        </p:attrNameLst>
                                      </p:cBhvr>
                                      <p:tavLst>
                                        <p:tav tm="0">
                                          <p:val>
                                            <p:strVal val="#ppt_y+#ppt_h/2"/>
                                          </p:val>
                                        </p:tav>
                                        <p:tav tm="100000">
                                          <p:val>
                                            <p:strVal val="#ppt_y"/>
                                          </p:val>
                                        </p:tav>
                                      </p:tavLst>
                                    </p:anim>
                                    <p:anim calcmode="lin" valueType="num">
                                      <p:cBhvr>
                                        <p:cTn id="27" dur="500" fill="hold"/>
                                        <p:tgtEl>
                                          <p:spTgt spid="6"/>
                                        </p:tgtEl>
                                        <p:attrNameLst>
                                          <p:attrName>ppt_w</p:attrName>
                                        </p:attrNameLst>
                                      </p:cBhvr>
                                      <p:tavLst>
                                        <p:tav tm="0">
                                          <p:val>
                                            <p:strVal val="#ppt_w"/>
                                          </p:val>
                                        </p:tav>
                                        <p:tav tm="100000">
                                          <p:val>
                                            <p:strVal val="#ppt_w"/>
                                          </p:val>
                                        </p:tav>
                                      </p:tavLst>
                                    </p:anim>
                                    <p:anim calcmode="lin" valueType="num">
                                      <p:cBhvr>
                                        <p:cTn id="28" dur="500" fill="hold"/>
                                        <p:tgtEl>
                                          <p:spTgt spid="6"/>
                                        </p:tgtEl>
                                        <p:attrNameLst>
                                          <p:attrName>ppt_h</p:attrName>
                                        </p:attrNameLst>
                                      </p:cBhvr>
                                      <p:tavLst>
                                        <p:tav tm="0">
                                          <p:val>
                                            <p:fltVal val="0"/>
                                          </p:val>
                                        </p:tav>
                                        <p:tav tm="100000">
                                          <p:val>
                                            <p:strVal val="#ppt_h"/>
                                          </p:val>
                                        </p:tav>
                                      </p:tavLst>
                                    </p:anim>
                                  </p:childTnLst>
                                </p:cTn>
                              </p:par>
                            </p:childTnLst>
                          </p:cTn>
                        </p:par>
                        <p:par>
                          <p:cTn id="29" fill="hold" nodeType="afterGroup">
                            <p:stCondLst>
                              <p:cond delay="1000"/>
                            </p:stCondLst>
                            <p:childTnLst>
                              <p:par>
                                <p:cTn id="30" presetID="17" presetClass="entr" presetSubtype="4" fill="hold" nodeType="afterEffect">
                                  <p:stCondLst>
                                    <p:cond delay="0"/>
                                  </p:stCondLst>
                                  <p:childTnLst>
                                    <p:set>
                                      <p:cBhvr>
                                        <p:cTn id="31" dur="1" fill="hold">
                                          <p:stCondLst>
                                            <p:cond delay="0"/>
                                          </p:stCondLst>
                                        </p:cTn>
                                        <p:tgtEl>
                                          <p:spTgt spid="2"/>
                                        </p:tgtEl>
                                        <p:attrNameLst>
                                          <p:attrName>style.visibility</p:attrName>
                                        </p:attrNameLst>
                                      </p:cBhvr>
                                      <p:to>
                                        <p:strVal val="visible"/>
                                      </p:to>
                                    </p:set>
                                    <p:anim calcmode="lin" valueType="num">
                                      <p:cBhvr>
                                        <p:cTn id="32" dur="500" fill="hold"/>
                                        <p:tgtEl>
                                          <p:spTgt spid="2"/>
                                        </p:tgtEl>
                                        <p:attrNameLst>
                                          <p:attrName>ppt_x</p:attrName>
                                        </p:attrNameLst>
                                      </p:cBhvr>
                                      <p:tavLst>
                                        <p:tav tm="0">
                                          <p:val>
                                            <p:strVal val="#ppt_x"/>
                                          </p:val>
                                        </p:tav>
                                        <p:tav tm="100000">
                                          <p:val>
                                            <p:strVal val="#ppt_x"/>
                                          </p:val>
                                        </p:tav>
                                      </p:tavLst>
                                    </p:anim>
                                    <p:anim calcmode="lin" valueType="num">
                                      <p:cBhvr>
                                        <p:cTn id="33" dur="500" fill="hold"/>
                                        <p:tgtEl>
                                          <p:spTgt spid="2"/>
                                        </p:tgtEl>
                                        <p:attrNameLst>
                                          <p:attrName>ppt_y</p:attrName>
                                        </p:attrNameLst>
                                      </p:cBhvr>
                                      <p:tavLst>
                                        <p:tav tm="0">
                                          <p:val>
                                            <p:strVal val="#ppt_y+#ppt_h/2"/>
                                          </p:val>
                                        </p:tav>
                                        <p:tav tm="100000">
                                          <p:val>
                                            <p:strVal val="#ppt_y"/>
                                          </p:val>
                                        </p:tav>
                                      </p:tavLst>
                                    </p:anim>
                                    <p:anim calcmode="lin" valueType="num">
                                      <p:cBhvr>
                                        <p:cTn id="34" dur="500" fill="hold"/>
                                        <p:tgtEl>
                                          <p:spTgt spid="2"/>
                                        </p:tgtEl>
                                        <p:attrNameLst>
                                          <p:attrName>ppt_w</p:attrName>
                                        </p:attrNameLst>
                                      </p:cBhvr>
                                      <p:tavLst>
                                        <p:tav tm="0">
                                          <p:val>
                                            <p:strVal val="#ppt_w"/>
                                          </p:val>
                                        </p:tav>
                                        <p:tav tm="100000">
                                          <p:val>
                                            <p:strVal val="#ppt_w"/>
                                          </p:val>
                                        </p:tav>
                                      </p:tavLst>
                                    </p:anim>
                                    <p:anim calcmode="lin" valueType="num">
                                      <p:cBhvr>
                                        <p:cTn id="35" dur="500" fill="hold"/>
                                        <p:tgtEl>
                                          <p:spTgt spid="2"/>
                                        </p:tgtEl>
                                        <p:attrNameLst>
                                          <p:attrName>ppt_h</p:attrName>
                                        </p:attrNameLst>
                                      </p:cBhvr>
                                      <p:tavLst>
                                        <p:tav tm="0">
                                          <p:val>
                                            <p:fltVal val="0"/>
                                          </p:val>
                                        </p:tav>
                                        <p:tav tm="100000">
                                          <p:val>
                                            <p:strVal val="#ppt_h"/>
                                          </p:val>
                                        </p:tav>
                                      </p:tavLst>
                                    </p:anim>
                                  </p:childTnLst>
                                </p:cTn>
                              </p:par>
                            </p:childTnLst>
                          </p:cTn>
                        </p:par>
                        <p:par>
                          <p:cTn id="36" fill="hold" nodeType="afterGroup">
                            <p:stCondLst>
                              <p:cond delay="1500"/>
                            </p:stCondLst>
                            <p:childTnLst>
                              <p:par>
                                <p:cTn id="37" presetID="4" presetClass="entr" presetSubtype="32" fill="hold" grpId="0" nodeType="afterEffect">
                                  <p:stCondLst>
                                    <p:cond delay="0"/>
                                  </p:stCondLst>
                                  <p:childTnLst>
                                    <p:set>
                                      <p:cBhvr>
                                        <p:cTn id="38" dur="1" fill="hold">
                                          <p:stCondLst>
                                            <p:cond delay="0"/>
                                          </p:stCondLst>
                                        </p:cTn>
                                        <p:tgtEl>
                                          <p:spTgt spid="100389"/>
                                        </p:tgtEl>
                                        <p:attrNameLst>
                                          <p:attrName>style.visibility</p:attrName>
                                        </p:attrNameLst>
                                      </p:cBhvr>
                                      <p:to>
                                        <p:strVal val="visible"/>
                                      </p:to>
                                    </p:set>
                                    <p:animEffect transition="in" filter="box(out)">
                                      <p:cBhvr>
                                        <p:cTn id="39" dur="500"/>
                                        <p:tgtEl>
                                          <p:spTgt spid="100389"/>
                                        </p:tgtEl>
                                      </p:cBhvr>
                                    </p:animEffect>
                                  </p:childTnLst>
                                  <p:subTnLst>
                                    <p:set>
                                      <p:cBhvr override="childStyle">
                                        <p:cTn dur="1" fill="hold" display="0" masterRel="nextClick" afterEffect="1"/>
                                        <p:tgtEl>
                                          <p:spTgt spid="100389"/>
                                        </p:tgtEl>
                                        <p:attrNameLst>
                                          <p:attrName>style.visibility</p:attrName>
                                        </p:attrNameLst>
                                      </p:cBhvr>
                                      <p:to>
                                        <p:strVal val="hidden"/>
                                      </p:to>
                                    </p:set>
                                  </p:subTnLst>
                                </p:cTn>
                              </p:par>
                            </p:childTnLst>
                          </p:cTn>
                        </p:par>
                      </p:childTnLst>
                    </p:cTn>
                  </p:par>
                  <p:par>
                    <p:cTn id="40" fill="hold" nodeType="clickPar">
                      <p:stCondLst>
                        <p:cond delay="indefinite"/>
                      </p:stCondLst>
                      <p:childTnLst>
                        <p:par>
                          <p:cTn id="41" fill="hold" nodeType="withGroup">
                            <p:stCondLst>
                              <p:cond delay="0"/>
                            </p:stCondLst>
                            <p:childTnLst>
                              <p:par>
                                <p:cTn id="42" presetID="1" presetClass="entr" presetSubtype="0" fill="hold" nodeType="clickEffect">
                                  <p:stCondLst>
                                    <p:cond delay="0"/>
                                  </p:stCondLst>
                                  <p:childTnLst>
                                    <p:set>
                                      <p:cBhvr>
                                        <p:cTn id="43" dur="1" fill="hold">
                                          <p:stCondLst>
                                            <p:cond delay="499"/>
                                          </p:stCondLst>
                                        </p:cTn>
                                        <p:tgtEl>
                                          <p:spTgt spid="12"/>
                                        </p:tgtEl>
                                        <p:attrNameLst>
                                          <p:attrName>style.visibility</p:attrName>
                                        </p:attrNameLst>
                                      </p:cBhvr>
                                      <p:to>
                                        <p:strVal val="visible"/>
                                      </p:to>
                                    </p:set>
                                  </p:childTnLst>
                                </p:cTn>
                              </p:par>
                            </p:childTnLst>
                          </p:cTn>
                        </p:par>
                        <p:par>
                          <p:cTn id="44" fill="hold" nodeType="afterGroup">
                            <p:stCondLst>
                              <p:cond delay="500"/>
                            </p:stCondLst>
                            <p:childTnLst>
                              <p:par>
                                <p:cTn id="45" presetID="17" presetClass="entr" presetSubtype="4" fill="hold" nodeType="afterEffect">
                                  <p:stCondLst>
                                    <p:cond delay="0"/>
                                  </p:stCondLst>
                                  <p:childTnLst>
                                    <p:set>
                                      <p:cBhvr>
                                        <p:cTn id="46" dur="1" fill="hold">
                                          <p:stCondLst>
                                            <p:cond delay="0"/>
                                          </p:stCondLst>
                                        </p:cTn>
                                        <p:tgtEl>
                                          <p:spTgt spid="7"/>
                                        </p:tgtEl>
                                        <p:attrNameLst>
                                          <p:attrName>style.visibility</p:attrName>
                                        </p:attrNameLst>
                                      </p:cBhvr>
                                      <p:to>
                                        <p:strVal val="visible"/>
                                      </p:to>
                                    </p:set>
                                    <p:anim calcmode="lin" valueType="num">
                                      <p:cBhvr>
                                        <p:cTn id="47" dur="500" fill="hold"/>
                                        <p:tgtEl>
                                          <p:spTgt spid="7"/>
                                        </p:tgtEl>
                                        <p:attrNameLst>
                                          <p:attrName>ppt_x</p:attrName>
                                        </p:attrNameLst>
                                      </p:cBhvr>
                                      <p:tavLst>
                                        <p:tav tm="0">
                                          <p:val>
                                            <p:strVal val="#ppt_x"/>
                                          </p:val>
                                        </p:tav>
                                        <p:tav tm="100000">
                                          <p:val>
                                            <p:strVal val="#ppt_x"/>
                                          </p:val>
                                        </p:tav>
                                      </p:tavLst>
                                    </p:anim>
                                    <p:anim calcmode="lin" valueType="num">
                                      <p:cBhvr>
                                        <p:cTn id="48" dur="500" fill="hold"/>
                                        <p:tgtEl>
                                          <p:spTgt spid="7"/>
                                        </p:tgtEl>
                                        <p:attrNameLst>
                                          <p:attrName>ppt_y</p:attrName>
                                        </p:attrNameLst>
                                      </p:cBhvr>
                                      <p:tavLst>
                                        <p:tav tm="0">
                                          <p:val>
                                            <p:strVal val="#ppt_y+#ppt_h/2"/>
                                          </p:val>
                                        </p:tav>
                                        <p:tav tm="100000">
                                          <p:val>
                                            <p:strVal val="#ppt_y"/>
                                          </p:val>
                                        </p:tav>
                                      </p:tavLst>
                                    </p:anim>
                                    <p:anim calcmode="lin" valueType="num">
                                      <p:cBhvr>
                                        <p:cTn id="49" dur="500" fill="hold"/>
                                        <p:tgtEl>
                                          <p:spTgt spid="7"/>
                                        </p:tgtEl>
                                        <p:attrNameLst>
                                          <p:attrName>ppt_w</p:attrName>
                                        </p:attrNameLst>
                                      </p:cBhvr>
                                      <p:tavLst>
                                        <p:tav tm="0">
                                          <p:val>
                                            <p:strVal val="#ppt_w"/>
                                          </p:val>
                                        </p:tav>
                                        <p:tav tm="100000">
                                          <p:val>
                                            <p:strVal val="#ppt_w"/>
                                          </p:val>
                                        </p:tav>
                                      </p:tavLst>
                                    </p:anim>
                                    <p:anim calcmode="lin" valueType="num">
                                      <p:cBhvr>
                                        <p:cTn id="50" dur="500" fill="hold"/>
                                        <p:tgtEl>
                                          <p:spTgt spid="7"/>
                                        </p:tgtEl>
                                        <p:attrNameLst>
                                          <p:attrName>ppt_h</p:attrName>
                                        </p:attrNameLst>
                                      </p:cBhvr>
                                      <p:tavLst>
                                        <p:tav tm="0">
                                          <p:val>
                                            <p:fltVal val="0"/>
                                          </p:val>
                                        </p:tav>
                                        <p:tav tm="100000">
                                          <p:val>
                                            <p:strVal val="#ppt_h"/>
                                          </p:val>
                                        </p:tav>
                                      </p:tavLst>
                                    </p:anim>
                                  </p:childTnLst>
                                </p:cTn>
                              </p:par>
                            </p:childTnLst>
                          </p:cTn>
                        </p:par>
                        <p:par>
                          <p:cTn id="51" fill="hold" nodeType="afterGroup">
                            <p:stCondLst>
                              <p:cond delay="1000"/>
                            </p:stCondLst>
                            <p:childTnLst>
                              <p:par>
                                <p:cTn id="52" presetID="22" presetClass="entr" presetSubtype="4" fill="hold" nodeType="afterEffect">
                                  <p:stCondLst>
                                    <p:cond delay="0"/>
                                  </p:stCondLst>
                                  <p:childTnLst>
                                    <p:set>
                                      <p:cBhvr>
                                        <p:cTn id="53" dur="1" fill="hold">
                                          <p:stCondLst>
                                            <p:cond delay="0"/>
                                          </p:stCondLst>
                                        </p:cTn>
                                        <p:tgtEl>
                                          <p:spTgt spid="9"/>
                                        </p:tgtEl>
                                        <p:attrNameLst>
                                          <p:attrName>style.visibility</p:attrName>
                                        </p:attrNameLst>
                                      </p:cBhvr>
                                      <p:to>
                                        <p:strVal val="visible"/>
                                      </p:to>
                                    </p:set>
                                    <p:animEffect transition="in" filter="wipe(down)">
                                      <p:cBhvr>
                                        <p:cTn id="54" dur="500"/>
                                        <p:tgtEl>
                                          <p:spTgt spid="9"/>
                                        </p:tgtEl>
                                      </p:cBhvr>
                                    </p:animEffect>
                                  </p:childTnLst>
                                </p:cTn>
                              </p:par>
                            </p:childTnLst>
                          </p:cTn>
                        </p:par>
                        <p:par>
                          <p:cTn id="55" fill="hold" nodeType="afterGroup">
                            <p:stCondLst>
                              <p:cond delay="1500"/>
                            </p:stCondLst>
                            <p:childTnLst>
                              <p:par>
                                <p:cTn id="56" presetID="4" presetClass="entr" presetSubtype="32" fill="hold" grpId="0" nodeType="afterEffect">
                                  <p:stCondLst>
                                    <p:cond delay="0"/>
                                  </p:stCondLst>
                                  <p:childTnLst>
                                    <p:set>
                                      <p:cBhvr>
                                        <p:cTn id="57" dur="1" fill="hold">
                                          <p:stCondLst>
                                            <p:cond delay="0"/>
                                          </p:stCondLst>
                                        </p:cTn>
                                        <p:tgtEl>
                                          <p:spTgt spid="100403"/>
                                        </p:tgtEl>
                                        <p:attrNameLst>
                                          <p:attrName>style.visibility</p:attrName>
                                        </p:attrNameLst>
                                      </p:cBhvr>
                                      <p:to>
                                        <p:strVal val="visible"/>
                                      </p:to>
                                    </p:set>
                                    <p:animEffect transition="in" filter="box(out)">
                                      <p:cBhvr>
                                        <p:cTn id="58" dur="500"/>
                                        <p:tgtEl>
                                          <p:spTgt spid="1004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358" grpId="0" animBg="1"/>
      <p:bldP spid="100376" grpId="0" animBg="1"/>
      <p:bldP spid="100389" grpId="0" animBg="1" autoUpdateAnimBg="0"/>
      <p:bldP spid="100403" grpId="0" animBg="1" autoUpdateAnimBg="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3B508D72-7271-420F-BA3D-26C2EC95FED4}" type="slidenum">
              <a:rPr lang="tr-TR">
                <a:solidFill>
                  <a:srgbClr val="898989"/>
                </a:solidFill>
                <a:latin typeface="Calibri" panose="020F0502020204030204" pitchFamily="34" charset="0"/>
              </a:rPr>
              <a:pPr eaLnBrk="1" hangingPunct="1"/>
              <a:t>22</a:t>
            </a:fld>
            <a:endParaRPr lang="tr-TR">
              <a:solidFill>
                <a:srgbClr val="898989"/>
              </a:solidFill>
              <a:latin typeface="Calibri" panose="020F0502020204030204" pitchFamily="34" charset="0"/>
            </a:endParaRPr>
          </a:p>
        </p:txBody>
      </p:sp>
      <p:sp>
        <p:nvSpPr>
          <p:cNvPr id="48131" name="Rectangle 2"/>
          <p:cNvSpPr>
            <a:spLocks noGrp="1" noChangeArrowheads="1"/>
          </p:cNvSpPr>
          <p:nvPr>
            <p:ph type="title"/>
          </p:nvPr>
        </p:nvSpPr>
        <p:spPr>
          <a:xfrm>
            <a:off x="533400" y="838200"/>
            <a:ext cx="8305800" cy="990600"/>
          </a:xfrm>
          <a:noFill/>
        </p:spPr>
        <p:txBody>
          <a:bodyPr/>
          <a:lstStyle/>
          <a:p>
            <a:pPr algn="l" eaLnBrk="1" hangingPunct="1">
              <a:tabLst>
                <a:tab pos="911225" algn="l"/>
              </a:tabLst>
            </a:pPr>
            <a:r>
              <a:rPr lang="en-US" sz="3600" smtClean="0">
                <a:solidFill>
                  <a:srgbClr val="FF0000"/>
                </a:solidFill>
              </a:rPr>
              <a:t>The Confidence Interval for </a:t>
            </a:r>
            <a:r>
              <a:rPr lang="en-US" sz="3600" smtClean="0">
                <a:solidFill>
                  <a:srgbClr val="FF0000"/>
                </a:solidFill>
                <a:latin typeface="Symbol" panose="05050102010706020507" pitchFamily="18" charset="2"/>
              </a:rPr>
              <a:t>m</a:t>
            </a:r>
            <a:r>
              <a:rPr lang="en-US" sz="3600" smtClean="0">
                <a:solidFill>
                  <a:srgbClr val="FF0000"/>
                </a:solidFill>
              </a:rPr>
              <a:t> ( </a:t>
            </a:r>
            <a:r>
              <a:rPr lang="en-US" sz="3600" smtClean="0">
                <a:solidFill>
                  <a:srgbClr val="FF0000"/>
                </a:solidFill>
                <a:latin typeface="Symbol" panose="05050102010706020507" pitchFamily="18" charset="2"/>
              </a:rPr>
              <a:t>s</a:t>
            </a:r>
            <a:r>
              <a:rPr lang="en-US" sz="3600" smtClean="0">
                <a:solidFill>
                  <a:srgbClr val="FF0000"/>
                </a:solidFill>
              </a:rPr>
              <a:t> is known)</a:t>
            </a:r>
          </a:p>
        </p:txBody>
      </p:sp>
      <p:sp>
        <p:nvSpPr>
          <p:cNvPr id="101379" name="Text Box 3"/>
          <p:cNvSpPr txBox="1">
            <a:spLocks noChangeArrowheads="1"/>
          </p:cNvSpPr>
          <p:nvPr/>
        </p:nvSpPr>
        <p:spPr bwMode="auto">
          <a:xfrm>
            <a:off x="1066800" y="2457450"/>
            <a:ext cx="7011988" cy="895350"/>
          </a:xfrm>
          <a:prstGeom prst="rect">
            <a:avLst/>
          </a:prstGeom>
          <a:solidFill>
            <a:srgbClr val="FFFFFF"/>
          </a:solidFill>
          <a:ln w="9525">
            <a:solidFill>
              <a:srgbClr val="008080"/>
            </a:solidFill>
            <a:miter lim="800000"/>
            <a:headEnd/>
            <a:tailEnd/>
          </a:ln>
          <a:effectLst>
            <a:outerShdw dist="53882" dir="18900000" algn="ctr" rotWithShape="0">
              <a:schemeClr val="bg2"/>
            </a:outerShdw>
          </a:effectLst>
        </p:spPr>
        <p:txBody>
          <a:bodyPr wrap="none">
            <a:spAutoFit/>
          </a:bodyPr>
          <a:lstStyle/>
          <a:p>
            <a:pPr fontAlgn="auto">
              <a:spcAft>
                <a:spcPts val="0"/>
              </a:spcAft>
              <a:buFontTx/>
              <a:buChar char="•"/>
              <a:tabLst>
                <a:tab pos="222250" algn="l"/>
              </a:tabLst>
              <a:defRPr/>
            </a:pPr>
            <a:r>
              <a:rPr lang="en-US" sz="2600" dirty="0">
                <a:solidFill>
                  <a:schemeClr val="tx2"/>
                </a:solidFill>
                <a:latin typeface="Arial Narrow" pitchFamily="34" charset="0"/>
                <a:cs typeface="+mn-cs"/>
              </a:rPr>
              <a:t>  The width of the 90% confidence interval = 2(.28) = .56</a:t>
            </a:r>
          </a:p>
          <a:p>
            <a:pPr fontAlgn="auto">
              <a:spcAft>
                <a:spcPts val="0"/>
              </a:spcAft>
              <a:tabLst>
                <a:tab pos="222250" algn="l"/>
              </a:tabLst>
              <a:defRPr/>
            </a:pPr>
            <a:r>
              <a:rPr lang="en-US" sz="2600" dirty="0">
                <a:solidFill>
                  <a:schemeClr val="tx2"/>
                </a:solidFill>
                <a:latin typeface="Arial Narrow" pitchFamily="34" charset="0"/>
                <a:cs typeface="+mn-cs"/>
              </a:rPr>
              <a:t>   The width of the 95% confidence interval = 2(.34) = .68</a:t>
            </a:r>
          </a:p>
        </p:txBody>
      </p:sp>
      <p:sp>
        <p:nvSpPr>
          <p:cNvPr id="101380" name="Text Box 4"/>
          <p:cNvSpPr txBox="1">
            <a:spLocks noChangeArrowheads="1"/>
          </p:cNvSpPr>
          <p:nvPr/>
        </p:nvSpPr>
        <p:spPr bwMode="auto">
          <a:xfrm>
            <a:off x="1219200" y="3752850"/>
            <a:ext cx="6629400" cy="895350"/>
          </a:xfrm>
          <a:prstGeom prst="rect">
            <a:avLst/>
          </a:prstGeom>
          <a:solidFill>
            <a:srgbClr val="FFFFFF"/>
          </a:solidFill>
          <a:ln w="9525">
            <a:solidFill>
              <a:srgbClr val="008080"/>
            </a:solidFill>
            <a:miter lim="800000"/>
            <a:headEnd/>
            <a:tailEnd/>
          </a:ln>
          <a:effectLst>
            <a:outerShdw dist="53882" dir="18900000" algn="ctr" rotWithShape="0">
              <a:schemeClr val="bg2"/>
            </a:outerShdw>
          </a:effectLst>
        </p:spPr>
        <p:txBody>
          <a:bodyPr>
            <a:spAutoFit/>
          </a:bodyPr>
          <a:lstStyle/>
          <a:p>
            <a:pPr fontAlgn="auto">
              <a:spcAft>
                <a:spcPts val="0"/>
              </a:spcAft>
              <a:buFontTx/>
              <a:buChar char="•"/>
              <a:tabLst>
                <a:tab pos="222250" algn="l"/>
              </a:tabLst>
              <a:defRPr/>
            </a:pPr>
            <a:r>
              <a:rPr lang="en-US" sz="2600" i="1" dirty="0">
                <a:solidFill>
                  <a:schemeClr val="tx2"/>
                </a:solidFill>
                <a:latin typeface="Arial Narrow" pitchFamily="34" charset="0"/>
                <a:cs typeface="+mn-cs"/>
              </a:rPr>
              <a:t>  Because the 95% confidence interval is wider, it is  </a:t>
            </a:r>
            <a:br>
              <a:rPr lang="en-US" sz="2600" i="1" dirty="0">
                <a:solidFill>
                  <a:schemeClr val="tx2"/>
                </a:solidFill>
                <a:latin typeface="Arial Narrow" pitchFamily="34" charset="0"/>
                <a:cs typeface="+mn-cs"/>
              </a:rPr>
            </a:br>
            <a:r>
              <a:rPr lang="en-US" sz="2600" i="1" dirty="0">
                <a:solidFill>
                  <a:schemeClr val="tx2"/>
                </a:solidFill>
                <a:latin typeface="Arial Narrow" pitchFamily="34" charset="0"/>
                <a:cs typeface="+mn-cs"/>
              </a:rPr>
              <a:t> 	more likely to include the value of </a:t>
            </a:r>
            <a:r>
              <a:rPr lang="en-US" sz="2600" i="1" dirty="0">
                <a:solidFill>
                  <a:schemeClr val="tx2"/>
                </a:solidFill>
                <a:latin typeface="Symbol" pitchFamily="18" charset="2"/>
                <a:cs typeface="+mn-cs"/>
              </a:rPr>
              <a:t>m.</a:t>
            </a:r>
            <a:endParaRPr lang="en-US" sz="2600" i="1" dirty="0">
              <a:solidFill>
                <a:schemeClr val="tx2"/>
              </a:solidFill>
              <a:latin typeface="Arial Narrow" pitchFamily="34" charset="0"/>
              <a:cs typeface="+mn-cs"/>
            </a:endParaRPr>
          </a:p>
        </p:txBody>
      </p:sp>
      <p:sp>
        <p:nvSpPr>
          <p:cNvPr id="6" name="Rectangle 6"/>
          <p:cNvSpPr txBox="1">
            <a:spLocks/>
          </p:cNvSpPr>
          <p:nvPr/>
        </p:nvSpPr>
        <p:spPr bwMode="auto">
          <a:xfrm>
            <a:off x="1262063" y="5043488"/>
            <a:ext cx="6694487" cy="977900"/>
          </a:xfrm>
          <a:prstGeom prst="rect">
            <a:avLst/>
          </a:prstGeom>
          <a:noFill/>
          <a:ln w="9525">
            <a:solidFill>
              <a:schemeClr val="accent1"/>
            </a:solidFill>
            <a:miter lim="800000"/>
            <a:headEnd/>
            <a:tailEnd/>
          </a:ln>
        </p:spPr>
        <p:txBody>
          <a:bodyPr>
            <a:normAutofit/>
          </a:bodyPr>
          <a:lstStyle/>
          <a:p>
            <a:pPr marL="342900" indent="-342900" algn="ctr" fontAlgn="auto">
              <a:spcBef>
                <a:spcPct val="20000"/>
              </a:spcBef>
              <a:spcAft>
                <a:spcPts val="0"/>
              </a:spcAft>
              <a:buFont typeface="Arial" pitchFamily="34" charset="0"/>
              <a:buChar char="•"/>
              <a:defRPr/>
            </a:pPr>
            <a:endParaRPr lang="en-US" sz="2600" i="1" dirty="0">
              <a:solidFill>
                <a:schemeClr val="tx2"/>
              </a:solidFill>
              <a:latin typeface="Arial Narrow" pitchFamily="34" charset="0"/>
              <a:cs typeface="+mn-cs"/>
            </a:endParaRPr>
          </a:p>
        </p:txBody>
      </p:sp>
      <p:sp>
        <p:nvSpPr>
          <p:cNvPr id="7" name="Rectangle 6"/>
          <p:cNvSpPr>
            <a:spLocks noChangeArrowheads="1"/>
          </p:cNvSpPr>
          <p:nvPr/>
        </p:nvSpPr>
        <p:spPr bwMode="auto">
          <a:xfrm>
            <a:off x="1331913" y="5084763"/>
            <a:ext cx="6665912" cy="893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buFont typeface="Arial" panose="020B0604020202020204" pitchFamily="34" charset="0"/>
              <a:buChar char="•"/>
            </a:pPr>
            <a:r>
              <a:rPr lang="en-US">
                <a:solidFill>
                  <a:schemeClr val="tx2"/>
                </a:solidFill>
                <a:latin typeface="Arial Narrow" panose="020B0606020202030204" pitchFamily="34" charset="0"/>
              </a:rPr>
              <a:t> </a:t>
            </a:r>
            <a:r>
              <a:rPr lang="en-US" sz="2600" i="1">
                <a:solidFill>
                  <a:schemeClr val="tx2"/>
                </a:solidFill>
                <a:latin typeface="Arial Narrow" panose="020B0606020202030204" pitchFamily="34" charset="0"/>
              </a:rPr>
              <a:t>With 95% confidence interval, we allow ourselves to </a:t>
            </a:r>
          </a:p>
          <a:p>
            <a:pPr eaLnBrk="1" hangingPunct="1"/>
            <a:r>
              <a:rPr lang="en-US" sz="2600" i="1">
                <a:solidFill>
                  <a:schemeClr val="tx2"/>
                </a:solidFill>
                <a:latin typeface="Arial Narrow" panose="020B0606020202030204" pitchFamily="34" charset="0"/>
              </a:rPr>
              <a:t>make 5% error; with 90% CI, we allow for 10%. </a:t>
            </a:r>
            <a:endParaRPr lang="en-US" sz="2600" i="1"/>
          </a:p>
        </p:txBody>
      </p:sp>
    </p:spTree>
    <p:extLst>
      <p:ext uri="{BB962C8B-B14F-4D97-AF65-F5344CB8AC3E}">
        <p14:creationId xmlns:p14="http://schemas.microsoft.com/office/powerpoint/2010/main" val="43906572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8" presetClass="entr" presetSubtype="9" fill="hold" grpId="0" nodeType="afterEffect">
                                  <p:stCondLst>
                                    <p:cond delay="0"/>
                                  </p:stCondLst>
                                  <p:childTnLst>
                                    <p:set>
                                      <p:cBhvr>
                                        <p:cTn id="6" dur="1" fill="hold">
                                          <p:stCondLst>
                                            <p:cond delay="0"/>
                                          </p:stCondLst>
                                        </p:cTn>
                                        <p:tgtEl>
                                          <p:spTgt spid="101379"/>
                                        </p:tgtEl>
                                        <p:attrNameLst>
                                          <p:attrName>style.visibility</p:attrName>
                                        </p:attrNameLst>
                                      </p:cBhvr>
                                      <p:to>
                                        <p:strVal val="visible"/>
                                      </p:to>
                                    </p:set>
                                    <p:animEffect transition="in" filter="strips(upLeft)">
                                      <p:cBhvr>
                                        <p:cTn id="7" dur="500"/>
                                        <p:tgtEl>
                                          <p:spTgt spid="101379"/>
                                        </p:tgtEl>
                                      </p:cBhvr>
                                    </p:animEffect>
                                  </p:childTnLst>
                                </p:cTn>
                              </p:par>
                            </p:childTnLst>
                          </p:cTn>
                        </p:par>
                        <p:par>
                          <p:cTn id="8" fill="hold" nodeType="afterGroup">
                            <p:stCondLst>
                              <p:cond delay="500"/>
                            </p:stCondLst>
                            <p:childTnLst>
                              <p:par>
                                <p:cTn id="9" presetID="18" presetClass="entr" presetSubtype="9" fill="hold" grpId="0" nodeType="afterEffect">
                                  <p:stCondLst>
                                    <p:cond delay="0"/>
                                  </p:stCondLst>
                                  <p:childTnLst>
                                    <p:set>
                                      <p:cBhvr>
                                        <p:cTn id="10" dur="1" fill="hold">
                                          <p:stCondLst>
                                            <p:cond delay="0"/>
                                          </p:stCondLst>
                                        </p:cTn>
                                        <p:tgtEl>
                                          <p:spTgt spid="101380"/>
                                        </p:tgtEl>
                                        <p:attrNameLst>
                                          <p:attrName>style.visibility</p:attrName>
                                        </p:attrNameLst>
                                      </p:cBhvr>
                                      <p:to>
                                        <p:strVal val="visible"/>
                                      </p:to>
                                    </p:set>
                                    <p:animEffect transition="in" filter="strips(upLeft)">
                                      <p:cBhvr>
                                        <p:cTn id="11" dur="500"/>
                                        <p:tgtEl>
                                          <p:spTgt spid="101380"/>
                                        </p:tgtEl>
                                      </p:cBhvr>
                                    </p:animEffect>
                                  </p:childTnLst>
                                </p:cTn>
                              </p:par>
                            </p:childTnLst>
                          </p:cTn>
                        </p:par>
                        <p:par>
                          <p:cTn id="12" fill="hold" nodeType="afterGroup">
                            <p:stCondLst>
                              <p:cond delay="1000"/>
                            </p:stCondLst>
                            <p:childTnLst>
                              <p:par>
                                <p:cTn id="13" presetID="2" presetClass="entr" presetSubtype="4" fill="hold" grpId="0" nodeType="afterEffect">
                                  <p:stCondLst>
                                    <p:cond delay="0"/>
                                  </p:stCondLst>
                                  <p:childTnLst>
                                    <p:set>
                                      <p:cBhvr>
                                        <p:cTn id="14" dur="1" fill="hold">
                                          <p:stCondLst>
                                            <p:cond delay="0"/>
                                          </p:stCondLst>
                                        </p:cTn>
                                        <p:tgtEl>
                                          <p:spTgt spid="6"/>
                                        </p:tgtEl>
                                        <p:attrNameLst>
                                          <p:attrName>style.visibility</p:attrName>
                                        </p:attrNameLst>
                                      </p:cBhvr>
                                      <p:to>
                                        <p:strVal val="visible"/>
                                      </p:to>
                                    </p:set>
                                    <p:anim calcmode="lin" valueType="num">
                                      <p:cBhvr additive="base">
                                        <p:cTn id="15" dur="500" fill="hold"/>
                                        <p:tgtEl>
                                          <p:spTgt spid="6"/>
                                        </p:tgtEl>
                                        <p:attrNameLst>
                                          <p:attrName>ppt_x</p:attrName>
                                        </p:attrNameLst>
                                      </p:cBhvr>
                                      <p:tavLst>
                                        <p:tav tm="0">
                                          <p:val>
                                            <p:strVal val="#ppt_x"/>
                                          </p:val>
                                        </p:tav>
                                        <p:tav tm="100000">
                                          <p:val>
                                            <p:strVal val="#ppt_x"/>
                                          </p:val>
                                        </p:tav>
                                      </p:tavLst>
                                    </p:anim>
                                    <p:anim calcmode="lin" valueType="num">
                                      <p:cBhvr additive="base">
                                        <p:cTn id="16" dur="500" fill="hold"/>
                                        <p:tgtEl>
                                          <p:spTgt spid="6"/>
                                        </p:tgtEl>
                                        <p:attrNameLst>
                                          <p:attrName>ppt_y</p:attrName>
                                        </p:attrNameLst>
                                      </p:cBhvr>
                                      <p:tavLst>
                                        <p:tav tm="0">
                                          <p:val>
                                            <p:strVal val="1+#ppt_h/2"/>
                                          </p:val>
                                        </p:tav>
                                        <p:tav tm="100000">
                                          <p:val>
                                            <p:strVal val="#ppt_y"/>
                                          </p:val>
                                        </p:tav>
                                      </p:tavLst>
                                    </p:anim>
                                  </p:childTnLst>
                                </p:cTn>
                              </p:par>
                            </p:childTnLst>
                          </p:cTn>
                        </p:par>
                        <p:par>
                          <p:cTn id="17" fill="hold" nodeType="afterGroup">
                            <p:stCondLst>
                              <p:cond delay="1500"/>
                            </p:stCondLst>
                            <p:childTnLst>
                              <p:par>
                                <p:cTn id="18" presetID="1" presetClass="entr" presetSubtype="0" fill="hold" grpId="0" nodeType="afterEffect">
                                  <p:stCondLst>
                                    <p:cond delay="0"/>
                                  </p:stCondLst>
                                  <p:childTnLst>
                                    <p:set>
                                      <p:cBhvr>
                                        <p:cTn id="19"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379" grpId="0" animBg="1" autoUpdateAnimBg="0"/>
      <p:bldP spid="101380" grpId="0" animBg="1" autoUpdateAnimBg="0"/>
      <p:bldP spid="6" grpId="0" animBg="1"/>
      <p:bldP spid="7"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Grp="1" noChangeArrowheads="1"/>
          </p:cNvSpPr>
          <p:nvPr>
            <p:ph idx="1"/>
          </p:nvPr>
        </p:nvSpPr>
        <p:spPr bwMode="auto">
          <a:xfrm>
            <a:off x="533400" y="457200"/>
            <a:ext cx="7848600" cy="566308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lang="en-US" sz="1600" b="1" dirty="0">
                <a:solidFill>
                  <a:srgbClr val="273239"/>
                </a:solidFill>
                <a:latin typeface="+mn-lt"/>
              </a:rPr>
              <a:t>Problem 3: Interval Estimation (Confidence Interval for Mean)</a:t>
            </a:r>
          </a:p>
          <a:p>
            <a:pPr marL="0" marR="0" lvl="0" indent="0" algn="l" defTabSz="914400" rtl="0" eaLnBrk="0" fontAlgn="base" latinLnBrk="0" hangingPunct="0">
              <a:lnSpc>
                <a:spcPct val="100000"/>
              </a:lnSpc>
              <a:spcBef>
                <a:spcPct val="0"/>
              </a:spcBef>
              <a:spcAft>
                <a:spcPct val="0"/>
              </a:spcAft>
              <a:buClrTx/>
              <a:buSzTx/>
              <a:buFontTx/>
              <a:buNone/>
              <a:tabLst/>
            </a:pPr>
            <a:r>
              <a:rPr lang="en-US" sz="1600" b="1" dirty="0">
                <a:solidFill>
                  <a:srgbClr val="273239"/>
                </a:solidFill>
                <a:latin typeface="+mn-lt"/>
              </a:rPr>
              <a:t>Continuing from Problem 1, suppose we want to estimate the average score for the entire class with a 95% confidence level.</a:t>
            </a:r>
          </a:p>
          <a:p>
            <a:pPr marL="0" marR="0" lvl="0" indent="0" algn="l" defTabSz="914400" rtl="0" eaLnBrk="0" fontAlgn="base" latinLnBrk="0" hangingPunct="0">
              <a:lnSpc>
                <a:spcPct val="100000"/>
              </a:lnSpc>
              <a:spcBef>
                <a:spcPct val="0"/>
              </a:spcBef>
              <a:spcAft>
                <a:spcPct val="0"/>
              </a:spcAft>
              <a:buClrTx/>
              <a:buSzTx/>
              <a:buFontTx/>
              <a:buNone/>
              <a:tabLst/>
            </a:pPr>
            <a:r>
              <a:rPr lang="en-US" sz="1600" dirty="0">
                <a:solidFill>
                  <a:srgbClr val="273239"/>
                </a:solidFill>
                <a:latin typeface="+mn-lt"/>
              </a:rPr>
              <a:t>Solution:</a:t>
            </a:r>
          </a:p>
          <a:p>
            <a:pPr marL="0" marR="0" lvl="0" indent="0" algn="l" defTabSz="914400" rtl="0" eaLnBrk="0" fontAlgn="base" latinLnBrk="0" hangingPunct="0">
              <a:lnSpc>
                <a:spcPct val="100000"/>
              </a:lnSpc>
              <a:spcBef>
                <a:spcPct val="0"/>
              </a:spcBef>
              <a:spcAft>
                <a:spcPct val="0"/>
              </a:spcAft>
              <a:buClrTx/>
              <a:buSzTx/>
              <a:buFontTx/>
              <a:buNone/>
              <a:tabLst/>
            </a:pPr>
            <a:r>
              <a:rPr lang="en-US" sz="1600" dirty="0">
                <a:solidFill>
                  <a:srgbClr val="273239"/>
                </a:solidFill>
                <a:latin typeface="+mn-lt"/>
              </a:rPr>
              <a:t>When a 95% confidence level with 9 degrees of freedom is used, the t-critical value (t*) must be calculated in order to express a mean value using a confidence interval.</a:t>
            </a:r>
          </a:p>
          <a:p>
            <a:pPr marL="0" marR="0" lvl="0" indent="0" algn="l" defTabSz="914400" rtl="0" eaLnBrk="0" fontAlgn="base" latinLnBrk="0" hangingPunct="0">
              <a:lnSpc>
                <a:spcPct val="100000"/>
              </a:lnSpc>
              <a:spcBef>
                <a:spcPct val="0"/>
              </a:spcBef>
              <a:spcAft>
                <a:spcPct val="0"/>
              </a:spcAft>
              <a:buClrTx/>
              <a:buSzTx/>
              <a:buFontTx/>
              <a:buNone/>
              <a:tabLst/>
            </a:pPr>
            <a:r>
              <a:rPr lang="en-US" sz="1600" dirty="0">
                <a:solidFill>
                  <a:srgbClr val="273239"/>
                </a:solidFill>
                <a:latin typeface="+mn-lt"/>
              </a:rPr>
              <a:t>Statistical software or internet tables can be used to find T*.</a:t>
            </a:r>
          </a:p>
          <a:p>
            <a:pPr marL="0" marR="0" lvl="0" indent="0" algn="l" defTabSz="914400" rtl="0" eaLnBrk="0" fontAlgn="base" latinLnBrk="0" hangingPunct="0">
              <a:lnSpc>
                <a:spcPct val="100000"/>
              </a:lnSpc>
              <a:spcBef>
                <a:spcPct val="0"/>
              </a:spcBef>
              <a:spcAft>
                <a:spcPct val="0"/>
              </a:spcAft>
              <a:buClrTx/>
              <a:buSzTx/>
              <a:buFontTx/>
              <a:buNone/>
              <a:tabLst/>
            </a:pPr>
            <a:r>
              <a:rPr lang="en-US" sz="1600" dirty="0">
                <a:solidFill>
                  <a:srgbClr val="273239"/>
                </a:solidFill>
                <a:latin typeface="+mn-lt"/>
              </a:rPr>
              <a:t>Assuming t* = 2.262 (for a 95% CI with 9 degrees of freedom), we can calculate the margin of error (ME):</a:t>
            </a:r>
          </a:p>
          <a:p>
            <a:pPr marL="0" marR="0" lvl="0" indent="0" algn="l" defTabSz="914400" rtl="0" eaLnBrk="0" fontAlgn="base" latinLnBrk="0" hangingPunct="0">
              <a:lnSpc>
                <a:spcPct val="100000"/>
              </a:lnSpc>
              <a:spcBef>
                <a:spcPct val="0"/>
              </a:spcBef>
              <a:spcAft>
                <a:spcPct val="0"/>
              </a:spcAft>
              <a:buClrTx/>
              <a:buSzTx/>
              <a:buFontTx/>
              <a:buNone/>
              <a:tabLst/>
            </a:pPr>
            <a:r>
              <a:rPr lang="en-US" sz="1600" dirty="0">
                <a:solidFill>
                  <a:srgbClr val="273239"/>
                </a:solidFill>
                <a:latin typeface="+mn-lt"/>
              </a:rPr>
              <a:t>ME = (t*) × (standard deviation / √n)</a:t>
            </a:r>
          </a:p>
          <a:p>
            <a:pPr marL="0" marR="0" lvl="0" indent="0" algn="l" defTabSz="914400" rtl="0" eaLnBrk="0" fontAlgn="base" latinLnBrk="0" hangingPunct="0">
              <a:lnSpc>
                <a:spcPct val="100000"/>
              </a:lnSpc>
              <a:spcBef>
                <a:spcPct val="0"/>
              </a:spcBef>
              <a:spcAft>
                <a:spcPct val="0"/>
              </a:spcAft>
              <a:buClrTx/>
              <a:buSzTx/>
              <a:buFontTx/>
              <a:buNone/>
              <a:tabLst/>
            </a:pPr>
            <a:r>
              <a:rPr lang="en-US" sz="1600" dirty="0">
                <a:solidFill>
                  <a:srgbClr val="273239"/>
                </a:solidFill>
                <a:latin typeface="+mn-lt"/>
              </a:rPr>
              <a:t>Since we don't have the population standard deviation, we can estimate it using the sample standard deviation (s). You'll need to calculate the sample standard deviation for the scores (around 5.8).</a:t>
            </a:r>
          </a:p>
          <a:p>
            <a:pPr marL="0" marR="0" lvl="0" indent="0" algn="l" defTabSz="914400" rtl="0" eaLnBrk="0" fontAlgn="base" latinLnBrk="0" hangingPunct="0">
              <a:lnSpc>
                <a:spcPct val="100000"/>
              </a:lnSpc>
              <a:spcBef>
                <a:spcPct val="0"/>
              </a:spcBef>
              <a:spcAft>
                <a:spcPct val="0"/>
              </a:spcAft>
              <a:buClrTx/>
              <a:buSzTx/>
              <a:buFontTx/>
              <a:buNone/>
              <a:tabLst/>
            </a:pPr>
            <a:r>
              <a:rPr lang="en-US" sz="1600" dirty="0">
                <a:solidFill>
                  <a:srgbClr val="273239"/>
                </a:solidFill>
                <a:latin typeface="+mn-lt"/>
              </a:rPr>
              <a:t>Example Calculation (assuming s = 5.8):</a:t>
            </a:r>
          </a:p>
          <a:p>
            <a:pPr marL="0" marR="0" lvl="0" indent="0" algn="l" defTabSz="914400" rtl="0" eaLnBrk="0" fontAlgn="base" latinLnBrk="0" hangingPunct="0">
              <a:lnSpc>
                <a:spcPct val="100000"/>
              </a:lnSpc>
              <a:spcBef>
                <a:spcPct val="0"/>
              </a:spcBef>
              <a:spcAft>
                <a:spcPct val="0"/>
              </a:spcAft>
              <a:buClrTx/>
              <a:buSzTx/>
              <a:buFontTx/>
              <a:buNone/>
              <a:tabLst/>
            </a:pPr>
            <a:r>
              <a:rPr lang="en-US" sz="1600" dirty="0">
                <a:solidFill>
                  <a:srgbClr val="273239"/>
                </a:solidFill>
                <a:latin typeface="+mn-lt"/>
              </a:rPr>
              <a:t>ME = (2.262) × (5.8 / √10) ≈ 4.3</a:t>
            </a:r>
          </a:p>
          <a:p>
            <a:pPr marL="0" marR="0" lvl="0" indent="0" algn="l" defTabSz="914400" rtl="0" eaLnBrk="0" fontAlgn="base" latinLnBrk="0" hangingPunct="0">
              <a:lnSpc>
                <a:spcPct val="100000"/>
              </a:lnSpc>
              <a:spcBef>
                <a:spcPct val="0"/>
              </a:spcBef>
              <a:spcAft>
                <a:spcPct val="0"/>
              </a:spcAft>
              <a:buClrTx/>
              <a:buSzTx/>
              <a:buFontTx/>
              <a:buNone/>
              <a:tabLst/>
            </a:pPr>
            <a:r>
              <a:rPr lang="en-US" sz="1600" dirty="0">
                <a:solidFill>
                  <a:srgbClr val="273239"/>
                </a:solidFill>
                <a:latin typeface="+mn-lt"/>
              </a:rPr>
              <a:t>Now, we can construct the confidence interval:</a:t>
            </a:r>
          </a:p>
          <a:p>
            <a:pPr marL="0" marR="0" lvl="0" indent="0" algn="l" defTabSz="914400" rtl="0" eaLnBrk="0" fontAlgn="base" latinLnBrk="0" hangingPunct="0">
              <a:lnSpc>
                <a:spcPct val="100000"/>
              </a:lnSpc>
              <a:spcBef>
                <a:spcPct val="0"/>
              </a:spcBef>
              <a:spcAft>
                <a:spcPct val="0"/>
              </a:spcAft>
              <a:buClrTx/>
              <a:buSzTx/>
              <a:buFontTx/>
              <a:buNone/>
              <a:tabLst/>
            </a:pPr>
            <a:r>
              <a:rPr lang="en-US" sz="1600" dirty="0">
                <a:solidFill>
                  <a:srgbClr val="273239"/>
                </a:solidFill>
                <a:latin typeface="+mn-lt"/>
              </a:rPr>
              <a:t>CI = Sample Mean (x̄) ± ME</a:t>
            </a:r>
          </a:p>
          <a:p>
            <a:pPr marL="0" marR="0" lvl="0" indent="0" algn="l" defTabSz="914400" rtl="0" eaLnBrk="0" fontAlgn="base" latinLnBrk="0" hangingPunct="0">
              <a:lnSpc>
                <a:spcPct val="100000"/>
              </a:lnSpc>
              <a:spcBef>
                <a:spcPct val="0"/>
              </a:spcBef>
              <a:spcAft>
                <a:spcPct val="0"/>
              </a:spcAft>
              <a:buClrTx/>
              <a:buSzTx/>
              <a:buFontTx/>
              <a:buNone/>
              <a:tabLst/>
            </a:pPr>
            <a:r>
              <a:rPr lang="en-US" sz="1600" dirty="0">
                <a:solidFill>
                  <a:srgbClr val="273239"/>
                </a:solidFill>
                <a:latin typeface="+mn-lt"/>
              </a:rPr>
              <a:t>CI = 83.3 ± 4.3</a:t>
            </a:r>
          </a:p>
          <a:p>
            <a:pPr marL="0" marR="0" lvl="0" indent="0" algn="l" defTabSz="914400" rtl="0" eaLnBrk="0" fontAlgn="base" latinLnBrk="0" hangingPunct="0">
              <a:lnSpc>
                <a:spcPct val="100000"/>
              </a:lnSpc>
              <a:spcBef>
                <a:spcPct val="0"/>
              </a:spcBef>
              <a:spcAft>
                <a:spcPct val="0"/>
              </a:spcAft>
              <a:buClrTx/>
              <a:buSzTx/>
              <a:buFontTx/>
              <a:buNone/>
              <a:tabLst/>
            </a:pPr>
            <a:r>
              <a:rPr lang="en-US" sz="1600" dirty="0">
                <a:solidFill>
                  <a:srgbClr val="273239"/>
                </a:solidFill>
                <a:latin typeface="+mn-lt"/>
              </a:rPr>
              <a:t>Therefore, the 95% confidence interval for the mean score is approximately (79, 87.6).</a:t>
            </a:r>
          </a:p>
          <a:p>
            <a:pPr marL="0" marR="0" lvl="0" indent="0" algn="l" defTabSz="914400" rtl="0" eaLnBrk="0" fontAlgn="base" latinLnBrk="0" hangingPunct="0">
              <a:lnSpc>
                <a:spcPct val="100000"/>
              </a:lnSpc>
              <a:spcBef>
                <a:spcPct val="0"/>
              </a:spcBef>
              <a:spcAft>
                <a:spcPct val="0"/>
              </a:spcAft>
              <a:buClrTx/>
              <a:buSzTx/>
              <a:buFontTx/>
              <a:buNone/>
              <a:tabLst/>
            </a:pPr>
            <a:r>
              <a:rPr lang="en-US" sz="1600" dirty="0">
                <a:solidFill>
                  <a:srgbClr val="273239"/>
                </a:solidFill>
                <a:latin typeface="+mn-lt"/>
              </a:rPr>
              <a:t>Interpretation: We can be 95% confident that the true average score for the entire class lies somewhere between 79 and 87.6.</a:t>
            </a:r>
          </a:p>
          <a:p>
            <a:pPr marL="0" marR="0" lvl="0" indent="0" algn="l" defTabSz="914400" rtl="0" eaLnBrk="0" fontAlgn="base" latinLnBrk="0" hangingPunct="0">
              <a:lnSpc>
                <a:spcPct val="100000"/>
              </a:lnSpc>
              <a:spcBef>
                <a:spcPct val="0"/>
              </a:spcBef>
              <a:spcAft>
                <a:spcPct val="0"/>
              </a:spcAft>
              <a:buClrTx/>
              <a:buSzTx/>
              <a:buFontTx/>
              <a:buNone/>
              <a:tabLst/>
            </a:pPr>
            <a:r>
              <a:rPr lang="en-US" sz="1600" dirty="0">
                <a:solidFill>
                  <a:srgbClr val="273239"/>
                </a:solidFill>
                <a:latin typeface="+mn-lt"/>
              </a:rPr>
              <a:t/>
            </a:r>
            <a:br>
              <a:rPr lang="en-US" sz="1600" dirty="0">
                <a:solidFill>
                  <a:srgbClr val="273239"/>
                </a:solidFill>
                <a:latin typeface="+mn-lt"/>
              </a:rPr>
            </a:br>
            <a:endParaRPr lang="en-US" sz="1600" dirty="0">
              <a:solidFill>
                <a:srgbClr val="273239"/>
              </a:solidFill>
              <a:latin typeface="+mn-lt"/>
            </a:endParaRPr>
          </a:p>
        </p:txBody>
      </p:sp>
    </p:spTree>
    <p:extLst>
      <p:ext uri="{BB962C8B-B14F-4D97-AF65-F5344CB8AC3E}">
        <p14:creationId xmlns:p14="http://schemas.microsoft.com/office/powerpoint/2010/main" val="3026967022"/>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ow">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11810</TotalTime>
  <Words>1660</Words>
  <Application>Microsoft Office PowerPoint</Application>
  <PresentationFormat>On-screen Show (4:3)</PresentationFormat>
  <Paragraphs>161</Paragraphs>
  <Slides>23</Slides>
  <Notes>4</Notes>
  <HiddenSlides>0</HiddenSlides>
  <MMClips>0</MMClips>
  <ScaleCrop>false</ScaleCrop>
  <HeadingPairs>
    <vt:vector size="8" baseType="variant">
      <vt:variant>
        <vt:lpstr>Fonts Used</vt:lpstr>
      </vt:variant>
      <vt:variant>
        <vt:i4>9</vt:i4>
      </vt:variant>
      <vt:variant>
        <vt:lpstr>Theme</vt:lpstr>
      </vt:variant>
      <vt:variant>
        <vt:i4>1</vt:i4>
      </vt:variant>
      <vt:variant>
        <vt:lpstr>Embedded OLE Servers</vt:lpstr>
      </vt:variant>
      <vt:variant>
        <vt:i4>1</vt:i4>
      </vt:variant>
      <vt:variant>
        <vt:lpstr>Slide Titles</vt:lpstr>
      </vt:variant>
      <vt:variant>
        <vt:i4>23</vt:i4>
      </vt:variant>
    </vt:vector>
  </HeadingPairs>
  <TitlesOfParts>
    <vt:vector size="34" baseType="lpstr">
      <vt:lpstr>Arial Unicode MS</vt:lpstr>
      <vt:lpstr>Arial</vt:lpstr>
      <vt:lpstr>Arial</vt:lpstr>
      <vt:lpstr>Arial Narrow</vt:lpstr>
      <vt:lpstr>Calibri</vt:lpstr>
      <vt:lpstr>Constantia</vt:lpstr>
      <vt:lpstr>Symbol</vt:lpstr>
      <vt:lpstr>Times New Roman</vt:lpstr>
      <vt:lpstr>Wingdings 2</vt:lpstr>
      <vt:lpstr>Flow</vt:lpstr>
      <vt:lpstr>Equation</vt:lpstr>
      <vt:lpstr>Estimation and Central Limit Theorem Unit 4</vt:lpstr>
      <vt:lpstr>Parameter v/s Statistics</vt:lpstr>
      <vt:lpstr>Parameter v/s Statistics</vt:lpstr>
      <vt:lpstr>Central limit theorem for mean</vt:lpstr>
      <vt:lpstr>Central Limit Theorem</vt:lpstr>
      <vt:lpstr>Distribution of graph for rolling a die n times  (n = 1 to 5)  </vt:lpstr>
      <vt:lpstr>Central Limit theorem</vt:lpstr>
      <vt:lpstr>Assumptions in Central Limit theorem</vt:lpstr>
      <vt:lpstr>Central limit theorem for proportions</vt:lpstr>
      <vt:lpstr>Estimation in Statistics</vt:lpstr>
      <vt:lpstr>Point Estimation </vt:lpstr>
      <vt:lpstr>Point Estimation Example</vt:lpstr>
      <vt:lpstr>Point Estimation Example</vt:lpstr>
      <vt:lpstr>Point Estimation Example</vt:lpstr>
      <vt:lpstr>Point Estimation Example</vt:lpstr>
      <vt:lpstr>Point Estimation Example</vt:lpstr>
      <vt:lpstr>Interval Estimation </vt:lpstr>
      <vt:lpstr>Confidence Intervals </vt:lpstr>
      <vt:lpstr>Graphical Demonstration of the Confidence Interval for m</vt:lpstr>
      <vt:lpstr>The Confidence Interval for m ( s is known)</vt:lpstr>
      <vt:lpstr>The Confidence Interval for m ( s is known)</vt:lpstr>
      <vt:lpstr>The Confidence Interval for m ( s is known)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Mining:  Data Preprocessing</dc:title>
  <dc:creator>gcet</dc:creator>
  <cp:lastModifiedBy>gcet</cp:lastModifiedBy>
  <cp:revision>417</cp:revision>
  <dcterms:created xsi:type="dcterms:W3CDTF">2016-07-12T18:21:21Z</dcterms:created>
  <dcterms:modified xsi:type="dcterms:W3CDTF">2024-11-27T04:22:34Z</dcterms:modified>
</cp:coreProperties>
</file>