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y="6858000" cx="9144000"/>
  <p:notesSz cx="6858000" cy="9144000"/>
  <p:embeddedFontLst>
    <p:embeddedFont>
      <p:font typeface="Roboto"/>
      <p:regular r:id="rId110"/>
      <p:bold r:id="rId111"/>
      <p:italic r:id="rId112"/>
      <p:boldItalic r:id="rId113"/>
    </p:embeddedFont>
    <p:embeddedFont>
      <p:font typeface="Constantia"/>
      <p:regular r:id="rId114"/>
      <p:bold r:id="rId115"/>
      <p:italic r:id="rId116"/>
      <p:boldItalic r:id="rId117"/>
    </p:embeddedFont>
    <p:embeddedFont>
      <p:font typeface="Lato"/>
      <p:regular r:id="rId118"/>
      <p:bold r:id="rId119"/>
      <p:italic r:id="rId120"/>
      <p:boldItalic r:id="rId121"/>
    </p:embeddedFont>
    <p:embeddedFont>
      <p:font typeface="Open Sans"/>
      <p:regular r:id="rId122"/>
      <p:bold r:id="rId123"/>
      <p:italic r:id="rId124"/>
      <p:boldItalic r:id="rId1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26" roundtripDataSignature="AMtx7mgibGbv8rRSPjTuSxlH4UJozdXC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6" Type="http://customschemas.google.com/relationships/presentationmetadata" Target="metadata"/><Relationship Id="rId26" Type="http://schemas.openxmlformats.org/officeDocument/2006/relationships/slide" Target="slides/slide20.xml"/><Relationship Id="rId121" Type="http://schemas.openxmlformats.org/officeDocument/2006/relationships/font" Target="fonts/Lato-boldItalic.fntdata"/><Relationship Id="rId25" Type="http://schemas.openxmlformats.org/officeDocument/2006/relationships/slide" Target="slides/slide19.xml"/><Relationship Id="rId120" Type="http://schemas.openxmlformats.org/officeDocument/2006/relationships/font" Target="fonts/Lato-italic.fntdata"/><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font" Target="fonts/OpenSans-boldItalic.fntdata"/><Relationship Id="rId29" Type="http://schemas.openxmlformats.org/officeDocument/2006/relationships/slide" Target="slides/slide23.xml"/><Relationship Id="rId124" Type="http://schemas.openxmlformats.org/officeDocument/2006/relationships/font" Target="fonts/OpenSans-italic.fntdata"/><Relationship Id="rId123" Type="http://schemas.openxmlformats.org/officeDocument/2006/relationships/font" Target="fonts/OpenSans-bold.fntdata"/><Relationship Id="rId122" Type="http://schemas.openxmlformats.org/officeDocument/2006/relationships/font" Target="fonts/OpenSans-regular.fntdata"/><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font" Target="fonts/Lato-regular.fntdata"/><Relationship Id="rId117" Type="http://schemas.openxmlformats.org/officeDocument/2006/relationships/font" Target="fonts/Constantia-boldItalic.fntdata"/><Relationship Id="rId116" Type="http://schemas.openxmlformats.org/officeDocument/2006/relationships/font" Target="fonts/Constantia-italic.fntdata"/><Relationship Id="rId115" Type="http://schemas.openxmlformats.org/officeDocument/2006/relationships/font" Target="fonts/Constantia-bold.fntdata"/><Relationship Id="rId119" Type="http://schemas.openxmlformats.org/officeDocument/2006/relationships/font" Target="fonts/Lato-bold.fntdata"/><Relationship Id="rId15" Type="http://schemas.openxmlformats.org/officeDocument/2006/relationships/slide" Target="slides/slide9.xml"/><Relationship Id="rId110" Type="http://schemas.openxmlformats.org/officeDocument/2006/relationships/font" Target="fonts/Roboto-regular.fntdata"/><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Constantia-regular.fntdata"/><Relationship Id="rId18" Type="http://schemas.openxmlformats.org/officeDocument/2006/relationships/slide" Target="slides/slide12.xml"/><Relationship Id="rId113" Type="http://schemas.openxmlformats.org/officeDocument/2006/relationships/font" Target="fonts/Roboto-boldItalic.fntdata"/><Relationship Id="rId112" Type="http://schemas.openxmlformats.org/officeDocument/2006/relationships/font" Target="fonts/Roboto-italic.fntdata"/><Relationship Id="rId111" Type="http://schemas.openxmlformats.org/officeDocument/2006/relationships/font" Target="fonts/Roboto-bold.fntdata"/><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9" name="Google Shape;559;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7" name="Google Shape;577;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0" name="Google Shape;650;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7" name="Google Shape;707;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9" name="Google Shape;719;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5" name="Google Shape;725;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5" name="Google Shape;755;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0" name="Google Shape;770;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10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0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10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10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0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10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106"/>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06"/>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10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0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109"/>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9"/>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10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0"/>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110"/>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1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11"/>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111"/>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111"/>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111"/>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1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1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1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114"/>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14"/>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114"/>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115"/>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115"/>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11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1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11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1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11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96" name="Google Shape;96;p115"/>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115"/>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1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16"/>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1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17"/>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17"/>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1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05"/>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105"/>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10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0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10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10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10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105"/>
          <p:cNvGrpSpPr/>
          <p:nvPr/>
        </p:nvGrpSpPr>
        <p:grpSpPr>
          <a:xfrm>
            <a:off x="-29294" y="-16113"/>
            <a:ext cx="9198255" cy="1086266"/>
            <a:chOff x="-29322" y="-1971"/>
            <a:chExt cx="9198255" cy="1086266"/>
          </a:xfrm>
        </p:grpSpPr>
        <p:sp>
          <p:nvSpPr>
            <p:cNvPr id="18" name="Google Shape;18;p10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10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104"/>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104"/>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10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10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10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10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10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104"/>
          <p:cNvGrpSpPr/>
          <p:nvPr/>
        </p:nvGrpSpPr>
        <p:grpSpPr>
          <a:xfrm>
            <a:off x="-29294" y="-16113"/>
            <a:ext cx="9198255" cy="1086266"/>
            <a:chOff x="-29322" y="-1971"/>
            <a:chExt cx="9198255" cy="1086266"/>
          </a:xfrm>
        </p:grpSpPr>
        <p:sp>
          <p:nvSpPr>
            <p:cNvPr id="35" name="Google Shape;35;p104"/>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104"/>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4.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6.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2.png"/><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0.png"/><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2.png"/><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35.png"/><Relationship Id="rId6" Type="http://schemas.openxmlformats.org/officeDocument/2006/relationships/image" Target="../media/image4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4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1.png"/><Relationship Id="rId4" Type="http://schemas.openxmlformats.org/officeDocument/2006/relationships/image" Target="../media/image3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3.png"/><Relationship Id="rId4"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3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5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4.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4.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4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8.png"/><Relationship Id="rId4" Type="http://schemas.openxmlformats.org/officeDocument/2006/relationships/image" Target="../media/image6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52.png"/><Relationship Id="rId4" Type="http://schemas.openxmlformats.org/officeDocument/2006/relationships/image" Target="../media/image5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5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4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4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5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6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60.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5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65.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6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66.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8.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ctr">
              <a:spcBef>
                <a:spcPts val="0"/>
              </a:spcBef>
              <a:spcAft>
                <a:spcPts val="0"/>
              </a:spcAft>
              <a:buClr>
                <a:srgbClr val="4CE0EA"/>
              </a:buClr>
              <a:buSzPts val="5400"/>
              <a:buFont typeface="Calibri"/>
              <a:buNone/>
            </a:pPr>
            <a:r>
              <a:rPr lang="en-US" sz="5400"/>
              <a:t>Introduction to Probability</a:t>
            </a:r>
            <a:br>
              <a:rPr lang="en-US" sz="5400"/>
            </a:br>
            <a:r>
              <a:rPr lang="en-US" sz="5400"/>
              <a:t>Unit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Learning Objectives</a:t>
            </a:r>
            <a:endParaRPr/>
          </a:p>
        </p:txBody>
      </p:sp>
      <p:sp>
        <p:nvSpPr>
          <p:cNvPr id="120" name="Google Shape;120;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just">
              <a:spcBef>
                <a:spcPts val="0"/>
              </a:spcBef>
              <a:spcAft>
                <a:spcPts val="0"/>
              </a:spcAft>
              <a:buSzPct val="95000"/>
              <a:buChar char="⚫"/>
            </a:pPr>
            <a:r>
              <a:rPr lang="en-US" sz="2000"/>
              <a:t>Understand uncertainty and how probability concepts are used for measuring and modelling uncertainty.</a:t>
            </a:r>
            <a:endParaRPr/>
          </a:p>
          <a:p>
            <a:pPr indent="-274320" lvl="0" marL="274320" rtl="0" algn="just">
              <a:spcBef>
                <a:spcPts val="370"/>
              </a:spcBef>
              <a:spcAft>
                <a:spcPts val="0"/>
              </a:spcAft>
              <a:buSzPct val="95000"/>
              <a:buChar char="⚫"/>
            </a:pPr>
            <a:r>
              <a:rPr lang="en-US" sz="2000"/>
              <a:t>Learn basic concepts in probability: axioms of probability, frequency estimate of probability, conditional probability and Bayes’ theorem.</a:t>
            </a:r>
            <a:endParaRPr/>
          </a:p>
          <a:p>
            <a:pPr indent="-274320" lvl="0" marL="274320" rtl="0" algn="just">
              <a:spcBef>
                <a:spcPts val="370"/>
              </a:spcBef>
              <a:spcAft>
                <a:spcPts val="0"/>
              </a:spcAft>
              <a:buSzPct val="95000"/>
              <a:buChar char="⚫"/>
            </a:pPr>
            <a:r>
              <a:rPr lang="en-US" sz="2000"/>
              <a:t>Learn how simple probability rules are used for solving business problems using association rule mining and its applications in market basket analysis and recommender systems.</a:t>
            </a:r>
            <a:endParaRPr/>
          </a:p>
          <a:p>
            <a:pPr indent="-274320" lvl="0" marL="274320" rtl="0" algn="just">
              <a:spcBef>
                <a:spcPts val="370"/>
              </a:spcBef>
              <a:spcAft>
                <a:spcPts val="0"/>
              </a:spcAft>
              <a:buSzPct val="95000"/>
              <a:buChar char="⚫"/>
            </a:pPr>
            <a:r>
              <a:rPr lang="en-US" sz="2000"/>
              <a:t>Understand the concept of random variables, discrete and continuous random variables, probability density function, and cumulative distribution function.</a:t>
            </a:r>
            <a:endParaRPr/>
          </a:p>
          <a:p>
            <a:pPr indent="-274320" lvl="0" marL="274320" rtl="0" algn="just">
              <a:spcBef>
                <a:spcPts val="370"/>
              </a:spcBef>
              <a:spcAft>
                <a:spcPts val="0"/>
              </a:spcAft>
              <a:buSzPct val="95000"/>
              <a:buChar char="⚫"/>
            </a:pPr>
            <a:r>
              <a:rPr lang="en-US" sz="2000"/>
              <a:t>Understand various discrete distributions such as binomial distribution, Poisson distribution, and geometric distribution and their applications for solving business problems. </a:t>
            </a:r>
            <a:endParaRPr/>
          </a:p>
          <a:p>
            <a:pPr indent="-274320" lvl="0" marL="274320" rtl="0" algn="just">
              <a:spcBef>
                <a:spcPts val="370"/>
              </a:spcBef>
              <a:spcAft>
                <a:spcPts val="0"/>
              </a:spcAft>
              <a:buSzPct val="95000"/>
              <a:buChar char="⚫"/>
            </a:pPr>
            <a:r>
              <a:rPr lang="en-US" sz="2000"/>
              <a:t>Understand various continuous distributions such as uniform, exponential, normal, chi-square, t, and F distributions and their applications for solving business problems.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Introduction to Probability</a:t>
            </a:r>
            <a:endParaRPr/>
          </a:p>
        </p:txBody>
      </p:sp>
      <p:sp>
        <p:nvSpPr>
          <p:cNvPr id="126" name="Google Shape;126;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One of the primary objectives in analytics is to measure the uncertainty associated with an event or key performance indicator. </a:t>
            </a:r>
            <a:endParaRPr sz="2000"/>
          </a:p>
          <a:p>
            <a:pPr indent="-274320" lvl="0" marL="274320" rtl="0" algn="just">
              <a:spcBef>
                <a:spcPts val="400"/>
              </a:spcBef>
              <a:spcAft>
                <a:spcPts val="0"/>
              </a:spcAft>
              <a:buSzPts val="1900"/>
              <a:buChar char="⚫"/>
            </a:pPr>
            <a:r>
              <a:rPr lang="en-US" sz="2000"/>
              <a:t>Axioms of probability and the concept of random variable are fundamental building blocks of analytics that are used for measuring uncertainty associated with key performance indicators of importance for a business. </a:t>
            </a:r>
            <a:endParaRPr sz="2000"/>
          </a:p>
          <a:p>
            <a:pPr indent="-274320" lvl="0" marL="274320" rtl="0" algn="just">
              <a:spcBef>
                <a:spcPts val="400"/>
              </a:spcBef>
              <a:spcAft>
                <a:spcPts val="0"/>
              </a:spcAft>
              <a:buSzPts val="1900"/>
              <a:buChar char="⚫"/>
            </a:pPr>
            <a:r>
              <a:rPr lang="en-US" sz="2000"/>
              <a:t>Probability theory is the foundation on which descriptive and predictive analytics models are built.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Introduction to Probability</a:t>
            </a:r>
            <a:endParaRPr/>
          </a:p>
        </p:txBody>
      </p:sp>
      <p:sp>
        <p:nvSpPr>
          <p:cNvPr id="132" name="Google Shape;132;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280"/>
              <a:buChar char="⚫"/>
            </a:pPr>
            <a:r>
              <a:rPr lang="en-US" sz="2400"/>
              <a:t>Analytics applications involve tasks such as prediction of probability of occurrence of an event, testing a hypothesis, building models to explain variation in a variable of importance to the business such as profitability, market share, demand, etc. </a:t>
            </a:r>
            <a:endParaRPr sz="2400"/>
          </a:p>
          <a:p>
            <a:pPr indent="-274320" lvl="0" marL="274320" rtl="0" algn="just">
              <a:spcBef>
                <a:spcPts val="480"/>
              </a:spcBef>
              <a:spcAft>
                <a:spcPts val="0"/>
              </a:spcAft>
              <a:buSzPts val="2280"/>
              <a:buChar char="⚫"/>
            </a:pPr>
            <a:r>
              <a:rPr lang="en-US" sz="2400"/>
              <a:t>Many important tasks in analytics deal with uncertain events and it is essential to understand probability theory that can be used to predict and measure uncertain events.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txBox="1"/>
          <p:nvPr>
            <p:ph type="title"/>
          </p:nvPr>
        </p:nvSpPr>
        <p:spPr>
          <a:xfrm>
            <a:off x="609600" y="6858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Introduction to Probability</a:t>
            </a:r>
            <a:endParaRPr/>
          </a:p>
        </p:txBody>
      </p:sp>
      <p:sp>
        <p:nvSpPr>
          <p:cNvPr id="138" name="Google Shape;138;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1" marL="274320" rtl="0" algn="just">
              <a:lnSpc>
                <a:spcPct val="140000"/>
              </a:lnSpc>
              <a:spcBef>
                <a:spcPts val="0"/>
              </a:spcBef>
              <a:spcAft>
                <a:spcPts val="0"/>
              </a:spcAft>
              <a:buClr>
                <a:schemeClr val="accent3"/>
              </a:buClr>
              <a:buSzPts val="2090"/>
              <a:buChar char="⚫"/>
            </a:pPr>
            <a:r>
              <a:rPr lang="en-US" sz="2200"/>
              <a:t>Probability quantifies the uncertainty of the outcomes of a random variable. Or, it quantifies likelihood or possibilities of an event.</a:t>
            </a:r>
            <a:endParaRPr/>
          </a:p>
          <a:p>
            <a:pPr indent="-274320" lvl="1" marL="274320" rtl="0" algn="just">
              <a:lnSpc>
                <a:spcPct val="140000"/>
              </a:lnSpc>
              <a:spcBef>
                <a:spcPts val="440"/>
              </a:spcBef>
              <a:spcAft>
                <a:spcPts val="0"/>
              </a:spcAft>
              <a:buClr>
                <a:schemeClr val="accent3"/>
              </a:buClr>
              <a:buSzPts val="2090"/>
              <a:buChar char="⚫"/>
            </a:pPr>
            <a:r>
              <a:rPr lang="en-US" sz="2200"/>
              <a:t>Specifically, it quantifies how likely a specific outcome is for a random variable, such as the flip of a coin, the roll of a dice, or drawing a playing card from a deck.</a:t>
            </a:r>
            <a:endParaRPr/>
          </a:p>
          <a:p>
            <a:pPr indent="-274320" lvl="1" marL="274320" rtl="0" algn="just">
              <a:lnSpc>
                <a:spcPct val="140000"/>
              </a:lnSpc>
              <a:spcBef>
                <a:spcPts val="440"/>
              </a:spcBef>
              <a:spcAft>
                <a:spcPts val="0"/>
              </a:spcAft>
              <a:buClr>
                <a:schemeClr val="accent3"/>
              </a:buClr>
              <a:buSzPts val="2090"/>
              <a:buChar char="⚫"/>
            </a:pPr>
            <a:r>
              <a:rPr lang="en-US" sz="2200"/>
              <a:t>For a random variable x, P(x) is a function that assigns a probability to all values of x.</a:t>
            </a:r>
            <a:endParaRPr/>
          </a:p>
          <a:p>
            <a:pPr indent="-274320" lvl="1" marL="274320" rtl="0" algn="just">
              <a:lnSpc>
                <a:spcPct val="140000"/>
              </a:lnSpc>
              <a:spcBef>
                <a:spcPts val="440"/>
              </a:spcBef>
              <a:spcAft>
                <a:spcPts val="0"/>
              </a:spcAft>
              <a:buClr>
                <a:schemeClr val="accent3"/>
              </a:buClr>
              <a:buSzPts val="2090"/>
              <a:buChar char="⚫"/>
            </a:pPr>
            <a:r>
              <a:rPr lang="en-US" sz="2200"/>
              <a:t>Probability Density of x = P(x)</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THEORY – TERMINOLOGY</a:t>
            </a:r>
            <a:endParaRPr/>
          </a:p>
        </p:txBody>
      </p:sp>
      <p:sp>
        <p:nvSpPr>
          <p:cNvPr id="144" name="Google Shape;144;p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95000"/>
              <a:buNone/>
            </a:pPr>
            <a:r>
              <a:rPr b="1" lang="en-US"/>
              <a:t>Random Experiment</a:t>
            </a:r>
            <a:endParaRPr/>
          </a:p>
          <a:p>
            <a:pPr indent="-274320" lvl="0" marL="274320" rtl="0" algn="l">
              <a:spcBef>
                <a:spcPts val="481"/>
              </a:spcBef>
              <a:spcAft>
                <a:spcPts val="0"/>
              </a:spcAft>
              <a:buSzPct val="95000"/>
              <a:buChar char="⚫"/>
            </a:pPr>
            <a:r>
              <a:rPr lang="en-US"/>
              <a:t>Random experiment is an experiment in which the outcome is not known with certainty. That is, the output of a random experiment cannot be predicted with certainty.</a:t>
            </a:r>
            <a:endParaRPr/>
          </a:p>
          <a:p>
            <a:pPr indent="-274320" lvl="0" marL="274320" rtl="0" algn="l">
              <a:spcBef>
                <a:spcPts val="481"/>
              </a:spcBef>
              <a:spcAft>
                <a:spcPts val="0"/>
              </a:spcAft>
              <a:buSzPct val="95000"/>
              <a:buChar char="⚫"/>
            </a:pPr>
            <a:r>
              <a:rPr lang="en-US"/>
              <a:t>Predictive analytics mainly deals with random experiments such as:</a:t>
            </a:r>
            <a:endParaRPr/>
          </a:p>
          <a:p>
            <a:pPr indent="-246888" lvl="1" marL="640080" rtl="0" algn="l">
              <a:spcBef>
                <a:spcPts val="444"/>
              </a:spcBef>
              <a:spcAft>
                <a:spcPts val="0"/>
              </a:spcAft>
              <a:buSzPct val="85000"/>
              <a:buChar char="⚫"/>
            </a:pPr>
            <a:r>
              <a:rPr lang="en-US"/>
              <a:t>predicting quarterly revenue of an organization</a:t>
            </a:r>
            <a:endParaRPr/>
          </a:p>
          <a:p>
            <a:pPr indent="-246888" lvl="1" marL="640080" rtl="0" algn="l">
              <a:spcBef>
                <a:spcPts val="444"/>
              </a:spcBef>
              <a:spcAft>
                <a:spcPts val="0"/>
              </a:spcAft>
              <a:buSzPct val="85000"/>
              <a:buChar char="⚫"/>
            </a:pPr>
            <a:r>
              <a:rPr lang="en-US"/>
              <a:t>customer churn (whether a customer is likely to churn or how many customers are likely to churn before next quarter)</a:t>
            </a:r>
            <a:endParaRPr/>
          </a:p>
          <a:p>
            <a:pPr indent="-246888" lvl="1" marL="640080" rtl="0" algn="l">
              <a:spcBef>
                <a:spcPts val="444"/>
              </a:spcBef>
              <a:spcAft>
                <a:spcPts val="0"/>
              </a:spcAft>
              <a:buSzPct val="85000"/>
              <a:buChar char="⚫"/>
            </a:pPr>
            <a:r>
              <a:rPr lang="en-US"/>
              <a:t>demand for a product at a future time period</a:t>
            </a:r>
            <a:endParaRPr/>
          </a:p>
          <a:p>
            <a:pPr indent="-246888" lvl="1" marL="640080" rtl="0" algn="l">
              <a:spcBef>
                <a:spcPts val="444"/>
              </a:spcBef>
              <a:spcAft>
                <a:spcPts val="0"/>
              </a:spcAft>
              <a:buSzPct val="85000"/>
              <a:buChar char="⚫"/>
            </a:pPr>
            <a:r>
              <a:rPr lang="en-US"/>
              <a:t>number of views for an YouTube video</a:t>
            </a:r>
            <a:endParaRPr/>
          </a:p>
          <a:p>
            <a:pPr indent="-246888" lvl="1" marL="640080" rtl="0" algn="l">
              <a:spcBef>
                <a:spcPts val="444"/>
              </a:spcBef>
              <a:spcAft>
                <a:spcPts val="0"/>
              </a:spcAft>
              <a:buSzPct val="85000"/>
              <a:buChar char="⚫"/>
            </a:pPr>
            <a:r>
              <a:rPr lang="en-US"/>
              <a:t>outcome of a football match (win, draw or lose), etc.</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381000" y="71437"/>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THEORY – TERMINOLOGY</a:t>
            </a:r>
            <a:endParaRPr sz="3600"/>
          </a:p>
        </p:txBody>
      </p:sp>
      <p:sp>
        <p:nvSpPr>
          <p:cNvPr id="150" name="Google Shape;150;p7"/>
          <p:cNvSpPr txBox="1"/>
          <p:nvPr>
            <p:ph idx="1" type="body"/>
          </p:nvPr>
        </p:nvSpPr>
        <p:spPr>
          <a:xfrm>
            <a:off x="381000" y="1219200"/>
            <a:ext cx="8229600" cy="548640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280"/>
              <a:buChar char="⚫"/>
            </a:pPr>
            <a:r>
              <a:rPr b="1" lang="en-US" sz="2400"/>
              <a:t>Sample Space</a:t>
            </a:r>
            <a:endParaRPr/>
          </a:p>
          <a:p>
            <a:pPr indent="-274320" lvl="0" marL="274320" rtl="0" algn="just">
              <a:spcBef>
                <a:spcPts val="400"/>
              </a:spcBef>
              <a:spcAft>
                <a:spcPts val="0"/>
              </a:spcAft>
              <a:buSzPts val="1900"/>
              <a:buChar char="⚫"/>
            </a:pPr>
            <a:r>
              <a:rPr lang="en-US" sz="2000"/>
              <a:t>Sample space is the universal set that consists of all possible outcomes of an experiment. Sample space is usually represented using the letter ‘S’ and individual outcomes are called the elementary events. </a:t>
            </a:r>
            <a:endParaRPr sz="2000"/>
          </a:p>
          <a:p>
            <a:pPr indent="-274320" lvl="0" marL="274320" rtl="0" algn="just">
              <a:spcBef>
                <a:spcPts val="400"/>
              </a:spcBef>
              <a:spcAft>
                <a:spcPts val="0"/>
              </a:spcAft>
              <a:buSzPts val="1900"/>
              <a:buChar char="⚫"/>
            </a:pPr>
            <a:r>
              <a:rPr lang="en-US" sz="2000"/>
              <a:t>The sample space can be finite or infinite. </a:t>
            </a:r>
            <a:endParaRPr sz="2000"/>
          </a:p>
          <a:p>
            <a:pPr indent="-274320" lvl="0" marL="274320" rtl="0" algn="just">
              <a:spcBef>
                <a:spcPts val="400"/>
              </a:spcBef>
              <a:spcAft>
                <a:spcPts val="0"/>
              </a:spcAft>
              <a:buSzPts val="1900"/>
              <a:buChar char="⚫"/>
            </a:pPr>
            <a:r>
              <a:rPr lang="en-US" sz="2000"/>
              <a:t>Few random experiments and their sample spaces are discussed below:</a:t>
            </a:r>
            <a:endParaRPr/>
          </a:p>
          <a:p>
            <a:pPr indent="-274320" lvl="0" marL="274320" rtl="0" algn="just">
              <a:spcBef>
                <a:spcPts val="400"/>
              </a:spcBef>
              <a:spcAft>
                <a:spcPts val="0"/>
              </a:spcAft>
              <a:buSzPts val="1900"/>
              <a:buChar char="⚫"/>
            </a:pPr>
            <a:r>
              <a:rPr lang="en-US" sz="2000"/>
              <a:t> </a:t>
            </a:r>
            <a:r>
              <a:rPr b="1" lang="en-US" sz="2000"/>
              <a:t>Experiment: </a:t>
            </a:r>
            <a:r>
              <a:rPr lang="en-US" sz="2000"/>
              <a:t>Outcome of a football match</a:t>
            </a:r>
            <a:endParaRPr/>
          </a:p>
          <a:p>
            <a:pPr indent="0" lvl="0" marL="0" rtl="0" algn="just">
              <a:spcBef>
                <a:spcPts val="400"/>
              </a:spcBef>
              <a:spcAft>
                <a:spcPts val="0"/>
              </a:spcAft>
              <a:buSzPts val="1900"/>
              <a:buNone/>
            </a:pPr>
            <a:r>
              <a:rPr lang="en-US" sz="2000"/>
              <a:t>	Sample Space = S = {Win, Draw, Lose}</a:t>
            </a:r>
            <a:endParaRPr/>
          </a:p>
          <a:p>
            <a:pPr indent="-274320" lvl="0" marL="274320" rtl="0" algn="just">
              <a:spcBef>
                <a:spcPts val="400"/>
              </a:spcBef>
              <a:spcAft>
                <a:spcPts val="0"/>
              </a:spcAft>
              <a:buSzPts val="1900"/>
              <a:buChar char="⚫"/>
            </a:pPr>
            <a:r>
              <a:rPr b="1" lang="en-US" sz="2000"/>
              <a:t> Experiment: </a:t>
            </a:r>
            <a:r>
              <a:rPr lang="en-US" sz="2000"/>
              <a:t>Predicting customer churn at an individual customer level</a:t>
            </a:r>
            <a:endParaRPr/>
          </a:p>
          <a:p>
            <a:pPr indent="0" lvl="0" marL="0" rtl="0" algn="just">
              <a:spcBef>
                <a:spcPts val="400"/>
              </a:spcBef>
              <a:spcAft>
                <a:spcPts val="0"/>
              </a:spcAft>
              <a:buSzPts val="1900"/>
              <a:buNone/>
            </a:pPr>
            <a:r>
              <a:rPr lang="en-US" sz="2000"/>
              <a:t>	Sample Space = S = {Churn, No Churn}</a:t>
            </a:r>
            <a:endParaRPr/>
          </a:p>
          <a:p>
            <a:pPr indent="-274320" lvl="0" marL="274320" rtl="0" algn="just">
              <a:spcBef>
                <a:spcPts val="400"/>
              </a:spcBef>
              <a:spcAft>
                <a:spcPts val="0"/>
              </a:spcAft>
              <a:buSzPts val="1900"/>
              <a:buChar char="⚫"/>
            </a:pPr>
            <a:r>
              <a:rPr b="1" lang="en-US" sz="2000"/>
              <a:t> Experiment: </a:t>
            </a:r>
            <a:r>
              <a:rPr lang="en-US" sz="2000"/>
              <a:t>Predicting percentage of customer churn</a:t>
            </a:r>
            <a:endParaRPr/>
          </a:p>
          <a:p>
            <a:pPr indent="0" lvl="0" marL="0" rtl="0" algn="just">
              <a:spcBef>
                <a:spcPts val="400"/>
              </a:spcBef>
              <a:spcAft>
                <a:spcPts val="0"/>
              </a:spcAft>
              <a:buSzPts val="1900"/>
              <a:buNone/>
            </a:pPr>
            <a:r>
              <a:rPr lang="en-US" sz="2000"/>
              <a:t>	Sample Space = S = {X | X ∈ R, 0 ≤ X ≤ 100}, that is X is a real number that can take any value between 0 and 100 percentage.</a:t>
            </a:r>
            <a:endParaRPr/>
          </a:p>
          <a:p>
            <a:pPr indent="-274320" lvl="0" marL="274320" rtl="0" algn="just">
              <a:spcBef>
                <a:spcPts val="400"/>
              </a:spcBef>
              <a:spcAft>
                <a:spcPts val="0"/>
              </a:spcAft>
              <a:buSzPts val="1900"/>
              <a:buChar char="⚫"/>
            </a:pPr>
            <a:r>
              <a:rPr lang="en-US" sz="2000"/>
              <a:t> </a:t>
            </a:r>
            <a:r>
              <a:rPr b="1" lang="en-US" sz="2000"/>
              <a:t>Experiment: </a:t>
            </a:r>
            <a:r>
              <a:rPr lang="en-US" sz="2000"/>
              <a:t>Life of a turbine blade used in an aircraft engine</a:t>
            </a:r>
            <a:endParaRPr/>
          </a:p>
          <a:p>
            <a:pPr indent="0" lvl="0" marL="0" rtl="0" algn="just">
              <a:spcBef>
                <a:spcPts val="400"/>
              </a:spcBef>
              <a:spcAft>
                <a:spcPts val="0"/>
              </a:spcAft>
              <a:buSzPts val="1900"/>
              <a:buNone/>
            </a:pPr>
            <a:r>
              <a:rPr lang="en-US" sz="2000"/>
              <a:t>	Sample Space = S = {X | X ∈ R, 0 ≤ X &lt; ∞}, that is X is a real number that can take any value between 0 and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txBox="1"/>
          <p:nvPr>
            <p:ph type="title"/>
          </p:nvPr>
        </p:nvSpPr>
        <p:spPr>
          <a:xfrm>
            <a:off x="457200" y="304800"/>
            <a:ext cx="8229600" cy="1143000"/>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THEORY – TERMINOLOGY</a:t>
            </a:r>
            <a:endParaRPr sz="3600"/>
          </a:p>
        </p:txBody>
      </p:sp>
      <p:sp>
        <p:nvSpPr>
          <p:cNvPr id="156" name="Google Shape;156;p8"/>
          <p:cNvSpPr txBox="1"/>
          <p:nvPr>
            <p:ph idx="1" type="body"/>
          </p:nvPr>
        </p:nvSpPr>
        <p:spPr>
          <a:xfrm>
            <a:off x="461962" y="1066800"/>
            <a:ext cx="8229600" cy="548640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Char char="⚫"/>
            </a:pPr>
            <a:r>
              <a:rPr b="1" lang="en-US"/>
              <a:t>Event</a:t>
            </a:r>
            <a:endParaRPr/>
          </a:p>
          <a:p>
            <a:pPr indent="-274320" lvl="0" marL="274320" rtl="0" algn="just">
              <a:spcBef>
                <a:spcPts val="442"/>
              </a:spcBef>
              <a:spcAft>
                <a:spcPts val="0"/>
              </a:spcAft>
              <a:buSzPct val="95000"/>
              <a:buChar char="⚫"/>
            </a:pPr>
            <a:r>
              <a:rPr lang="en-US"/>
              <a:t>Event (E) is a subset of a sample space and probability is usually calculated with respect to an event.</a:t>
            </a:r>
            <a:endParaRPr/>
          </a:p>
          <a:p>
            <a:pPr indent="-274320" lvl="0" marL="274320" rtl="0" algn="just">
              <a:spcBef>
                <a:spcPts val="442"/>
              </a:spcBef>
              <a:spcAft>
                <a:spcPts val="0"/>
              </a:spcAft>
              <a:buSzPct val="95000"/>
              <a:buChar char="⚫"/>
            </a:pPr>
            <a:r>
              <a:rPr lang="en-US"/>
              <a:t>An event can be represented using the Venn diagram in Figure  below</a:t>
            </a:r>
            <a:endParaRPr/>
          </a:p>
          <a:p>
            <a:pPr indent="-141001" lvl="0" marL="274320" rtl="0" algn="l">
              <a:spcBef>
                <a:spcPts val="442"/>
              </a:spcBef>
              <a:spcAft>
                <a:spcPts val="0"/>
              </a:spcAft>
              <a:buSzPct val="95000"/>
              <a:buNone/>
            </a:pPr>
            <a:r>
              <a:t/>
            </a:r>
            <a:endParaRPr/>
          </a:p>
          <a:p>
            <a:pPr indent="-141001" lvl="0" marL="274320" rtl="0" algn="l">
              <a:spcBef>
                <a:spcPts val="442"/>
              </a:spcBef>
              <a:spcAft>
                <a:spcPts val="0"/>
              </a:spcAft>
              <a:buSzPct val="95000"/>
              <a:buNone/>
            </a:pPr>
            <a:r>
              <a:t/>
            </a:r>
            <a:endParaRPr/>
          </a:p>
          <a:p>
            <a:pPr indent="-141001" lvl="0" marL="274320" rtl="0" algn="l">
              <a:spcBef>
                <a:spcPts val="442"/>
              </a:spcBef>
              <a:spcAft>
                <a:spcPts val="0"/>
              </a:spcAft>
              <a:buSzPct val="95000"/>
              <a:buNone/>
            </a:pPr>
            <a:r>
              <a:t/>
            </a:r>
            <a:endParaRPr/>
          </a:p>
          <a:p>
            <a:pPr indent="-141001" lvl="0" marL="274320" rtl="0" algn="l">
              <a:spcBef>
                <a:spcPts val="442"/>
              </a:spcBef>
              <a:spcAft>
                <a:spcPts val="0"/>
              </a:spcAft>
              <a:buSzPct val="95000"/>
              <a:buNone/>
            </a:pPr>
            <a:r>
              <a:t/>
            </a:r>
            <a:endParaRPr/>
          </a:p>
          <a:p>
            <a:pPr indent="-141001" lvl="0" marL="274320" rtl="0" algn="l">
              <a:spcBef>
                <a:spcPts val="442"/>
              </a:spcBef>
              <a:spcAft>
                <a:spcPts val="0"/>
              </a:spcAft>
              <a:buSzPct val="95000"/>
              <a:buNone/>
            </a:pPr>
            <a:r>
              <a:t/>
            </a:r>
            <a:endParaRPr/>
          </a:p>
          <a:p>
            <a:pPr indent="-141001" lvl="0" marL="274320" rtl="0" algn="l">
              <a:spcBef>
                <a:spcPts val="442"/>
              </a:spcBef>
              <a:spcAft>
                <a:spcPts val="0"/>
              </a:spcAft>
              <a:buSzPct val="95000"/>
              <a:buNone/>
            </a:pPr>
            <a:r>
              <a:t/>
            </a:r>
            <a:endParaRPr/>
          </a:p>
          <a:p>
            <a:pPr indent="-274320" lvl="0" marL="274320" rtl="0" algn="just">
              <a:spcBef>
                <a:spcPts val="442"/>
              </a:spcBef>
              <a:spcAft>
                <a:spcPts val="0"/>
              </a:spcAft>
              <a:buSzPct val="95000"/>
              <a:buChar char="⚫"/>
            </a:pPr>
            <a:r>
              <a:rPr lang="en-US"/>
              <a:t>The Venn diagram in Figure indicates that the event E is a subset of the sample space S, that is, E ⊂ S (E is a subset of S). </a:t>
            </a:r>
            <a:endParaRPr/>
          </a:p>
          <a:p>
            <a:pPr indent="-274320" lvl="0" marL="274320" rtl="0" algn="just">
              <a:spcBef>
                <a:spcPts val="442"/>
              </a:spcBef>
              <a:spcAft>
                <a:spcPts val="0"/>
              </a:spcAft>
              <a:buSzPct val="95000"/>
              <a:buChar char="⚫"/>
            </a:pPr>
            <a:r>
              <a:rPr lang="en-US"/>
              <a:t>Consider the random experiment that predicts number of customers who are likely to churn within a quarter from a customer base of 100 customers. </a:t>
            </a:r>
            <a:endParaRPr/>
          </a:p>
        </p:txBody>
      </p:sp>
      <p:pic>
        <p:nvPicPr>
          <p:cNvPr id="157" name="Google Shape;157;p8"/>
          <p:cNvPicPr preferRelativeResize="0"/>
          <p:nvPr/>
        </p:nvPicPr>
        <p:blipFill rotWithShape="1">
          <a:blip r:embed="rId3">
            <a:alphaModFix/>
          </a:blip>
          <a:srcRect b="0" l="0" r="0" t="0"/>
          <a:stretch/>
        </p:blipFill>
        <p:spPr>
          <a:xfrm>
            <a:off x="2819400" y="2533650"/>
            <a:ext cx="3505200" cy="1790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THEORY – TERMINOLOGY</a:t>
            </a:r>
            <a:endParaRPr sz="3600"/>
          </a:p>
        </p:txBody>
      </p:sp>
      <p:sp>
        <p:nvSpPr>
          <p:cNvPr id="163" name="Google Shape;163;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 corresponding sample space = {X| X ∈ Z, 0 ≤ X ≤ 100}, that is X is a real number that can take any integer value between 0 and 100. Now we can define several events such as: </a:t>
            </a:r>
            <a:endParaRPr/>
          </a:p>
          <a:p>
            <a:pPr indent="-246888" lvl="1" marL="640080" rtl="0" algn="l">
              <a:spcBef>
                <a:spcPts val="480"/>
              </a:spcBef>
              <a:spcAft>
                <a:spcPts val="0"/>
              </a:spcAft>
              <a:buSzPts val="2040"/>
              <a:buChar char="⚫"/>
            </a:pPr>
            <a:r>
              <a:rPr lang="en-US"/>
              <a:t>Event A = Number of customer churn less than 10 </a:t>
            </a:r>
            <a:endParaRPr/>
          </a:p>
          <a:p>
            <a:pPr indent="-246888" lvl="1" marL="640080" rtl="0" algn="l">
              <a:spcBef>
                <a:spcPts val="480"/>
              </a:spcBef>
              <a:spcAft>
                <a:spcPts val="0"/>
              </a:spcAft>
              <a:buSzPts val="2040"/>
              <a:buChar char="⚫"/>
            </a:pPr>
            <a:r>
              <a:rPr lang="en-US"/>
              <a:t>Event B = Number of customer churn between 10 and 30</a:t>
            </a:r>
            <a:endParaRPr/>
          </a:p>
          <a:p>
            <a:pPr indent="-246888" lvl="1" marL="640080" rtl="0" algn="l">
              <a:spcBef>
                <a:spcPts val="480"/>
              </a:spcBef>
              <a:spcAft>
                <a:spcPts val="0"/>
              </a:spcAft>
              <a:buSzPts val="2040"/>
              <a:buChar char="⚫"/>
            </a:pPr>
            <a:r>
              <a:rPr lang="en-US"/>
              <a:t>Event C = Number of customer churn exceeding 30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THEORY – TERMINOLOGY</a:t>
            </a:r>
            <a:endParaRPr sz="3600"/>
          </a:p>
        </p:txBody>
      </p:sp>
      <p:sp>
        <p:nvSpPr>
          <p:cNvPr id="169" name="Google Shape;169;p1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t>Probability Estimation using Relative Frequency</a:t>
            </a:r>
            <a:endParaRPr/>
          </a:p>
          <a:p>
            <a:pPr indent="-274320" lvl="0" marL="274320" rtl="0" algn="just">
              <a:spcBef>
                <a:spcPts val="440"/>
              </a:spcBef>
              <a:spcAft>
                <a:spcPts val="0"/>
              </a:spcAft>
              <a:buSzPts val="2090"/>
              <a:buChar char="⚫"/>
            </a:pPr>
            <a:r>
              <a:rPr lang="en-US" sz="2200"/>
              <a:t>The classical approach to probability estimation of an event is based on the relative frequency of the occurrence of that event. According to frequency estimation, the probability of an event X, P(X), is given by:</a:t>
            </a:r>
            <a:br>
              <a:rPr lang="en-US" sz="2200"/>
            </a:br>
            <a:endParaRPr sz="2200"/>
          </a:p>
          <a:p>
            <a:pPr indent="-141605" lvl="0" marL="274320" rtl="0" algn="just">
              <a:spcBef>
                <a:spcPts val="440"/>
              </a:spcBef>
              <a:spcAft>
                <a:spcPts val="0"/>
              </a:spcAft>
              <a:buSzPts val="2090"/>
              <a:buNone/>
            </a:pPr>
            <a:r>
              <a:t/>
            </a:r>
            <a:endParaRPr b="1" sz="2200"/>
          </a:p>
          <a:p>
            <a:pPr indent="-274320" lvl="0" marL="274320" rtl="0" algn="just">
              <a:spcBef>
                <a:spcPts val="440"/>
              </a:spcBef>
              <a:spcAft>
                <a:spcPts val="0"/>
              </a:spcAft>
              <a:buSzPts val="2090"/>
              <a:buChar char="⚫"/>
            </a:pPr>
            <a:r>
              <a:rPr lang="en-US" sz="2200"/>
              <a:t>For example, say a company has 1000 employees and every year about 200 employees leave the job. Then the probability of attrition of an employee per annum is 200/1000 = 0.2.</a:t>
            </a:r>
            <a:endParaRPr b="1" sz="2200"/>
          </a:p>
        </p:txBody>
      </p:sp>
      <p:pic>
        <p:nvPicPr>
          <p:cNvPr id="170" name="Google Shape;170;p10"/>
          <p:cNvPicPr preferRelativeResize="0"/>
          <p:nvPr/>
        </p:nvPicPr>
        <p:blipFill rotWithShape="1">
          <a:blip r:embed="rId3">
            <a:alphaModFix/>
          </a:blip>
          <a:srcRect b="0" l="0" r="0" t="0"/>
          <a:stretch/>
        </p:blipFill>
        <p:spPr>
          <a:xfrm>
            <a:off x="2133600" y="3886200"/>
            <a:ext cx="5274469" cy="762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11"/>
          <p:cNvPicPr preferRelativeResize="0"/>
          <p:nvPr>
            <p:ph idx="1" type="body"/>
          </p:nvPr>
        </p:nvPicPr>
        <p:blipFill rotWithShape="1">
          <a:blip r:embed="rId3">
            <a:alphaModFix/>
          </a:blip>
          <a:srcRect b="0" l="0" r="0" t="0"/>
          <a:stretch/>
        </p:blipFill>
        <p:spPr>
          <a:xfrm>
            <a:off x="838200" y="228600"/>
            <a:ext cx="7315200" cy="647437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Algebra of Events</a:t>
            </a:r>
            <a:endParaRPr/>
          </a:p>
        </p:txBody>
      </p:sp>
      <p:sp>
        <p:nvSpPr>
          <p:cNvPr id="181" name="Google Shape;181;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spcBef>
                <a:spcPts val="0"/>
              </a:spcBef>
              <a:spcAft>
                <a:spcPts val="0"/>
              </a:spcAft>
              <a:buSzPct val="95000"/>
              <a:buNone/>
            </a:pPr>
            <a:r>
              <a:rPr lang="en-US"/>
              <a:t>Assume that X, Y and Z are three events of a sample space. Then the following algebraic relationships are valid and are useful while deriving probabilities of events:</a:t>
            </a:r>
            <a:endParaRPr/>
          </a:p>
          <a:p>
            <a:pPr indent="-274320" lvl="0" marL="274320" rtl="0" algn="just">
              <a:spcBef>
                <a:spcPts val="403"/>
              </a:spcBef>
              <a:spcAft>
                <a:spcPts val="0"/>
              </a:spcAft>
              <a:buSzPct val="95000"/>
              <a:buChar char="⚫"/>
            </a:pPr>
            <a:r>
              <a:rPr lang="en-US"/>
              <a:t>Commutative rule: X ∪ Y = Y ∪ X and X ∩ Y = Y ∩ X</a:t>
            </a:r>
            <a:endParaRPr/>
          </a:p>
          <a:p>
            <a:pPr indent="-274320" lvl="0" marL="274320" rtl="0" algn="just">
              <a:spcBef>
                <a:spcPts val="403"/>
              </a:spcBef>
              <a:spcAft>
                <a:spcPts val="0"/>
              </a:spcAft>
              <a:buSzPct val="95000"/>
              <a:buChar char="⚫"/>
            </a:pPr>
            <a:r>
              <a:rPr lang="en-US"/>
              <a:t>Associative rule: (X ∪ Y) ∪ Z = X ∪ (Y ∪ Z) and (X ∩ Y) ∩ Z = X ∩ (Y ∩ Z)</a:t>
            </a:r>
            <a:endParaRPr/>
          </a:p>
          <a:p>
            <a:pPr indent="-274320" lvl="0" marL="274320" rtl="0" algn="just">
              <a:spcBef>
                <a:spcPts val="403"/>
              </a:spcBef>
              <a:spcAft>
                <a:spcPts val="0"/>
              </a:spcAft>
              <a:buSzPct val="95000"/>
              <a:buChar char="⚫"/>
            </a:pPr>
            <a:r>
              <a:rPr lang="en-US"/>
              <a:t>Distributive rule: X ∪ (Y ∩ Z) = (X ∪ Y) ∩ (X ∪ Z)</a:t>
            </a:r>
            <a:endParaRPr/>
          </a:p>
          <a:p>
            <a:pPr indent="-274320" lvl="0" marL="274320" rtl="0" algn="just">
              <a:spcBef>
                <a:spcPts val="403"/>
              </a:spcBef>
              <a:spcAft>
                <a:spcPts val="0"/>
              </a:spcAft>
              <a:buSzPct val="95000"/>
              <a:buChar char="⚫"/>
            </a:pPr>
            <a:r>
              <a:rPr lang="en-US"/>
              <a:t>X ∩ (Y ∪ Z) = (X ∩ Y) ∪ (X ∩ Z)</a:t>
            </a:r>
            <a:endParaRPr/>
          </a:p>
          <a:p>
            <a:pPr indent="0" lvl="0" marL="0" rtl="0" algn="just">
              <a:spcBef>
                <a:spcPts val="403"/>
              </a:spcBef>
              <a:spcAft>
                <a:spcPts val="0"/>
              </a:spcAft>
              <a:buSzPct val="95000"/>
              <a:buNone/>
            </a:pPr>
            <a:r>
              <a:rPr lang="en-US"/>
              <a:t>The above rules of algebra will be useful while calculating the probability of events. The following rules known as DeMorgan’s Laws on complementary sets are useful while deriving probabilities:</a:t>
            </a:r>
            <a:endParaRPr/>
          </a:p>
          <a:p>
            <a:pPr indent="-274320" lvl="0" marL="274320" rtl="0" algn="just">
              <a:spcBef>
                <a:spcPts val="403"/>
              </a:spcBef>
              <a:spcAft>
                <a:spcPts val="0"/>
              </a:spcAft>
              <a:buSzPct val="95000"/>
              <a:buChar char="⚫"/>
            </a:pPr>
            <a:r>
              <a:rPr lang="en-US"/>
              <a:t>(X ∪ Y)</a:t>
            </a:r>
            <a:r>
              <a:rPr baseline="30000" lang="en-US"/>
              <a:t>C </a:t>
            </a:r>
            <a:r>
              <a:rPr lang="en-US"/>
              <a:t>= X</a:t>
            </a:r>
            <a:r>
              <a:rPr baseline="30000" lang="en-US"/>
              <a:t>C </a:t>
            </a:r>
            <a:r>
              <a:rPr lang="en-US"/>
              <a:t>∩ Y</a:t>
            </a:r>
            <a:r>
              <a:rPr baseline="30000" lang="en-US"/>
              <a:t>C</a:t>
            </a:r>
            <a:endParaRPr/>
          </a:p>
          <a:p>
            <a:pPr indent="-274320" lvl="0" marL="274320" rtl="0" algn="just">
              <a:spcBef>
                <a:spcPts val="403"/>
              </a:spcBef>
              <a:spcAft>
                <a:spcPts val="0"/>
              </a:spcAft>
              <a:buSzPct val="95000"/>
              <a:buChar char="⚫"/>
            </a:pPr>
            <a:r>
              <a:rPr lang="en-US"/>
              <a:t>(X ∩ Y)</a:t>
            </a:r>
            <a:r>
              <a:rPr baseline="30000" lang="en-US"/>
              <a:t>C </a:t>
            </a:r>
            <a:r>
              <a:rPr lang="en-US"/>
              <a:t>= X</a:t>
            </a:r>
            <a:r>
              <a:rPr baseline="30000" lang="en-US"/>
              <a:t>C</a:t>
            </a:r>
            <a:r>
              <a:rPr lang="en-US"/>
              <a:t> ∪ Y</a:t>
            </a:r>
            <a:r>
              <a:rPr baseline="30000" lang="en-US"/>
              <a:t>C</a:t>
            </a:r>
            <a:endParaRPr/>
          </a:p>
          <a:p>
            <a:pPr indent="-274320" lvl="0" marL="274320" rtl="0" algn="just">
              <a:spcBef>
                <a:spcPts val="403"/>
              </a:spcBef>
              <a:spcAft>
                <a:spcPts val="0"/>
              </a:spcAft>
              <a:buSzPct val="95000"/>
              <a:buChar char="⚫"/>
            </a:pPr>
            <a:r>
              <a:rPr lang="en-US"/>
              <a:t>where X</a:t>
            </a:r>
            <a:r>
              <a:rPr baseline="30000" lang="en-US"/>
              <a:t>C</a:t>
            </a:r>
            <a:r>
              <a:rPr lang="en-US"/>
              <a:t> and Y</a:t>
            </a:r>
            <a:r>
              <a:rPr baseline="30000" lang="en-US"/>
              <a:t>C</a:t>
            </a:r>
            <a:r>
              <a:rPr lang="en-US"/>
              <a:t> are the complementary events of X and Y, respectively.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FUNDAMENTAL CONCEPTS IN PROBABILITY – AXIOMS OF PROBABILITY</a:t>
            </a:r>
            <a:endParaRPr/>
          </a:p>
        </p:txBody>
      </p:sp>
      <p:sp>
        <p:nvSpPr>
          <p:cNvPr id="187" name="Google Shape;187;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900"/>
              <a:buNone/>
            </a:pPr>
            <a:r>
              <a:rPr lang="en-US" sz="2000"/>
              <a:t>According to axiomatic theory of probability, the probability of an event E satisfies the following axioms:</a:t>
            </a:r>
            <a:endParaRPr/>
          </a:p>
          <a:p>
            <a:pPr indent="0" lvl="0" marL="0" rtl="0" algn="just">
              <a:spcBef>
                <a:spcPts val="400"/>
              </a:spcBef>
              <a:spcAft>
                <a:spcPts val="0"/>
              </a:spcAft>
              <a:buSzPts val="1900"/>
              <a:buNone/>
            </a:pPr>
            <a:r>
              <a:t/>
            </a:r>
            <a:endParaRPr sz="2000"/>
          </a:p>
          <a:p>
            <a:pPr indent="-457200" lvl="0" marL="457200" rtl="0" algn="just">
              <a:spcBef>
                <a:spcPts val="400"/>
              </a:spcBef>
              <a:spcAft>
                <a:spcPts val="0"/>
              </a:spcAft>
              <a:buSzPts val="1900"/>
              <a:buFont typeface="Calibri"/>
              <a:buAutoNum type="arabicPeriod"/>
            </a:pPr>
            <a:r>
              <a:rPr b="1" lang="en-US" sz="2000"/>
              <a:t>The probability of event E always lies between 0 and 1. That is, 0 ≤ P(E) ≤ 1.</a:t>
            </a:r>
            <a:endParaRPr/>
          </a:p>
          <a:p>
            <a:pPr indent="-457200" lvl="0" marL="457200" rtl="0" algn="just">
              <a:spcBef>
                <a:spcPts val="400"/>
              </a:spcBef>
              <a:spcAft>
                <a:spcPts val="0"/>
              </a:spcAft>
              <a:buSzPts val="1900"/>
              <a:buFont typeface="Calibri"/>
              <a:buAutoNum type="arabicPeriod"/>
            </a:pPr>
            <a:r>
              <a:rPr b="1" lang="en-US" sz="2000"/>
              <a:t>The probability of the universal set S is 1. That is, P(S) = 1.</a:t>
            </a:r>
            <a:endParaRPr/>
          </a:p>
          <a:p>
            <a:pPr indent="-457200" lvl="0" marL="457200" rtl="0" algn="just">
              <a:spcBef>
                <a:spcPts val="400"/>
              </a:spcBef>
              <a:spcAft>
                <a:spcPts val="0"/>
              </a:spcAft>
              <a:buSzPts val="1900"/>
              <a:buFont typeface="Calibri"/>
              <a:buAutoNum type="arabicPeriod"/>
            </a:pPr>
            <a:r>
              <a:rPr b="1" lang="en-US" sz="2000"/>
              <a:t>P(X ∪ Y) = P(X) + P(Y), where X and Y are two mutually exclusive events.</a:t>
            </a:r>
            <a:endParaRPr/>
          </a:p>
          <a:p>
            <a:pPr indent="-153670" lvl="0" marL="274320" rtl="0" algn="just">
              <a:spcBef>
                <a:spcPts val="400"/>
              </a:spcBef>
              <a:spcAft>
                <a:spcPts val="0"/>
              </a:spcAft>
              <a:buSzPts val="1900"/>
              <a:buNone/>
            </a:pPr>
            <a:r>
              <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id="192" name="Google Shape;192;p14"/>
          <p:cNvPicPr preferRelativeResize="0"/>
          <p:nvPr>
            <p:ph idx="1" type="body"/>
          </p:nvPr>
        </p:nvPicPr>
        <p:blipFill rotWithShape="1">
          <a:blip r:embed="rId3">
            <a:alphaModFix/>
          </a:blip>
          <a:srcRect b="0" l="0" r="0" t="0"/>
          <a:stretch/>
        </p:blipFill>
        <p:spPr>
          <a:xfrm>
            <a:off x="457200" y="1608075"/>
            <a:ext cx="7467600" cy="5097300"/>
          </a:xfrm>
          <a:prstGeom prst="rect">
            <a:avLst/>
          </a:prstGeom>
          <a:noFill/>
          <a:ln>
            <a:noFill/>
          </a:ln>
        </p:spPr>
      </p:pic>
      <p:sp>
        <p:nvSpPr>
          <p:cNvPr id="193" name="Google Shape;193;p14"/>
          <p:cNvSpPr/>
          <p:nvPr/>
        </p:nvSpPr>
        <p:spPr>
          <a:xfrm>
            <a:off x="228600" y="914400"/>
            <a:ext cx="8458200"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onstantia"/>
                <a:ea typeface="Constantia"/>
                <a:cs typeface="Constantia"/>
                <a:sym typeface="Constantia"/>
              </a:rPr>
              <a:t>The following elementary rules of probability are directly deduced from the original three axioms of probability, using the set theory relationships: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sp>
        <p:nvSpPr>
          <p:cNvPr id="199" name="Google Shape;199;p1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a:bodyPr>
          <a:lstStyle/>
          <a:p>
            <a:pPr indent="-274320" lvl="0" marL="274320" rtl="0" algn="just">
              <a:spcBef>
                <a:spcPts val="0"/>
              </a:spcBef>
              <a:spcAft>
                <a:spcPts val="0"/>
              </a:spcAft>
              <a:buSzPct val="95000"/>
              <a:buChar char="⚫"/>
            </a:pPr>
            <a:r>
              <a:rPr b="0" lang="en-US" sz="2400"/>
              <a:t>The probability of an event not occurring, is called the complement.</a:t>
            </a:r>
            <a:endParaRPr/>
          </a:p>
          <a:p>
            <a:pPr indent="-274320" lvl="0" marL="274320" rtl="0" algn="just">
              <a:spcBef>
                <a:spcPts val="444"/>
              </a:spcBef>
              <a:spcAft>
                <a:spcPts val="0"/>
              </a:spcAft>
              <a:buSzPct val="95000"/>
              <a:buChar char="⚫"/>
            </a:pPr>
            <a:r>
              <a:rPr b="0" lang="en-US" sz="2400"/>
              <a:t>This can be calculated by one minus the probability of the event, or </a:t>
            </a:r>
            <a:r>
              <a:rPr b="0" i="1" lang="en-US" sz="2400"/>
              <a:t>1 – P(A)</a:t>
            </a:r>
            <a:r>
              <a:rPr b="0" lang="en-US" sz="2400"/>
              <a:t>.</a:t>
            </a:r>
            <a:endParaRPr/>
          </a:p>
          <a:p>
            <a:pPr indent="-274320" lvl="0" marL="274320" rtl="0" algn="just">
              <a:spcBef>
                <a:spcPts val="444"/>
              </a:spcBef>
              <a:spcAft>
                <a:spcPts val="0"/>
              </a:spcAft>
              <a:buSzPct val="95000"/>
              <a:buChar char="⚫"/>
            </a:pPr>
            <a:r>
              <a:rPr b="0" lang="en-US" sz="2400"/>
              <a:t> For example, the probability of not rolling a 5 would be   </a:t>
            </a:r>
            <a:endParaRPr/>
          </a:p>
          <a:p>
            <a:pPr indent="0" lvl="0" marL="0" rtl="0" algn="just">
              <a:spcBef>
                <a:spcPts val="444"/>
              </a:spcBef>
              <a:spcAft>
                <a:spcPts val="0"/>
              </a:spcAft>
              <a:buSzPct val="95000"/>
              <a:buNone/>
            </a:pPr>
            <a:r>
              <a:rPr b="0" lang="en-US" sz="2400"/>
              <a:t>    1 – P(5) or 1 – 0.166 or about 0.833 or about 83.333%.</a:t>
            </a:r>
            <a:endParaRPr/>
          </a:p>
          <a:p>
            <a:pPr indent="-274320" lvl="0" marL="274320" rtl="0" algn="just">
              <a:spcBef>
                <a:spcPts val="444"/>
              </a:spcBef>
              <a:spcAft>
                <a:spcPts val="0"/>
              </a:spcAft>
              <a:buSzPct val="95000"/>
              <a:buChar char="⚫"/>
            </a:pPr>
            <a:r>
              <a:rPr b="0" i="0" lang="en-US" sz="2400"/>
              <a:t>Probability of Not Event A = 1 – P(A)</a:t>
            </a:r>
            <a:endParaRPr/>
          </a:p>
          <a:p>
            <a:pPr indent="-274320" lvl="0" marL="274320" rtl="0" algn="just">
              <a:spcBef>
                <a:spcPts val="444"/>
              </a:spcBef>
              <a:spcAft>
                <a:spcPts val="0"/>
              </a:spcAft>
              <a:buSzPct val="95000"/>
              <a:buChar char="⚫"/>
            </a:pPr>
            <a:r>
              <a:rPr lang="en-US" sz="2400"/>
              <a:t>Probability can range in from 0 to 1, where 0 means the event to be an impossible one and 1 indicates a certain event. </a:t>
            </a:r>
            <a:endParaRPr/>
          </a:p>
          <a:p>
            <a:pPr indent="-274320" lvl="0" marL="274320" rtl="0" algn="just">
              <a:spcBef>
                <a:spcPts val="444"/>
              </a:spcBef>
              <a:spcAft>
                <a:spcPts val="0"/>
              </a:spcAft>
              <a:buSzPct val="95000"/>
              <a:buChar char="⚫"/>
            </a:pPr>
            <a:r>
              <a:rPr lang="en-US" sz="2400"/>
              <a:t>The probability of all the events in a sample space adds up to 1.</a:t>
            </a:r>
            <a:endParaRPr/>
          </a:p>
          <a:p>
            <a:pPr indent="-129238" lvl="0" marL="274320" rtl="0" algn="l">
              <a:spcBef>
                <a:spcPts val="481"/>
              </a:spcBef>
              <a:spcAft>
                <a:spcPts val="0"/>
              </a:spcAft>
              <a:buSzPct val="95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6"/>
          <p:cNvSpPr txBox="1"/>
          <p:nvPr>
            <p:ph type="title"/>
          </p:nvPr>
        </p:nvSpPr>
        <p:spPr>
          <a:xfrm>
            <a:off x="768096" y="585216"/>
            <a:ext cx="7290054" cy="1014984"/>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Basic Probability Concepts</a:t>
            </a:r>
            <a:endParaRPr/>
          </a:p>
        </p:txBody>
      </p:sp>
      <p:sp>
        <p:nvSpPr>
          <p:cNvPr id="205" name="Google Shape;205;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1" marL="274320" rtl="0" algn="l">
              <a:lnSpc>
                <a:spcPct val="140000"/>
              </a:lnSpc>
              <a:spcBef>
                <a:spcPts val="0"/>
              </a:spcBef>
              <a:spcAft>
                <a:spcPts val="0"/>
              </a:spcAft>
              <a:buClr>
                <a:schemeClr val="accent3"/>
              </a:buClr>
              <a:buSzPts val="2280"/>
              <a:buChar char="⚫"/>
            </a:pPr>
            <a:r>
              <a:rPr lang="en-US"/>
              <a:t>Marginal Probability</a:t>
            </a:r>
            <a:endParaRPr/>
          </a:p>
          <a:p>
            <a:pPr indent="-274320" lvl="1" marL="274320" rtl="0" algn="l">
              <a:lnSpc>
                <a:spcPct val="140000"/>
              </a:lnSpc>
              <a:spcBef>
                <a:spcPts val="480"/>
              </a:spcBef>
              <a:spcAft>
                <a:spcPts val="0"/>
              </a:spcAft>
              <a:buClr>
                <a:schemeClr val="accent3"/>
              </a:buClr>
              <a:buSzPts val="2280"/>
              <a:buChar char="⚫"/>
            </a:pPr>
            <a:r>
              <a:rPr lang="en-US"/>
              <a:t>Joint Probability</a:t>
            </a:r>
            <a:endParaRPr/>
          </a:p>
          <a:p>
            <a:pPr indent="-274320" lvl="1" marL="274320" rtl="0" algn="l">
              <a:lnSpc>
                <a:spcPct val="140000"/>
              </a:lnSpc>
              <a:spcBef>
                <a:spcPts val="480"/>
              </a:spcBef>
              <a:spcAft>
                <a:spcPts val="0"/>
              </a:spcAft>
              <a:buClr>
                <a:schemeClr val="accent3"/>
              </a:buClr>
              <a:buSzPts val="2280"/>
              <a:buChar char="⚫"/>
            </a:pPr>
            <a:r>
              <a:rPr lang="en-US"/>
              <a:t>Conditional Probability</a:t>
            </a:r>
            <a:endParaRPr/>
          </a:p>
          <a:p>
            <a:pPr indent="-274320" lvl="1" marL="274320" rtl="0" algn="l">
              <a:lnSpc>
                <a:spcPct val="140000"/>
              </a:lnSpc>
              <a:spcBef>
                <a:spcPts val="480"/>
              </a:spcBef>
              <a:spcAft>
                <a:spcPts val="0"/>
              </a:spcAft>
              <a:buClr>
                <a:schemeClr val="accent3"/>
              </a:buClr>
              <a:buSzPts val="2280"/>
              <a:buChar char="⚫"/>
            </a:pPr>
            <a:r>
              <a:rPr lang="en-US"/>
              <a:t>Probability Trees and Bayes’ Theorem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Problems and Solutions on Probability</a:t>
            </a:r>
            <a:endParaRPr/>
          </a:p>
        </p:txBody>
      </p:sp>
      <p:sp>
        <p:nvSpPr>
          <p:cNvPr id="211" name="Google Shape;211;p17"/>
          <p:cNvSpPr txBox="1"/>
          <p:nvPr>
            <p:ph idx="1" type="body"/>
          </p:nvPr>
        </p:nvSpPr>
        <p:spPr>
          <a:xfrm>
            <a:off x="457200" y="1524000"/>
            <a:ext cx="8229600" cy="43891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70"/>
              <a:buNone/>
            </a:pPr>
            <a:r>
              <a:rPr b="1" i="0" lang="en-US"/>
              <a:t>Question 1:</a:t>
            </a:r>
            <a:r>
              <a:rPr b="0" i="0" lang="en-US"/>
              <a:t> </a:t>
            </a:r>
            <a:r>
              <a:rPr b="1" i="0" lang="en-US"/>
              <a:t>Find the probability of ‘getting 3 on rolling a die’.</a:t>
            </a:r>
            <a:endParaRPr b="0" i="0"/>
          </a:p>
          <a:p>
            <a:pPr indent="0" lvl="0" marL="0" rtl="0" algn="l">
              <a:spcBef>
                <a:spcPts val="520"/>
              </a:spcBef>
              <a:spcAft>
                <a:spcPts val="0"/>
              </a:spcAft>
              <a:buSzPts val="2470"/>
              <a:buNone/>
            </a:pPr>
            <a:r>
              <a:rPr b="1" i="0" lang="en-US"/>
              <a:t>Solution:</a:t>
            </a:r>
            <a:endParaRPr b="0" i="0"/>
          </a:p>
          <a:p>
            <a:pPr indent="-274320" lvl="0" marL="274320" rtl="0" algn="l">
              <a:spcBef>
                <a:spcPts val="400"/>
              </a:spcBef>
              <a:spcAft>
                <a:spcPts val="0"/>
              </a:spcAft>
              <a:buSzPts val="1900"/>
              <a:buChar char="⚫"/>
            </a:pPr>
            <a:r>
              <a:rPr b="0" i="0" lang="en-US" sz="2000"/>
              <a:t>Sample Space = S = {1, 2, 3, 4, 5, 6}</a:t>
            </a:r>
            <a:endParaRPr/>
          </a:p>
          <a:p>
            <a:pPr indent="-274320" lvl="0" marL="274320" rtl="0" algn="l">
              <a:spcBef>
                <a:spcPts val="400"/>
              </a:spcBef>
              <a:spcAft>
                <a:spcPts val="0"/>
              </a:spcAft>
              <a:buSzPts val="1900"/>
              <a:buChar char="⚫"/>
            </a:pPr>
            <a:r>
              <a:rPr b="0" i="0" lang="en-US" sz="2000"/>
              <a:t>Total number of outcomes = n(S) = 6</a:t>
            </a:r>
            <a:endParaRPr/>
          </a:p>
          <a:p>
            <a:pPr indent="-274320" lvl="0" marL="274320" rtl="0" algn="l">
              <a:spcBef>
                <a:spcPts val="400"/>
              </a:spcBef>
              <a:spcAft>
                <a:spcPts val="0"/>
              </a:spcAft>
              <a:buSzPts val="1900"/>
              <a:buChar char="⚫"/>
            </a:pPr>
            <a:r>
              <a:rPr b="0" i="0" lang="en-US" sz="2000"/>
              <a:t>Let A be the event of getting 3.</a:t>
            </a:r>
            <a:endParaRPr/>
          </a:p>
          <a:p>
            <a:pPr indent="-274320" lvl="0" marL="274320" rtl="0" algn="l">
              <a:spcBef>
                <a:spcPts val="400"/>
              </a:spcBef>
              <a:spcAft>
                <a:spcPts val="0"/>
              </a:spcAft>
              <a:buSzPts val="1900"/>
              <a:buChar char="⚫"/>
            </a:pPr>
            <a:r>
              <a:rPr b="0" i="0" lang="en-US" sz="2000"/>
              <a:t>Number of favorable outcomes = n(A) = 1</a:t>
            </a:r>
            <a:endParaRPr/>
          </a:p>
          <a:p>
            <a:pPr indent="-274320" lvl="0" marL="274320" rtl="0" algn="l">
              <a:spcBef>
                <a:spcPts val="400"/>
              </a:spcBef>
              <a:spcAft>
                <a:spcPts val="0"/>
              </a:spcAft>
              <a:buSzPts val="1900"/>
              <a:buChar char="⚫"/>
            </a:pPr>
            <a:r>
              <a:rPr b="0" i="0" lang="en-US" sz="2000"/>
              <a:t>i.e. A  = {3}</a:t>
            </a:r>
            <a:endParaRPr/>
          </a:p>
          <a:p>
            <a:pPr indent="-274320" lvl="0" marL="274320" rtl="0" algn="l">
              <a:spcBef>
                <a:spcPts val="400"/>
              </a:spcBef>
              <a:spcAft>
                <a:spcPts val="0"/>
              </a:spcAft>
              <a:buSzPts val="1900"/>
              <a:buChar char="⚫"/>
            </a:pPr>
            <a:r>
              <a:rPr b="0" i="0" lang="en-US" sz="2000"/>
              <a:t>Probability, P(A) = n(A)/n(S) = 1/6</a:t>
            </a:r>
            <a:endParaRPr/>
          </a:p>
          <a:p>
            <a:pPr indent="-274320" lvl="0" marL="274320" rtl="0" algn="l">
              <a:spcBef>
                <a:spcPts val="400"/>
              </a:spcBef>
              <a:spcAft>
                <a:spcPts val="0"/>
              </a:spcAft>
              <a:buSzPts val="1900"/>
              <a:buChar char="⚫"/>
            </a:pPr>
            <a:r>
              <a:rPr b="0" i="0" lang="en-US" sz="2000"/>
              <a:t>Hence, P(getting 3 on rolling a die) = 1/6</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333333"/>
              </a:buClr>
              <a:buSzPts val="2000"/>
              <a:buFont typeface="Constantia"/>
              <a:buNone/>
            </a:pPr>
            <a:r>
              <a:rPr b="1" i="0" lang="en-US" sz="2000">
                <a:solidFill>
                  <a:srgbClr val="333333"/>
                </a:solidFill>
                <a:latin typeface="Constantia"/>
                <a:ea typeface="Constantia"/>
                <a:cs typeface="Constantia"/>
                <a:sym typeface="Constantia"/>
              </a:rPr>
              <a:t>Question 2:</a:t>
            </a:r>
            <a:r>
              <a:rPr b="0" i="0" lang="en-US" sz="2000">
                <a:solidFill>
                  <a:srgbClr val="333333"/>
                </a:solidFill>
                <a:latin typeface="Constantia"/>
                <a:ea typeface="Constantia"/>
                <a:cs typeface="Constantia"/>
                <a:sym typeface="Constantia"/>
              </a:rPr>
              <a:t> </a:t>
            </a:r>
            <a:r>
              <a:rPr b="1" i="0" lang="en-US" sz="2000">
                <a:solidFill>
                  <a:srgbClr val="333333"/>
                </a:solidFill>
                <a:latin typeface="Constantia"/>
                <a:ea typeface="Constantia"/>
                <a:cs typeface="Constantia"/>
                <a:sym typeface="Constantia"/>
              </a:rPr>
              <a:t>Draw a random card from a pack of cards. What is the probability that the card drawn is a face card?</a:t>
            </a:r>
            <a:br>
              <a:rPr b="0" i="0" lang="en-US" sz="2000">
                <a:solidFill>
                  <a:srgbClr val="333333"/>
                </a:solidFill>
                <a:latin typeface="Constantia"/>
                <a:ea typeface="Constantia"/>
                <a:cs typeface="Constantia"/>
                <a:sym typeface="Constantia"/>
              </a:rPr>
            </a:br>
            <a:r>
              <a:rPr b="1" i="0" lang="en-US" sz="2000">
                <a:solidFill>
                  <a:srgbClr val="333333"/>
                </a:solidFill>
                <a:latin typeface="Constantia"/>
                <a:ea typeface="Constantia"/>
                <a:cs typeface="Constantia"/>
                <a:sym typeface="Constantia"/>
              </a:rPr>
              <a:t>Solution:</a:t>
            </a:r>
            <a:endParaRPr sz="2000">
              <a:latin typeface="Constantia"/>
              <a:ea typeface="Constantia"/>
              <a:cs typeface="Constantia"/>
              <a:sym typeface="Constantia"/>
            </a:endParaRPr>
          </a:p>
        </p:txBody>
      </p:sp>
      <p:sp>
        <p:nvSpPr>
          <p:cNvPr id="217" name="Google Shape;217;p18"/>
          <p:cNvSpPr txBox="1"/>
          <p:nvPr>
            <p:ph idx="1" type="body"/>
          </p:nvPr>
        </p:nvSpPr>
        <p:spPr>
          <a:xfrm>
            <a:off x="463296" y="1861375"/>
            <a:ext cx="8223504" cy="4419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b="0" i="0" lang="en-US" sz="2000"/>
              <a:t>A standard deck has 52 cards.</a:t>
            </a:r>
            <a:endParaRPr/>
          </a:p>
          <a:p>
            <a:pPr indent="-274320" lvl="0" marL="274320" rtl="0" algn="l">
              <a:spcBef>
                <a:spcPts val="400"/>
              </a:spcBef>
              <a:spcAft>
                <a:spcPts val="0"/>
              </a:spcAft>
              <a:buSzPts val="1900"/>
              <a:buChar char="⚫"/>
            </a:pPr>
            <a:r>
              <a:rPr b="0" i="0" lang="en-US" sz="2000"/>
              <a:t>Total number of outcomes = n(S) = 52</a:t>
            </a:r>
            <a:endParaRPr/>
          </a:p>
          <a:p>
            <a:pPr indent="-274320" lvl="0" marL="274320" rtl="0" algn="l">
              <a:spcBef>
                <a:spcPts val="400"/>
              </a:spcBef>
              <a:spcAft>
                <a:spcPts val="0"/>
              </a:spcAft>
              <a:buSzPts val="1900"/>
              <a:buChar char="⚫"/>
            </a:pPr>
            <a:r>
              <a:rPr b="0" i="0" lang="en-US" sz="2000"/>
              <a:t>Let E be the event of drawing a face card.</a:t>
            </a:r>
            <a:endParaRPr/>
          </a:p>
          <a:p>
            <a:pPr indent="-274320" lvl="0" marL="274320" rtl="0" algn="l">
              <a:spcBef>
                <a:spcPts val="400"/>
              </a:spcBef>
              <a:spcAft>
                <a:spcPts val="0"/>
              </a:spcAft>
              <a:buSzPts val="1900"/>
              <a:buChar char="⚫"/>
            </a:pPr>
            <a:r>
              <a:rPr b="0" i="0" lang="en-US" sz="2000"/>
              <a:t>Number of favorable events = n(E) = 4 x 3 = 12 (considered Jack, Queen and King only)</a:t>
            </a:r>
            <a:endParaRPr/>
          </a:p>
          <a:p>
            <a:pPr indent="-274320" lvl="0" marL="274320" rtl="0" algn="l">
              <a:spcBef>
                <a:spcPts val="400"/>
              </a:spcBef>
              <a:spcAft>
                <a:spcPts val="0"/>
              </a:spcAft>
              <a:buSzPts val="1900"/>
              <a:buChar char="⚫"/>
            </a:pPr>
            <a:r>
              <a:rPr b="0" i="0" lang="en-US" sz="2000"/>
              <a:t>Probability, P = Number of Favorable Outcomes/Total Number of Outcomes</a:t>
            </a:r>
            <a:endParaRPr/>
          </a:p>
          <a:p>
            <a:pPr indent="-274320" lvl="0" marL="274320" rtl="0" algn="l">
              <a:spcBef>
                <a:spcPts val="400"/>
              </a:spcBef>
              <a:spcAft>
                <a:spcPts val="0"/>
              </a:spcAft>
              <a:buSzPts val="1900"/>
              <a:buChar char="⚫"/>
            </a:pPr>
            <a:r>
              <a:rPr b="0" i="0" lang="en-US" sz="2000"/>
              <a:t>P(E) = n(E)/n(S)</a:t>
            </a:r>
            <a:endParaRPr/>
          </a:p>
          <a:p>
            <a:pPr indent="-274320" lvl="0" marL="274320" rtl="0" algn="l">
              <a:spcBef>
                <a:spcPts val="400"/>
              </a:spcBef>
              <a:spcAft>
                <a:spcPts val="0"/>
              </a:spcAft>
              <a:buSzPts val="1900"/>
              <a:buChar char="⚫"/>
            </a:pPr>
            <a:r>
              <a:rPr b="0" i="0" lang="en-US" sz="2000"/>
              <a:t>= 12/52</a:t>
            </a:r>
            <a:endParaRPr/>
          </a:p>
          <a:p>
            <a:pPr indent="-274320" lvl="0" marL="274320" rtl="0" algn="l">
              <a:spcBef>
                <a:spcPts val="400"/>
              </a:spcBef>
              <a:spcAft>
                <a:spcPts val="0"/>
              </a:spcAft>
              <a:buSzPts val="1900"/>
              <a:buChar char="⚫"/>
            </a:pPr>
            <a:r>
              <a:rPr b="0" i="0" lang="en-US" sz="2000"/>
              <a:t>= 3/13</a:t>
            </a:r>
            <a:endParaRPr/>
          </a:p>
          <a:p>
            <a:pPr indent="-274320" lvl="0" marL="274320" rtl="0" algn="l">
              <a:spcBef>
                <a:spcPts val="400"/>
              </a:spcBef>
              <a:spcAft>
                <a:spcPts val="0"/>
              </a:spcAft>
              <a:buSzPts val="1900"/>
              <a:buChar char="⚫"/>
            </a:pPr>
            <a:r>
              <a:rPr b="0" i="0" lang="en-US" sz="2000"/>
              <a:t>P(the card drawn is a face card) = 3/13</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768096" y="548640"/>
            <a:ext cx="7918704" cy="173736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333333"/>
              </a:buClr>
              <a:buSzPts val="2000"/>
              <a:buFont typeface="Constantia"/>
              <a:buNone/>
            </a:pPr>
            <a:r>
              <a:rPr b="1" lang="en-US" sz="2000">
                <a:solidFill>
                  <a:srgbClr val="333333"/>
                </a:solidFill>
                <a:latin typeface="Constantia"/>
                <a:ea typeface="Constantia"/>
                <a:cs typeface="Constantia"/>
                <a:sym typeface="Constantia"/>
              </a:rPr>
              <a:t>Question 3: A vessel contains 4 blue balls, 5 red balls and 11 white balls. If three balls are drawn from the vessel at random, what is the probability that the first ball is red, the second ball is blue, and the third ball is white?</a:t>
            </a:r>
            <a:br>
              <a:rPr b="0" i="0" lang="en-US" sz="2000">
                <a:solidFill>
                  <a:srgbClr val="333333"/>
                </a:solidFill>
                <a:latin typeface="Constantia"/>
                <a:ea typeface="Constantia"/>
                <a:cs typeface="Constantia"/>
                <a:sym typeface="Constantia"/>
              </a:rPr>
            </a:br>
            <a:endParaRPr sz="2000">
              <a:latin typeface="Constantia"/>
              <a:ea typeface="Constantia"/>
              <a:cs typeface="Constantia"/>
              <a:sym typeface="Constantia"/>
            </a:endParaRPr>
          </a:p>
        </p:txBody>
      </p:sp>
      <p:sp>
        <p:nvSpPr>
          <p:cNvPr id="223" name="Google Shape;223;p19"/>
          <p:cNvSpPr txBox="1"/>
          <p:nvPr>
            <p:ph idx="1" type="body"/>
          </p:nvPr>
        </p:nvSpPr>
        <p:spPr>
          <a:xfrm>
            <a:off x="768096" y="2133600"/>
            <a:ext cx="7600951" cy="4224528"/>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95000"/>
              <a:buChar char="⚫"/>
            </a:pPr>
            <a:r>
              <a:rPr b="1" i="0" lang="en-US"/>
              <a:t>Solution:</a:t>
            </a:r>
            <a:endParaRPr b="0" i="0"/>
          </a:p>
          <a:p>
            <a:pPr indent="-274320" lvl="0" marL="274320" rtl="0" algn="l">
              <a:spcBef>
                <a:spcPts val="406"/>
              </a:spcBef>
              <a:spcAft>
                <a:spcPts val="0"/>
              </a:spcAft>
              <a:buSzPct val="95000"/>
              <a:buChar char="⚫"/>
            </a:pPr>
            <a:r>
              <a:rPr b="0" i="0" lang="en-US" sz="2900"/>
              <a:t>The probability to get the first ball is red or the first event is 5/20.</a:t>
            </a:r>
            <a:endParaRPr/>
          </a:p>
          <a:p>
            <a:pPr indent="-274320" lvl="0" marL="274320" rtl="0" algn="l">
              <a:spcBef>
                <a:spcPts val="406"/>
              </a:spcBef>
              <a:spcAft>
                <a:spcPts val="0"/>
              </a:spcAft>
              <a:buSzPct val="95000"/>
              <a:buChar char="⚫"/>
            </a:pPr>
            <a:r>
              <a:rPr b="0" i="0" lang="en-US" sz="2900"/>
              <a:t>Since we have drawn a ball for the first event to occur, then the number of possibilities left for the second event to occur is 20 – 1 = 19.</a:t>
            </a:r>
            <a:endParaRPr/>
          </a:p>
          <a:p>
            <a:pPr indent="-274320" lvl="0" marL="274320" rtl="0" algn="l">
              <a:spcBef>
                <a:spcPts val="406"/>
              </a:spcBef>
              <a:spcAft>
                <a:spcPts val="0"/>
              </a:spcAft>
              <a:buSzPct val="95000"/>
              <a:buChar char="⚫"/>
            </a:pPr>
            <a:r>
              <a:rPr b="0" i="0" lang="en-US" sz="2900"/>
              <a:t>Hence, the probability of getting the second ball as blue or the second event is 4/19.</a:t>
            </a:r>
            <a:endParaRPr/>
          </a:p>
          <a:p>
            <a:pPr indent="-274320" lvl="0" marL="274320" rtl="0" algn="l">
              <a:spcBef>
                <a:spcPts val="406"/>
              </a:spcBef>
              <a:spcAft>
                <a:spcPts val="0"/>
              </a:spcAft>
              <a:buSzPct val="95000"/>
              <a:buChar char="⚫"/>
            </a:pPr>
            <a:r>
              <a:rPr b="0" i="0" lang="en-US" sz="2900"/>
              <a:t>Again with the first and second event occurring, the number of possibilities left for the third event to occur is 19 – 1 = 18.</a:t>
            </a:r>
            <a:endParaRPr/>
          </a:p>
          <a:p>
            <a:pPr indent="-274320" lvl="0" marL="274320" rtl="0" algn="l">
              <a:spcBef>
                <a:spcPts val="406"/>
              </a:spcBef>
              <a:spcAft>
                <a:spcPts val="0"/>
              </a:spcAft>
              <a:buSzPct val="95000"/>
              <a:buChar char="⚫"/>
            </a:pPr>
            <a:r>
              <a:rPr b="0" i="0" lang="en-US" sz="2900"/>
              <a:t>And the probability of the third ball is white or the third event is 11/18.</a:t>
            </a:r>
            <a:endParaRPr/>
          </a:p>
          <a:p>
            <a:pPr indent="-274320" lvl="0" marL="274320" rtl="0" algn="l">
              <a:spcBef>
                <a:spcPts val="406"/>
              </a:spcBef>
              <a:spcAft>
                <a:spcPts val="0"/>
              </a:spcAft>
              <a:buSzPct val="95000"/>
              <a:buChar char="⚫"/>
            </a:pPr>
            <a:r>
              <a:rPr b="0" i="0" lang="en-US" sz="2900"/>
              <a:t>Therefore, the probability is 5/20 x 4/19 x 11/18 = 44/1368 = 0.032.</a:t>
            </a:r>
            <a:endParaRPr/>
          </a:p>
          <a:p>
            <a:pPr indent="-274320" lvl="0" marL="274320" rtl="0" algn="l">
              <a:spcBef>
                <a:spcPts val="406"/>
              </a:spcBef>
              <a:spcAft>
                <a:spcPts val="0"/>
              </a:spcAft>
              <a:buSzPct val="95000"/>
              <a:buChar char="⚫"/>
            </a:pPr>
            <a:r>
              <a:rPr b="0" i="0" lang="en-US" sz="2900"/>
              <a:t>Or we can express it as: P = 3.2%.</a:t>
            </a:r>
            <a:endParaRPr/>
          </a:p>
          <a:p>
            <a:pPr indent="-164528" lvl="0" marL="274320" rtl="0" algn="l">
              <a:spcBef>
                <a:spcPts val="364"/>
              </a:spcBef>
              <a:spcAft>
                <a:spcPts val="0"/>
              </a:spcAft>
              <a:buSzPct val="95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0"/>
          <p:cNvSpPr txBox="1"/>
          <p:nvPr>
            <p:ph idx="1" type="body"/>
          </p:nvPr>
        </p:nvSpPr>
        <p:spPr>
          <a:xfrm>
            <a:off x="304800" y="304800"/>
            <a:ext cx="8610600" cy="63246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SzPct val="95000"/>
              <a:buNone/>
            </a:pPr>
            <a:r>
              <a:rPr b="1" i="0" lang="en-US" sz="2900">
                <a:solidFill>
                  <a:srgbClr val="333333"/>
                </a:solidFill>
              </a:rPr>
              <a:t>Question 4: Two dice are rolled, find the probability that the sum is:</a:t>
            </a:r>
            <a:endParaRPr b="0" i="0" sz="2900">
              <a:solidFill>
                <a:srgbClr val="333333"/>
              </a:solidFill>
            </a:endParaRPr>
          </a:p>
          <a:p>
            <a:pPr indent="-514350" lvl="0" marL="514350" rtl="0" algn="l">
              <a:spcBef>
                <a:spcPts val="406"/>
              </a:spcBef>
              <a:spcAft>
                <a:spcPts val="0"/>
              </a:spcAft>
              <a:buSzPct val="95000"/>
              <a:buFont typeface="Calibri"/>
              <a:buAutoNum type="arabicPeriod"/>
            </a:pPr>
            <a:r>
              <a:rPr b="1" i="0" lang="en-US" sz="2900">
                <a:solidFill>
                  <a:srgbClr val="333333"/>
                </a:solidFill>
              </a:rPr>
              <a:t>equal to 1    </a:t>
            </a:r>
            <a:endParaRPr b="1" i="0" sz="2900">
              <a:solidFill>
                <a:srgbClr val="333333"/>
              </a:solidFill>
            </a:endParaRPr>
          </a:p>
          <a:p>
            <a:pPr indent="-514350" lvl="0" marL="514350" rtl="0" algn="l">
              <a:spcBef>
                <a:spcPts val="406"/>
              </a:spcBef>
              <a:spcAft>
                <a:spcPts val="0"/>
              </a:spcAft>
              <a:buSzPct val="95000"/>
              <a:buFont typeface="Calibri"/>
              <a:buAutoNum type="arabicPeriod"/>
            </a:pPr>
            <a:r>
              <a:rPr b="1" i="0" lang="en-US" sz="2900">
                <a:solidFill>
                  <a:srgbClr val="333333"/>
                </a:solidFill>
              </a:rPr>
              <a:t>less than 13 	</a:t>
            </a:r>
            <a:r>
              <a:rPr b="1" i="0" lang="en-US">
                <a:solidFill>
                  <a:srgbClr val="333333"/>
                </a:solidFill>
              </a:rPr>
              <a:t>			</a:t>
            </a:r>
            <a:endParaRPr b="1" i="0">
              <a:solidFill>
                <a:srgbClr val="333333"/>
              </a:solidFill>
            </a:endParaRPr>
          </a:p>
          <a:p>
            <a:pPr indent="0" lvl="0" marL="0" rtl="0" algn="l">
              <a:spcBef>
                <a:spcPts val="364"/>
              </a:spcBef>
              <a:spcAft>
                <a:spcPts val="0"/>
              </a:spcAft>
              <a:buSzPct val="95000"/>
              <a:buNone/>
            </a:pPr>
            <a:r>
              <a:t/>
            </a:r>
            <a:endParaRPr b="1" i="0">
              <a:solidFill>
                <a:srgbClr val="333333"/>
              </a:solidFill>
            </a:endParaRPr>
          </a:p>
          <a:p>
            <a:pPr indent="0" lvl="0" marL="0" rtl="0" algn="l">
              <a:spcBef>
                <a:spcPts val="364"/>
              </a:spcBef>
              <a:spcAft>
                <a:spcPts val="0"/>
              </a:spcAft>
              <a:buSzPct val="95000"/>
              <a:buNone/>
            </a:pPr>
            <a:r>
              <a:rPr b="1" i="0" lang="en-US">
                <a:solidFill>
                  <a:srgbClr val="333333"/>
                </a:solidFill>
              </a:rPr>
              <a:t>Solution:</a:t>
            </a:r>
            <a:endParaRPr b="0" i="0">
              <a:solidFill>
                <a:srgbClr val="333333"/>
              </a:solidFill>
            </a:endParaRPr>
          </a:p>
          <a:p>
            <a:pPr indent="-274320" lvl="0" marL="274320" rtl="0" algn="l">
              <a:spcBef>
                <a:spcPts val="364"/>
              </a:spcBef>
              <a:spcAft>
                <a:spcPts val="0"/>
              </a:spcAft>
              <a:buSzPct val="95000"/>
              <a:buChar char="⚫"/>
            </a:pPr>
            <a:r>
              <a:rPr b="0" i="0" lang="en-US">
                <a:solidFill>
                  <a:srgbClr val="333333"/>
                </a:solidFill>
              </a:rPr>
              <a:t>To find the probability that the sum is equal to 1 we have to first determine the sample space S of two dice as shown below.</a:t>
            </a:r>
            <a:endParaRPr/>
          </a:p>
          <a:p>
            <a:pPr indent="-274320" lvl="0" marL="274320" rtl="0" algn="l">
              <a:spcBef>
                <a:spcPts val="364"/>
              </a:spcBef>
              <a:spcAft>
                <a:spcPts val="0"/>
              </a:spcAft>
              <a:buSzPct val="95000"/>
              <a:buChar char="⚫"/>
            </a:pPr>
            <a:r>
              <a:rPr b="0" i="0" lang="en-US">
                <a:solidFill>
                  <a:srgbClr val="333333"/>
                </a:solidFill>
              </a:rPr>
              <a:t>S = { (1,1),(1,2),(1,3),(1,4),(1,5),(1,6)</a:t>
            </a:r>
            <a:endParaRPr/>
          </a:p>
          <a:p>
            <a:pPr indent="0" lvl="0" marL="0" rtl="0" algn="l">
              <a:spcBef>
                <a:spcPts val="364"/>
              </a:spcBef>
              <a:spcAft>
                <a:spcPts val="0"/>
              </a:spcAft>
              <a:buSzPct val="95000"/>
              <a:buNone/>
            </a:pPr>
            <a:r>
              <a:rPr b="0" i="0" lang="en-US">
                <a:solidFill>
                  <a:srgbClr val="333333"/>
                </a:solidFill>
              </a:rPr>
              <a:t>(2,1),(2,2),(2,3),(2,4),(2,5),(2,6)</a:t>
            </a:r>
            <a:endParaRPr/>
          </a:p>
          <a:p>
            <a:pPr indent="0" lvl="0" marL="0" rtl="0" algn="l">
              <a:spcBef>
                <a:spcPts val="364"/>
              </a:spcBef>
              <a:spcAft>
                <a:spcPts val="0"/>
              </a:spcAft>
              <a:buSzPct val="95000"/>
              <a:buNone/>
            </a:pPr>
            <a:r>
              <a:rPr b="0" i="0" lang="en-US">
                <a:solidFill>
                  <a:srgbClr val="333333"/>
                </a:solidFill>
              </a:rPr>
              <a:t>(3,1),(3,2),(3,3),(3,4),(3,5),(3,6)</a:t>
            </a:r>
            <a:endParaRPr/>
          </a:p>
          <a:p>
            <a:pPr indent="0" lvl="0" marL="0" rtl="0" algn="l">
              <a:spcBef>
                <a:spcPts val="364"/>
              </a:spcBef>
              <a:spcAft>
                <a:spcPts val="0"/>
              </a:spcAft>
              <a:buSzPct val="95000"/>
              <a:buNone/>
            </a:pPr>
            <a:r>
              <a:rPr b="0" i="0" lang="en-US">
                <a:solidFill>
                  <a:srgbClr val="333333"/>
                </a:solidFill>
              </a:rPr>
              <a:t>(4,1),(4,2),(4,3),(4,4),(4,5),(4,6)</a:t>
            </a:r>
            <a:endParaRPr/>
          </a:p>
          <a:p>
            <a:pPr indent="0" lvl="0" marL="0" rtl="0" algn="l">
              <a:spcBef>
                <a:spcPts val="364"/>
              </a:spcBef>
              <a:spcAft>
                <a:spcPts val="0"/>
              </a:spcAft>
              <a:buSzPct val="95000"/>
              <a:buNone/>
            </a:pPr>
            <a:r>
              <a:rPr b="0" i="0" lang="en-US">
                <a:solidFill>
                  <a:srgbClr val="333333"/>
                </a:solidFill>
              </a:rPr>
              <a:t>(5,1),(5,2),(5,3),(5,4),(5,5),(5,6)</a:t>
            </a:r>
            <a:endParaRPr/>
          </a:p>
          <a:p>
            <a:pPr indent="0" lvl="0" marL="0" rtl="0" algn="l">
              <a:spcBef>
                <a:spcPts val="364"/>
              </a:spcBef>
              <a:spcAft>
                <a:spcPts val="0"/>
              </a:spcAft>
              <a:buSzPct val="95000"/>
              <a:buNone/>
            </a:pPr>
            <a:r>
              <a:rPr b="0" i="0" lang="en-US">
                <a:solidFill>
                  <a:srgbClr val="333333"/>
                </a:solidFill>
              </a:rPr>
              <a:t>(6,1),(6,2),(6,3),(6,4),(6,5),(6,6) }</a:t>
            </a:r>
            <a:endParaRPr/>
          </a:p>
          <a:p>
            <a:pPr indent="-274320" lvl="0" marL="274320" rtl="0" algn="l">
              <a:spcBef>
                <a:spcPts val="364"/>
              </a:spcBef>
              <a:spcAft>
                <a:spcPts val="0"/>
              </a:spcAft>
              <a:buSzPct val="95000"/>
              <a:buChar char="⚫"/>
            </a:pPr>
            <a:r>
              <a:rPr b="0" i="0" lang="en-US">
                <a:solidFill>
                  <a:srgbClr val="333333"/>
                </a:solidFill>
              </a:rPr>
              <a:t>So, n(S) = 36</a:t>
            </a:r>
            <a:endParaRPr/>
          </a:p>
          <a:p>
            <a:pPr indent="-274320" lvl="0" marL="274320" rtl="0" algn="l">
              <a:spcBef>
                <a:spcPts val="364"/>
              </a:spcBef>
              <a:spcAft>
                <a:spcPts val="0"/>
              </a:spcAft>
              <a:buSzPct val="95000"/>
              <a:buChar char="⚫"/>
            </a:pPr>
            <a:r>
              <a:rPr b="0" i="0" lang="en-US">
                <a:solidFill>
                  <a:srgbClr val="333333"/>
                </a:solidFill>
              </a:rPr>
              <a:t>1) Let E be the event “sum equal to 1”. Since, there are no outcomes which where a sum is equal to 1, hence,  P(E) = n(E) / n(S) = 0 / 36 = 0</a:t>
            </a:r>
            <a:endParaRPr/>
          </a:p>
          <a:p>
            <a:pPr indent="-274320" lvl="0" marL="274320" rtl="0" algn="l">
              <a:spcBef>
                <a:spcPts val="364"/>
              </a:spcBef>
              <a:spcAft>
                <a:spcPts val="0"/>
              </a:spcAft>
              <a:buSzPct val="95000"/>
              <a:buChar char="⚫"/>
            </a:pPr>
            <a:r>
              <a:rPr lang="en-US">
                <a:solidFill>
                  <a:srgbClr val="333333"/>
                </a:solidFill>
              </a:rPr>
              <a:t>2</a:t>
            </a:r>
            <a:r>
              <a:rPr b="0" i="0" lang="en-US">
                <a:solidFill>
                  <a:srgbClr val="333333"/>
                </a:solidFill>
              </a:rPr>
              <a:t>) Let B be the event of getting the sum of numbers on dice is less than 13.</a:t>
            </a:r>
            <a:endParaRPr/>
          </a:p>
          <a:p>
            <a:pPr indent="-274320" lvl="0" marL="274320" rtl="0" algn="l">
              <a:spcBef>
                <a:spcPts val="364"/>
              </a:spcBef>
              <a:spcAft>
                <a:spcPts val="0"/>
              </a:spcAft>
              <a:buSzPct val="95000"/>
              <a:buChar char="⚫"/>
            </a:pPr>
            <a:r>
              <a:rPr b="0" i="0" lang="en-US">
                <a:solidFill>
                  <a:srgbClr val="333333"/>
                </a:solidFill>
              </a:rPr>
              <a:t>From the sample space, we can see all possible outcomes for the event B, which gives a sum less than B. Like:  (1,1) or (1,6) or (2,6) or (6,6). So you can see the limit of an event to occur is when both dies have number 6, i.e. (6,6). Thus, n(B) = 36</a:t>
            </a:r>
            <a:endParaRPr/>
          </a:p>
          <a:p>
            <a:pPr indent="-274320" lvl="0" marL="274320" rtl="0" algn="l">
              <a:spcBef>
                <a:spcPts val="364"/>
              </a:spcBef>
              <a:spcAft>
                <a:spcPts val="0"/>
              </a:spcAft>
              <a:buSzPct val="95000"/>
              <a:buChar char="⚫"/>
            </a:pPr>
            <a:r>
              <a:rPr b="0" i="0" lang="en-US">
                <a:solidFill>
                  <a:srgbClr val="333333"/>
                </a:solidFill>
              </a:rPr>
              <a:t>Hence, P(B) = n(B) / n(S) = 36 / 36 = 1</a:t>
            </a:r>
            <a:endParaRPr/>
          </a:p>
          <a:p>
            <a:pPr indent="-164528" lvl="0" marL="274320" rtl="0" algn="l">
              <a:spcBef>
                <a:spcPts val="364"/>
              </a:spcBef>
              <a:spcAft>
                <a:spcPts val="0"/>
              </a:spcAft>
              <a:buSzPct val="95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813588"/>
              </a:buClr>
              <a:buSzPts val="5000"/>
              <a:buFont typeface="Roboto"/>
              <a:buNone/>
            </a:pPr>
            <a:r>
              <a:rPr b="0" i="0" lang="en-US">
                <a:solidFill>
                  <a:srgbClr val="813588"/>
                </a:solidFill>
                <a:latin typeface="Roboto"/>
                <a:ea typeface="Roboto"/>
                <a:cs typeface="Roboto"/>
                <a:sym typeface="Roboto"/>
              </a:rPr>
              <a:t> </a:t>
            </a:r>
            <a:r>
              <a:rPr lang="en-US" sz="4400"/>
              <a:t>Equally Likely Events</a:t>
            </a:r>
            <a:endParaRPr/>
          </a:p>
        </p:txBody>
      </p:sp>
      <p:sp>
        <p:nvSpPr>
          <p:cNvPr id="234" name="Google Shape;234;p21"/>
          <p:cNvSpPr txBox="1"/>
          <p:nvPr>
            <p:ph idx="1" type="body"/>
          </p:nvPr>
        </p:nvSpPr>
        <p:spPr>
          <a:xfrm>
            <a:off x="457200" y="2286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When the events have the same theoretical probability of happening, then they are called equally likely events. </a:t>
            </a:r>
            <a:endParaRPr b="0" i="0" sz="2000"/>
          </a:p>
          <a:p>
            <a:pPr indent="-153670" lvl="0" marL="274320" rtl="0" algn="just">
              <a:spcBef>
                <a:spcPts val="400"/>
              </a:spcBef>
              <a:spcAft>
                <a:spcPts val="0"/>
              </a:spcAft>
              <a:buSzPts val="1900"/>
              <a:buNone/>
            </a:pPr>
            <a:r>
              <a:t/>
            </a:r>
            <a:endParaRPr b="0" i="0" sz="2000"/>
          </a:p>
          <a:p>
            <a:pPr indent="-274320" lvl="0" marL="274320" rtl="0" algn="just">
              <a:spcBef>
                <a:spcPts val="400"/>
              </a:spcBef>
              <a:spcAft>
                <a:spcPts val="0"/>
              </a:spcAft>
              <a:buSzPts val="1900"/>
              <a:buChar char="⚫"/>
            </a:pPr>
            <a:r>
              <a:rPr b="0" i="0" lang="en-US" sz="2000"/>
              <a:t>The results of a sample space are called equally likely if all of them have the same probability of occurring.</a:t>
            </a:r>
            <a:endParaRPr/>
          </a:p>
          <a:p>
            <a:pPr indent="-246888" lvl="1" marL="640080" rtl="0" algn="just">
              <a:spcBef>
                <a:spcPts val="400"/>
              </a:spcBef>
              <a:spcAft>
                <a:spcPts val="0"/>
              </a:spcAft>
              <a:buSzPts val="1700"/>
              <a:buChar char="⚫"/>
            </a:pPr>
            <a:r>
              <a:rPr lang="en-US" sz="2000"/>
              <a:t>Getting 3 and 5 on throwing a die</a:t>
            </a:r>
            <a:endParaRPr/>
          </a:p>
          <a:p>
            <a:pPr indent="-246888" lvl="1" marL="640080" rtl="0" algn="just">
              <a:spcBef>
                <a:spcPts val="400"/>
              </a:spcBef>
              <a:spcAft>
                <a:spcPts val="0"/>
              </a:spcAft>
              <a:buSzPts val="1700"/>
              <a:buChar char="⚫"/>
            </a:pPr>
            <a:r>
              <a:rPr lang="en-US" sz="2000"/>
              <a:t>Getting an even number and an odd number on a die</a:t>
            </a:r>
            <a:endParaRPr/>
          </a:p>
          <a:p>
            <a:pPr indent="-246888" lvl="1" marL="640080" rtl="0" algn="just">
              <a:spcBef>
                <a:spcPts val="400"/>
              </a:spcBef>
              <a:spcAft>
                <a:spcPts val="0"/>
              </a:spcAft>
              <a:buSzPts val="1700"/>
              <a:buChar char="⚫"/>
            </a:pPr>
            <a:r>
              <a:rPr lang="en-US" sz="2000"/>
              <a:t>Getting 1, 2 or 3 on rolling a die</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Complementary Events</a:t>
            </a:r>
            <a:endParaRPr/>
          </a:p>
        </p:txBody>
      </p:sp>
      <p:sp>
        <p:nvSpPr>
          <p:cNvPr id="240" name="Google Shape;240;p22"/>
          <p:cNvSpPr txBox="1"/>
          <p:nvPr>
            <p:ph idx="1" type="body"/>
          </p:nvPr>
        </p:nvSpPr>
        <p:spPr>
          <a:xfrm>
            <a:off x="381000" y="2286000"/>
            <a:ext cx="8382000" cy="3886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b="0" i="0" lang="en-US" sz="2000"/>
              <a:t>The possibility that there will be only two outcomes which states that an event will occur or not.</a:t>
            </a:r>
            <a:endParaRPr/>
          </a:p>
          <a:p>
            <a:pPr indent="-274320" lvl="0" marL="274320" rtl="0" algn="l">
              <a:spcBef>
                <a:spcPts val="400"/>
              </a:spcBef>
              <a:spcAft>
                <a:spcPts val="0"/>
              </a:spcAft>
              <a:buSzPts val="1900"/>
              <a:buChar char="⚫"/>
            </a:pPr>
            <a:r>
              <a:rPr b="0" i="0" lang="en-US" sz="2000"/>
              <a:t>Basically, the complement of an event occurring in the exact opposite that the probability of it is not occurring. Some more examples are:</a:t>
            </a:r>
            <a:endParaRPr/>
          </a:p>
          <a:p>
            <a:pPr indent="-274320" lvl="0" marL="274320" rtl="0" algn="l">
              <a:spcBef>
                <a:spcPts val="400"/>
              </a:spcBef>
              <a:spcAft>
                <a:spcPts val="0"/>
              </a:spcAft>
              <a:buSzPts val="1900"/>
              <a:buFont typeface="Arial"/>
              <a:buChar char="•"/>
            </a:pPr>
            <a:r>
              <a:rPr b="0" i="0" lang="en-US" sz="2000"/>
              <a:t>It will rain or not rain today</a:t>
            </a:r>
            <a:endParaRPr/>
          </a:p>
          <a:p>
            <a:pPr indent="-274320" lvl="0" marL="274320" rtl="0" algn="l">
              <a:spcBef>
                <a:spcPts val="400"/>
              </a:spcBef>
              <a:spcAft>
                <a:spcPts val="0"/>
              </a:spcAft>
              <a:buSzPts val="1900"/>
              <a:buFont typeface="Arial"/>
              <a:buChar char="•"/>
            </a:pPr>
            <a:r>
              <a:rPr b="0" i="0" lang="en-US" sz="2000"/>
              <a:t>The student will pass the exam or not pass.</a:t>
            </a:r>
            <a:endParaRPr/>
          </a:p>
          <a:p>
            <a:pPr indent="-274320" lvl="0" marL="274320" rtl="0" algn="l">
              <a:spcBef>
                <a:spcPts val="400"/>
              </a:spcBef>
              <a:spcAft>
                <a:spcPts val="0"/>
              </a:spcAft>
              <a:buSzPts val="1900"/>
              <a:buFont typeface="Arial"/>
              <a:buChar char="•"/>
            </a:pPr>
            <a:r>
              <a:rPr b="0" i="0" lang="en-US" sz="2000"/>
              <a:t>You win the lottery or you don’t.</a:t>
            </a:r>
            <a:endParaRPr/>
          </a:p>
          <a:p>
            <a:pPr indent="-153670" lvl="0" marL="274320" rtl="0" algn="l">
              <a:spcBef>
                <a:spcPts val="400"/>
              </a:spcBef>
              <a:spcAft>
                <a:spcPts val="0"/>
              </a:spcAft>
              <a:buSzPts val="1900"/>
              <a:buNone/>
            </a:pPr>
            <a:r>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304800" y="42864"/>
            <a:ext cx="7773338" cy="9906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rgbClr val="813588"/>
              </a:buClr>
              <a:buSzPts val="5000"/>
              <a:buFont typeface="Roboto"/>
              <a:buNone/>
            </a:pPr>
            <a:r>
              <a:rPr b="0" i="0" lang="en-US">
                <a:solidFill>
                  <a:srgbClr val="813588"/>
                </a:solidFill>
                <a:latin typeface="Roboto"/>
                <a:ea typeface="Roboto"/>
                <a:cs typeface="Roboto"/>
                <a:sym typeface="Roboto"/>
              </a:rPr>
              <a:t> </a:t>
            </a:r>
            <a:r>
              <a:rPr lang="en-US" sz="4400"/>
              <a:t>Independent Events</a:t>
            </a:r>
            <a:endParaRPr/>
          </a:p>
        </p:txBody>
      </p:sp>
      <p:sp>
        <p:nvSpPr>
          <p:cNvPr id="246" name="Google Shape;246;p23"/>
          <p:cNvSpPr txBox="1"/>
          <p:nvPr>
            <p:ph idx="1" type="body"/>
          </p:nvPr>
        </p:nvSpPr>
        <p:spPr>
          <a:xfrm>
            <a:off x="609600" y="2362200"/>
            <a:ext cx="7924800" cy="4495800"/>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95000"/>
              <a:buChar char="⚫"/>
            </a:pPr>
            <a:r>
              <a:rPr b="0" i="0" lang="en-US"/>
              <a:t>If the probability of occurrence of an event A is not affected by the occurrence of another event B, then A and B are said to be independent events.</a:t>
            </a:r>
            <a:endParaRPr/>
          </a:p>
          <a:p>
            <a:pPr indent="-274320" lvl="0" marL="274320" rtl="0" algn="l">
              <a:spcBef>
                <a:spcPts val="364"/>
              </a:spcBef>
              <a:spcAft>
                <a:spcPts val="0"/>
              </a:spcAft>
              <a:buSzPct val="95000"/>
              <a:buChar char="⚫"/>
            </a:pPr>
            <a:r>
              <a:rPr b="0" i="0" lang="en-US"/>
              <a:t>Consider an example of rolling a die. </a:t>
            </a:r>
            <a:endParaRPr/>
          </a:p>
          <a:p>
            <a:pPr indent="-274320" lvl="0" marL="274320" rtl="0" algn="l">
              <a:spcBef>
                <a:spcPts val="364"/>
              </a:spcBef>
              <a:spcAft>
                <a:spcPts val="0"/>
              </a:spcAft>
              <a:buSzPct val="95000"/>
              <a:buChar char="⚫"/>
            </a:pPr>
            <a:r>
              <a:rPr b="0" i="0" lang="en-US"/>
              <a:t>If A is the event ‘the number appearing is odd’ and B be the event ‘the number appearing is a multiple of 3’, then</a:t>
            </a:r>
            <a:endParaRPr/>
          </a:p>
          <a:p>
            <a:pPr indent="-274320" lvl="0" marL="274320" rtl="0" algn="l">
              <a:spcBef>
                <a:spcPts val="364"/>
              </a:spcBef>
              <a:spcAft>
                <a:spcPts val="0"/>
              </a:spcAft>
              <a:buSzPct val="95000"/>
              <a:buChar char="⚫"/>
            </a:pPr>
            <a:r>
              <a:rPr b="0" i="0" lang="en-US"/>
              <a:t>P(A)= 3/6 = 1/2 and P(B) = 2/6 = 1/3</a:t>
            </a:r>
            <a:endParaRPr/>
          </a:p>
          <a:p>
            <a:pPr indent="-274320" lvl="0" marL="274320" rtl="0" algn="l">
              <a:spcBef>
                <a:spcPts val="364"/>
              </a:spcBef>
              <a:spcAft>
                <a:spcPts val="0"/>
              </a:spcAft>
              <a:buSzPct val="95000"/>
              <a:buChar char="⚫"/>
            </a:pPr>
            <a:r>
              <a:rPr b="0" i="0" lang="en-US"/>
              <a:t>Also A and B is the event ‘the number appearing is odd and a multiple of 3’ so that</a:t>
            </a:r>
            <a:endParaRPr/>
          </a:p>
          <a:p>
            <a:pPr indent="-274320" lvl="0" marL="274320" rtl="0" algn="l">
              <a:spcBef>
                <a:spcPts val="364"/>
              </a:spcBef>
              <a:spcAft>
                <a:spcPts val="0"/>
              </a:spcAft>
              <a:buSzPct val="95000"/>
              <a:buChar char="⚫"/>
            </a:pPr>
            <a:r>
              <a:rPr b="0" i="0" lang="en-US"/>
              <a:t>P(A ∩ B) = 1/6</a:t>
            </a:r>
            <a:endParaRPr/>
          </a:p>
          <a:p>
            <a:pPr indent="-274320" lvl="0" marL="274320" rtl="0" algn="l">
              <a:spcBef>
                <a:spcPts val="364"/>
              </a:spcBef>
              <a:spcAft>
                <a:spcPts val="0"/>
              </a:spcAft>
              <a:buSzPct val="95000"/>
              <a:buChar char="⚫"/>
            </a:pPr>
            <a:r>
              <a:rPr b="0" i="0" lang="en-US"/>
              <a:t>P(A│B) = P(A ∩ B)/ P(B) = (1/6) / (1/3) = 1/2</a:t>
            </a:r>
            <a:endParaRPr/>
          </a:p>
          <a:p>
            <a:pPr indent="-274320" lvl="0" marL="274320" rtl="0" algn="l">
              <a:spcBef>
                <a:spcPts val="364"/>
              </a:spcBef>
              <a:spcAft>
                <a:spcPts val="0"/>
              </a:spcAft>
              <a:buSzPct val="95000"/>
              <a:buChar char="⚫"/>
            </a:pPr>
            <a:r>
              <a:rPr b="0" i="0" lang="en-US"/>
              <a:t>P(A) = P(A│B) = 1/2  , which implies that the occurrence of event B has not affected the probability of occurrence of the event A .</a:t>
            </a:r>
            <a:endParaRPr/>
          </a:p>
          <a:p>
            <a:pPr indent="-274320" lvl="0" marL="274320" rtl="0" algn="l">
              <a:spcBef>
                <a:spcPts val="364"/>
              </a:spcBef>
              <a:spcAft>
                <a:spcPts val="0"/>
              </a:spcAft>
              <a:buSzPct val="95000"/>
              <a:buChar char="⚫"/>
            </a:pPr>
            <a:r>
              <a:rPr b="0" i="0" lang="en-US"/>
              <a:t>If A and B are independent events, then P(A│B) = P(A)</a:t>
            </a:r>
            <a:endParaRPr/>
          </a:p>
          <a:p>
            <a:pPr indent="-274320" lvl="0" marL="274320" rtl="0" algn="l">
              <a:spcBef>
                <a:spcPts val="364"/>
              </a:spcBef>
              <a:spcAft>
                <a:spcPts val="0"/>
              </a:spcAft>
              <a:buSzPct val="95000"/>
              <a:buChar char="⚫"/>
            </a:pPr>
            <a:r>
              <a:rPr b="0" i="0" lang="en-US"/>
              <a:t>Using Multiplication rule of probability, P(A ∩ B) = P(B) .P(A│B)</a:t>
            </a:r>
            <a:endParaRPr/>
          </a:p>
          <a:p>
            <a:pPr indent="-274320" lvl="0" marL="274320" rtl="0" algn="l">
              <a:spcBef>
                <a:spcPts val="364"/>
              </a:spcBef>
              <a:spcAft>
                <a:spcPts val="0"/>
              </a:spcAft>
              <a:buSzPct val="95000"/>
              <a:buChar char="⚫"/>
            </a:pPr>
            <a:r>
              <a:rPr b="0" i="0" lang="en-US"/>
              <a:t>P(A ∩ B) = P(B) .P(A)</a:t>
            </a:r>
            <a:endParaRPr/>
          </a:p>
          <a:p>
            <a:pPr indent="-164528" lvl="0" marL="274320" rtl="0" algn="l">
              <a:spcBef>
                <a:spcPts val="364"/>
              </a:spcBef>
              <a:spcAft>
                <a:spcPts val="0"/>
              </a:spcAft>
              <a:buSzPct val="95000"/>
              <a:buNone/>
            </a:pPr>
            <a:r>
              <a:t/>
            </a:r>
            <a:endParaRPr b="0" i="0"/>
          </a:p>
          <a:p>
            <a:pPr indent="-164528" lvl="0" marL="274320" rtl="0" algn="l">
              <a:spcBef>
                <a:spcPts val="364"/>
              </a:spcBef>
              <a:spcAft>
                <a:spcPts val="0"/>
              </a:spcAft>
              <a:buSzPct val="95000"/>
              <a:buNone/>
            </a:pPr>
            <a:r>
              <a:t/>
            </a:r>
            <a:endParaRPr b="0" i="0"/>
          </a:p>
          <a:p>
            <a:pPr indent="-164528" lvl="0" marL="274320" rtl="0" algn="l">
              <a:spcBef>
                <a:spcPts val="364"/>
              </a:spcBef>
              <a:spcAft>
                <a:spcPts val="0"/>
              </a:spcAft>
              <a:buSzPct val="95000"/>
              <a:buNone/>
            </a:pPr>
            <a:r>
              <a:t/>
            </a:r>
            <a:endParaRPr/>
          </a:p>
        </p:txBody>
      </p:sp>
      <p:sp>
        <p:nvSpPr>
          <p:cNvPr id="247" name="Google Shape;247;p23"/>
          <p:cNvSpPr/>
          <p:nvPr/>
        </p:nvSpPr>
        <p:spPr>
          <a:xfrm>
            <a:off x="304800" y="990601"/>
            <a:ext cx="8229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Constantia"/>
                <a:ea typeface="Constantia"/>
                <a:cs typeface="Constantia"/>
                <a:sym typeface="Constantia"/>
              </a:rPr>
              <a:t>Independent events</a:t>
            </a:r>
            <a:r>
              <a:rPr lang="en-US" sz="1800">
                <a:solidFill>
                  <a:schemeClr val="dk1"/>
                </a:solidFill>
                <a:latin typeface="Constantia"/>
                <a:ea typeface="Constantia"/>
                <a:cs typeface="Constantia"/>
                <a:sym typeface="Constantia"/>
              </a:rPr>
              <a:t> are those events whose occurrence is not dependent on any other event. For example, if we flip a coin in the air and get the outcome as Head, then again if we flip the coin but this time we get the outcome as Tail. In both cases, the occurrence of both events is independent of each other.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Mutually Exclusive Events</a:t>
            </a:r>
            <a:endParaRPr/>
          </a:p>
        </p:txBody>
      </p:sp>
      <p:sp>
        <p:nvSpPr>
          <p:cNvPr id="253" name="Google Shape;253;p2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95000"/>
              <a:buNone/>
            </a:pPr>
            <a:r>
              <a:rPr b="1" i="0" lang="en-US"/>
              <a:t>Two events are said to be mutually exclusive if they cannot occur at the same time or simultaneously.</a:t>
            </a:r>
            <a:r>
              <a:rPr b="0" i="0" lang="en-US"/>
              <a:t> </a:t>
            </a:r>
            <a:endParaRPr b="0" i="0"/>
          </a:p>
          <a:p>
            <a:pPr indent="-129238" lvl="0" marL="274320" rtl="0" algn="l">
              <a:spcBef>
                <a:spcPts val="481"/>
              </a:spcBef>
              <a:spcAft>
                <a:spcPts val="0"/>
              </a:spcAft>
              <a:buSzPct val="95000"/>
              <a:buNone/>
            </a:pPr>
            <a:r>
              <a:t/>
            </a:r>
            <a:endParaRPr b="0" i="0"/>
          </a:p>
          <a:p>
            <a:pPr indent="-274320" lvl="0" marL="274320" rtl="0" algn="l">
              <a:spcBef>
                <a:spcPts val="444"/>
              </a:spcBef>
              <a:spcAft>
                <a:spcPts val="0"/>
              </a:spcAft>
              <a:buSzPct val="95000"/>
              <a:buChar char="⚫"/>
            </a:pPr>
            <a:r>
              <a:rPr b="0" i="0" lang="en-US" sz="2400"/>
              <a:t>They are also called disjoint events. </a:t>
            </a:r>
            <a:endParaRPr/>
          </a:p>
          <a:p>
            <a:pPr indent="-274320" lvl="0" marL="274320" rtl="0" algn="l">
              <a:spcBef>
                <a:spcPts val="444"/>
              </a:spcBef>
              <a:spcAft>
                <a:spcPts val="0"/>
              </a:spcAft>
              <a:buSzPct val="95000"/>
              <a:buChar char="⚫"/>
            </a:pPr>
            <a:r>
              <a:rPr b="0" i="0" lang="en-US" sz="2400"/>
              <a:t>If two events are considered disjoint events, then the probability of both events occurring at the same time will be zero.</a:t>
            </a:r>
            <a:endParaRPr/>
          </a:p>
          <a:p>
            <a:pPr indent="-274320" lvl="0" marL="274320" rtl="0" algn="l">
              <a:spcBef>
                <a:spcPts val="444"/>
              </a:spcBef>
              <a:spcAft>
                <a:spcPts val="0"/>
              </a:spcAft>
              <a:buSzPct val="95000"/>
              <a:buChar char="⚫"/>
            </a:pPr>
            <a:r>
              <a:rPr b="0" i="0" lang="en-US" sz="2400"/>
              <a:t>If the events A and B are not mutually exclusive, the probability of getting A or B that is P (A ∪ B) formula is given as follows:</a:t>
            </a:r>
            <a:endParaRPr/>
          </a:p>
          <a:p>
            <a:pPr indent="-274320" lvl="0" marL="274320" rtl="0" algn="l">
              <a:spcBef>
                <a:spcPts val="444"/>
              </a:spcBef>
              <a:spcAft>
                <a:spcPts val="0"/>
              </a:spcAft>
              <a:buSzPct val="95000"/>
              <a:buChar char="⚫"/>
            </a:pPr>
            <a:r>
              <a:rPr b="0" i="0" lang="en-US" sz="2400"/>
              <a:t>P (A ∪ B) = P(A) + P(B) – P (A and B)</a:t>
            </a:r>
            <a:endParaRPr/>
          </a:p>
          <a:p>
            <a:pPr indent="-274320" lvl="0" marL="274320" rtl="0" algn="l">
              <a:spcBef>
                <a:spcPts val="444"/>
              </a:spcBef>
              <a:spcAft>
                <a:spcPts val="0"/>
              </a:spcAft>
              <a:buSzPct val="95000"/>
              <a:buChar char="⚫"/>
            </a:pPr>
            <a:r>
              <a:rPr lang="en-US" sz="2400"/>
              <a:t>Here P (A and B) means </a:t>
            </a:r>
            <a:r>
              <a:rPr lang="en-US" sz="2000"/>
              <a:t>P(A ∩ B) is zero</a:t>
            </a:r>
            <a:endParaRPr sz="2400"/>
          </a:p>
          <a:p>
            <a:pPr indent="-274320" lvl="0" marL="274320" rtl="0" algn="l">
              <a:spcBef>
                <a:spcPts val="444"/>
              </a:spcBef>
              <a:spcAft>
                <a:spcPts val="0"/>
              </a:spcAft>
              <a:buSzPct val="95000"/>
              <a:buChar char="⚫"/>
            </a:pPr>
            <a:r>
              <a:rPr b="0" i="0" lang="en-US" sz="2400"/>
              <a:t>When tossing a coin, the event of getting head and tail are mutually exclusive. </a:t>
            </a:r>
            <a:endParaRPr/>
          </a:p>
          <a:p>
            <a:pPr indent="-274320" lvl="0" marL="274320" rtl="0" algn="l">
              <a:spcBef>
                <a:spcPts val="444"/>
              </a:spcBef>
              <a:spcAft>
                <a:spcPts val="0"/>
              </a:spcAft>
              <a:buSzPct val="95000"/>
              <a:buChar char="⚫"/>
            </a:pPr>
            <a:r>
              <a:rPr b="0" i="0" lang="en-US" sz="2400"/>
              <a:t>In a six-sided die, the events “2” and “5” are mutually exclusive.</a:t>
            </a:r>
            <a:endParaRPr/>
          </a:p>
          <a:p>
            <a:pPr indent="-129238" lvl="0" marL="274320" rtl="0" algn="l">
              <a:spcBef>
                <a:spcPts val="481"/>
              </a:spcBef>
              <a:spcAft>
                <a:spcPts val="0"/>
              </a:spcAft>
              <a:buSzPct val="95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5"/>
          <p:cNvSpPr txBox="1"/>
          <p:nvPr>
            <p:ph type="title"/>
          </p:nvPr>
        </p:nvSpPr>
        <p:spPr>
          <a:xfrm>
            <a:off x="438150" y="5334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Marginal Probability</a:t>
            </a:r>
            <a:endParaRPr/>
          </a:p>
        </p:txBody>
      </p:sp>
      <p:sp>
        <p:nvSpPr>
          <p:cNvPr id="259" name="Google Shape;259;p25"/>
          <p:cNvSpPr txBox="1"/>
          <p:nvPr>
            <p:ph idx="1" type="body"/>
          </p:nvPr>
        </p:nvSpPr>
        <p:spPr>
          <a:xfrm>
            <a:off x="433387" y="13716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t>The probability of an event occurring (p(A)), it may be thought of as an unconditional probability.  </a:t>
            </a:r>
            <a:endParaRPr/>
          </a:p>
          <a:p>
            <a:pPr indent="-274320" lvl="0" marL="274320" rtl="0" algn="l">
              <a:spcBef>
                <a:spcPts val="400"/>
              </a:spcBef>
              <a:spcAft>
                <a:spcPts val="0"/>
              </a:spcAft>
              <a:buSzPts val="1900"/>
              <a:buChar char="⚫"/>
            </a:pPr>
            <a:r>
              <a:rPr lang="en-US" sz="2000"/>
              <a:t>It is not conditioned on another event.  </a:t>
            </a:r>
            <a:endParaRPr/>
          </a:p>
          <a:p>
            <a:pPr indent="-274320" lvl="0" marL="274320" rtl="0" algn="l">
              <a:spcBef>
                <a:spcPts val="400"/>
              </a:spcBef>
              <a:spcAft>
                <a:spcPts val="0"/>
              </a:spcAft>
              <a:buSzPts val="1900"/>
              <a:buChar char="⚫"/>
            </a:pPr>
            <a:r>
              <a:rPr lang="en-US" sz="2000"/>
              <a:t>Example:  the probability that a card drawn is red </a:t>
            </a:r>
            <a:endParaRPr/>
          </a:p>
          <a:p>
            <a:pPr indent="0" lvl="0" marL="0" rtl="0" algn="l">
              <a:spcBef>
                <a:spcPts val="400"/>
              </a:spcBef>
              <a:spcAft>
                <a:spcPts val="0"/>
              </a:spcAft>
              <a:buSzPts val="1900"/>
              <a:buNone/>
            </a:pPr>
            <a:r>
              <a:rPr lang="en-US" sz="2000"/>
              <a:t>	(p(red) = 0.5). </a:t>
            </a:r>
            <a:endParaRPr/>
          </a:p>
          <a:p>
            <a:pPr indent="-274320" lvl="0" marL="274320" rtl="0" algn="l">
              <a:spcBef>
                <a:spcPts val="400"/>
              </a:spcBef>
              <a:spcAft>
                <a:spcPts val="0"/>
              </a:spcAft>
              <a:buSzPts val="1900"/>
              <a:buChar char="⚫"/>
            </a:pPr>
            <a:r>
              <a:rPr lang="en-US" sz="2000"/>
              <a:t> Another example:  t</a:t>
            </a:r>
            <a:r>
              <a:rPr lang="en-US" sz="2000"/>
              <a:t>he probability that a card drawn is 4   </a:t>
            </a:r>
            <a:endParaRPr/>
          </a:p>
          <a:p>
            <a:pPr indent="0" lvl="0" marL="0" rtl="0" algn="l">
              <a:spcBef>
                <a:spcPts val="400"/>
              </a:spcBef>
              <a:spcAft>
                <a:spcPts val="0"/>
              </a:spcAft>
              <a:buSzPts val="1900"/>
              <a:buNone/>
            </a:pPr>
            <a:r>
              <a:rPr lang="en-US" sz="2000"/>
              <a:t>	(p(four)=1/13).</a:t>
            </a:r>
            <a:endParaRPr/>
          </a:p>
          <a:p>
            <a:pPr indent="-117475" lvl="0" marL="274320" rtl="0" algn="l">
              <a:spcBef>
                <a:spcPts val="520"/>
              </a:spcBef>
              <a:spcAft>
                <a:spcPts val="0"/>
              </a:spcAft>
              <a:buClr>
                <a:srgbClr val="000000"/>
              </a:buClr>
              <a:buSzPts val="2470"/>
              <a:buFont typeface="Arial"/>
              <a:buNone/>
            </a:pPr>
            <a:r>
              <a:t/>
            </a:r>
            <a:endParaRPr/>
          </a:p>
        </p:txBody>
      </p:sp>
      <p:pic>
        <p:nvPicPr>
          <p:cNvPr id="260" name="Google Shape;260;p25"/>
          <p:cNvPicPr preferRelativeResize="0"/>
          <p:nvPr/>
        </p:nvPicPr>
        <p:blipFill rotWithShape="1">
          <a:blip r:embed="rId3">
            <a:alphaModFix/>
          </a:blip>
          <a:srcRect b="0" l="0" r="0" t="0"/>
          <a:stretch/>
        </p:blipFill>
        <p:spPr>
          <a:xfrm>
            <a:off x="762000" y="3962400"/>
            <a:ext cx="6111004" cy="26365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Marginal Probability</a:t>
            </a:r>
            <a:endParaRPr/>
          </a:p>
        </p:txBody>
      </p:sp>
      <p:pic>
        <p:nvPicPr>
          <p:cNvPr id="266" name="Google Shape;266;p26"/>
          <p:cNvPicPr preferRelativeResize="0"/>
          <p:nvPr>
            <p:ph idx="1" type="body"/>
          </p:nvPr>
        </p:nvPicPr>
        <p:blipFill rotWithShape="1">
          <a:blip r:embed="rId3">
            <a:alphaModFix/>
          </a:blip>
          <a:srcRect b="0" l="0" r="0" t="0"/>
          <a:stretch/>
        </p:blipFill>
        <p:spPr>
          <a:xfrm>
            <a:off x="490537" y="2133600"/>
            <a:ext cx="7818336" cy="3505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7"/>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Joint Probability</a:t>
            </a:r>
            <a:endParaRPr/>
          </a:p>
        </p:txBody>
      </p:sp>
      <p:sp>
        <p:nvSpPr>
          <p:cNvPr id="272" name="Google Shape;272;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90"/>
              <a:buChar char="⚫"/>
            </a:pPr>
            <a:r>
              <a:rPr lang="en-US" sz="2200">
                <a:solidFill>
                  <a:srgbClr val="333333"/>
                </a:solidFill>
              </a:rPr>
              <a:t> It is the probability of two different event A and event B occurring at the same time.  </a:t>
            </a:r>
            <a:endParaRPr/>
          </a:p>
          <a:p>
            <a:pPr indent="-274320" lvl="0" marL="274320" rtl="0" algn="l">
              <a:spcBef>
                <a:spcPts val="440"/>
              </a:spcBef>
              <a:spcAft>
                <a:spcPts val="0"/>
              </a:spcAft>
              <a:buSzPts val="2090"/>
              <a:buChar char="⚫"/>
            </a:pPr>
            <a:r>
              <a:rPr lang="en-US" sz="2200">
                <a:solidFill>
                  <a:srgbClr val="333333"/>
                </a:solidFill>
              </a:rPr>
              <a:t>It is the probability of the intersection of two or more events.  </a:t>
            </a:r>
            <a:endParaRPr/>
          </a:p>
          <a:p>
            <a:pPr indent="-274320" lvl="0" marL="274320" rtl="0" algn="l">
              <a:spcBef>
                <a:spcPts val="440"/>
              </a:spcBef>
              <a:spcAft>
                <a:spcPts val="0"/>
              </a:spcAft>
              <a:buSzPts val="2090"/>
              <a:buChar char="⚫"/>
            </a:pPr>
            <a:r>
              <a:rPr lang="en-US" sz="2200">
                <a:solidFill>
                  <a:srgbClr val="333333"/>
                </a:solidFill>
              </a:rPr>
              <a:t>The probability of the intersection of A and B may be written p(A ∩ B) or p(A and B).  </a:t>
            </a:r>
            <a:endParaRPr/>
          </a:p>
          <a:p>
            <a:pPr indent="-274320" lvl="0" marL="274320" rtl="0" algn="l">
              <a:spcBef>
                <a:spcPts val="440"/>
              </a:spcBef>
              <a:spcAft>
                <a:spcPts val="0"/>
              </a:spcAft>
              <a:buSzPts val="2090"/>
              <a:buChar char="⚫"/>
            </a:pPr>
            <a:r>
              <a:rPr lang="en-US" sz="2200">
                <a:solidFill>
                  <a:srgbClr val="333333"/>
                </a:solidFill>
              </a:rPr>
              <a:t>Example:  the probability that a card is a four and red =</a:t>
            </a:r>
            <a:endParaRPr/>
          </a:p>
          <a:p>
            <a:pPr indent="-274320" lvl="0" marL="274320" rtl="0" algn="l">
              <a:spcBef>
                <a:spcPts val="440"/>
              </a:spcBef>
              <a:spcAft>
                <a:spcPts val="0"/>
              </a:spcAft>
              <a:buSzPts val="2090"/>
              <a:buChar char="⚫"/>
            </a:pPr>
            <a:r>
              <a:rPr lang="en-US" sz="2200">
                <a:solidFill>
                  <a:srgbClr val="333333"/>
                </a:solidFill>
              </a:rPr>
              <a:t>p(four and red) = 2/52=1/26.  </a:t>
            </a:r>
            <a:endParaRPr/>
          </a:p>
          <a:p>
            <a:pPr indent="-274320" lvl="0" marL="274320" rtl="0" algn="l">
              <a:spcBef>
                <a:spcPts val="440"/>
              </a:spcBef>
              <a:spcAft>
                <a:spcPts val="0"/>
              </a:spcAft>
              <a:buSzPts val="2090"/>
              <a:buChar char="⚫"/>
            </a:pPr>
            <a:r>
              <a:rPr lang="en-US" sz="2200">
                <a:solidFill>
                  <a:srgbClr val="333333"/>
                </a:solidFill>
              </a:rPr>
              <a:t>(There are two red fours in a deck of 52, the 4 of hearts and the 4 of diamonds).</a:t>
            </a:r>
            <a:endParaRPr/>
          </a:p>
          <a:p>
            <a:pPr indent="-141605" lvl="0" marL="274320" rtl="0" algn="l">
              <a:spcBef>
                <a:spcPts val="440"/>
              </a:spcBef>
              <a:spcAft>
                <a:spcPts val="0"/>
              </a:spcAft>
              <a:buSzPts val="2090"/>
              <a:buNone/>
            </a:pPr>
            <a:r>
              <a:t/>
            </a:r>
            <a:endParaRPr sz="22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8"/>
          <p:cNvSpPr txBox="1"/>
          <p:nvPr>
            <p:ph type="title"/>
          </p:nvPr>
        </p:nvSpPr>
        <p:spPr>
          <a:xfrm>
            <a:off x="304800" y="3048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Joint Probability</a:t>
            </a:r>
            <a:endParaRPr/>
          </a:p>
        </p:txBody>
      </p:sp>
      <p:sp>
        <p:nvSpPr>
          <p:cNvPr id="278" name="Google Shape;278;p28"/>
          <p:cNvSpPr txBox="1"/>
          <p:nvPr>
            <p:ph idx="1" type="body"/>
          </p:nvPr>
        </p:nvSpPr>
        <p:spPr>
          <a:xfrm>
            <a:off x="323850" y="1143000"/>
            <a:ext cx="8591550" cy="5334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00"/>
              <a:buNone/>
            </a:pPr>
            <a:r>
              <a:rPr b="1" lang="en-US" sz="2000"/>
              <a:t>Question 1 At an e-commerce customer service centre a total of 112 complaints were received. 78 customers complained about late delivery of the items and 40 complained about poor product quality. </a:t>
            </a:r>
            <a:endParaRPr b="1" sz="2000"/>
          </a:p>
          <a:p>
            <a:pPr indent="0" lvl="1" marL="365760" rtl="0" algn="l">
              <a:spcBef>
                <a:spcPts val="360"/>
              </a:spcBef>
              <a:spcAft>
                <a:spcPts val="0"/>
              </a:spcAft>
              <a:buSzPts val="1530"/>
              <a:buNone/>
            </a:pPr>
            <a:r>
              <a:rPr b="1" lang="en-US" sz="1800"/>
              <a:t>(a) Calculate the probability that a customer complaint will be about both late delivery and product quality. </a:t>
            </a:r>
            <a:endParaRPr b="1" sz="1800"/>
          </a:p>
          <a:p>
            <a:pPr indent="0" lvl="1" marL="365760" rtl="0" algn="l">
              <a:spcBef>
                <a:spcPts val="360"/>
              </a:spcBef>
              <a:spcAft>
                <a:spcPts val="0"/>
              </a:spcAft>
              <a:buSzPts val="1530"/>
              <a:buNone/>
            </a:pPr>
            <a:r>
              <a:rPr b="1" lang="en-US" sz="1800"/>
              <a:t>(b) What is the probability that a complaint is only about poor quality of the product? </a:t>
            </a:r>
            <a:endParaRPr b="1" sz="1800"/>
          </a:p>
          <a:p>
            <a:pPr indent="0" lvl="1" marL="365760" rtl="0" algn="l">
              <a:spcBef>
                <a:spcPts val="400"/>
              </a:spcBef>
              <a:spcAft>
                <a:spcPts val="0"/>
              </a:spcAft>
              <a:buSzPts val="1700"/>
              <a:buNone/>
            </a:pPr>
            <a:r>
              <a:rPr b="1" lang="en-US" sz="2000"/>
              <a:t>Solution</a:t>
            </a:r>
            <a:endParaRPr/>
          </a:p>
          <a:p>
            <a:pPr indent="0" lvl="1" marL="365760" rtl="0" algn="l">
              <a:spcBef>
                <a:spcPts val="400"/>
              </a:spcBef>
              <a:spcAft>
                <a:spcPts val="0"/>
              </a:spcAft>
              <a:buSzPts val="1700"/>
              <a:buNone/>
            </a:pPr>
            <a:r>
              <a:rPr lang="en-US" sz="2000"/>
              <a:t>Let A = Late delivery and B = Poor quality of the product. Let n(A) and n(B) be the number of cases in favour of A and B. So n(A) = 78 and n(B) = 40. Since the total number of complaints is 112 (here complaints is treated as the sample space), hence </a:t>
            </a:r>
            <a:endParaRPr sz="2000"/>
          </a:p>
          <a:p>
            <a:pPr indent="0" lvl="1" marL="365760" rtl="0" algn="l">
              <a:spcBef>
                <a:spcPts val="400"/>
              </a:spcBef>
              <a:spcAft>
                <a:spcPts val="0"/>
              </a:spcAft>
              <a:buSzPts val="1700"/>
              <a:buNone/>
            </a:pPr>
            <a:r>
              <a:rPr lang="en-US" sz="2000"/>
              <a:t>	n(A ∩ B) = 118 – 112 = 6</a:t>
            </a:r>
            <a:endParaRPr/>
          </a:p>
          <a:p>
            <a:pPr indent="0" lvl="1" marL="365760" rtl="0" algn="l">
              <a:spcBef>
                <a:spcPts val="400"/>
              </a:spcBef>
              <a:spcAft>
                <a:spcPts val="0"/>
              </a:spcAft>
              <a:buSzPts val="1700"/>
              <a:buNone/>
            </a:pPr>
            <a:r>
              <a:t/>
            </a:r>
            <a:endParaRPr sz="2000"/>
          </a:p>
        </p:txBody>
      </p:sp>
      <p:pic>
        <p:nvPicPr>
          <p:cNvPr id="279" name="Google Shape;279;p28"/>
          <p:cNvPicPr preferRelativeResize="0"/>
          <p:nvPr/>
        </p:nvPicPr>
        <p:blipFill rotWithShape="1">
          <a:blip r:embed="rId3">
            <a:alphaModFix/>
          </a:blip>
          <a:srcRect b="0" l="0" r="0" t="0"/>
          <a:stretch/>
        </p:blipFill>
        <p:spPr>
          <a:xfrm>
            <a:off x="762000" y="5334000"/>
            <a:ext cx="5619750" cy="1371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Joint Probability</a:t>
            </a:r>
            <a:endParaRPr/>
          </a:p>
        </p:txBody>
      </p:sp>
      <p:pic>
        <p:nvPicPr>
          <p:cNvPr id="285" name="Google Shape;285;p29"/>
          <p:cNvPicPr preferRelativeResize="0"/>
          <p:nvPr>
            <p:ph idx="1" type="body"/>
          </p:nvPr>
        </p:nvPicPr>
        <p:blipFill rotWithShape="1">
          <a:blip r:embed="rId3">
            <a:alphaModFix/>
          </a:blip>
          <a:srcRect b="0" l="0" r="0" t="0"/>
          <a:stretch/>
        </p:blipFill>
        <p:spPr>
          <a:xfrm>
            <a:off x="0" y="1600200"/>
            <a:ext cx="7315200" cy="3617407"/>
          </a:xfrm>
          <a:prstGeom prst="rect">
            <a:avLst/>
          </a:prstGeom>
          <a:noFill/>
          <a:ln>
            <a:noFill/>
          </a:ln>
        </p:spPr>
      </p:pic>
      <p:pic>
        <p:nvPicPr>
          <p:cNvPr id="286" name="Google Shape;286;p29"/>
          <p:cNvPicPr preferRelativeResize="0"/>
          <p:nvPr/>
        </p:nvPicPr>
        <p:blipFill rotWithShape="1">
          <a:blip r:embed="rId4">
            <a:alphaModFix/>
          </a:blip>
          <a:srcRect b="0" l="0" r="0" t="0"/>
          <a:stretch/>
        </p:blipFill>
        <p:spPr>
          <a:xfrm>
            <a:off x="152400" y="5334000"/>
            <a:ext cx="5562600" cy="11902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0"/>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Conditional</a:t>
            </a:r>
            <a:r>
              <a:rPr lang="en-US">
                <a:solidFill>
                  <a:srgbClr val="813588"/>
                </a:solidFill>
                <a:latin typeface="Roboto"/>
                <a:ea typeface="Roboto"/>
                <a:cs typeface="Roboto"/>
                <a:sym typeface="Roboto"/>
              </a:rPr>
              <a:t> </a:t>
            </a:r>
            <a:r>
              <a:rPr lang="en-US" sz="5400"/>
              <a:t>Probability</a:t>
            </a:r>
            <a:endParaRPr/>
          </a:p>
        </p:txBody>
      </p:sp>
      <p:sp>
        <p:nvSpPr>
          <p:cNvPr id="292" name="Google Shape;292;p30"/>
          <p:cNvSpPr txBox="1"/>
          <p:nvPr>
            <p:ph idx="1" type="body"/>
          </p:nvPr>
        </p:nvSpPr>
        <p:spPr>
          <a:xfrm>
            <a:off x="466725" y="16002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If A and B are events in a sample space, then the conditional probability of the event B given that the event A has already occurred, denoted by P(B|A), is defined as:</a:t>
            </a:r>
            <a:endParaRPr/>
          </a:p>
          <a:p>
            <a:pPr indent="-153670" lvl="0" marL="274320" rtl="0" algn="just">
              <a:spcBef>
                <a:spcPts val="400"/>
              </a:spcBef>
              <a:spcAft>
                <a:spcPts val="0"/>
              </a:spcAft>
              <a:buSzPts val="1900"/>
              <a:buNone/>
            </a:pPr>
            <a:r>
              <a:t/>
            </a:r>
            <a:endParaRPr sz="2000">
              <a:solidFill>
                <a:srgbClr val="333333"/>
              </a:solidFill>
            </a:endParaRPr>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The conditional probability symbol P(B|A) is read as the probability of B given A. It is necessary to satisfy the condition that P(A) &gt; 0, because it does not make sense to consider the probability of B given that event A is impossible. </a:t>
            </a:r>
            <a:endParaRPr sz="2000">
              <a:solidFill>
                <a:srgbClr val="333333"/>
              </a:solidFill>
            </a:endParaRPr>
          </a:p>
          <a:p>
            <a:pPr indent="-274320" lvl="0" marL="274320" rtl="0" algn="just">
              <a:spcBef>
                <a:spcPts val="400"/>
              </a:spcBef>
              <a:spcAft>
                <a:spcPts val="0"/>
              </a:spcAft>
              <a:buSzPts val="1900"/>
              <a:buChar char="⚫"/>
            </a:pPr>
            <a:r>
              <a:rPr lang="en-US" sz="2000"/>
              <a:t>the conditional probability of default given divorced is </a:t>
            </a:r>
            <a:endParaRPr sz="2000"/>
          </a:p>
          <a:p>
            <a:pPr indent="0" lvl="0" marL="0" rtl="0" algn="just">
              <a:spcBef>
                <a:spcPts val="400"/>
              </a:spcBef>
              <a:spcAft>
                <a:spcPts val="0"/>
              </a:spcAft>
              <a:buSzPts val="1900"/>
              <a:buNone/>
            </a:pPr>
            <a:r>
              <a:rPr lang="en-US" sz="2000"/>
              <a:t>	</a:t>
            </a:r>
            <a:r>
              <a:rPr b="1" lang="en-US" sz="2000"/>
              <a:t>P(Default|Divorced) = 0.013/0.05 = 0.26 </a:t>
            </a:r>
            <a:r>
              <a:rPr lang="en-US" sz="2000"/>
              <a:t>and similarly probability of default given single is </a:t>
            </a:r>
            <a:endParaRPr sz="2000"/>
          </a:p>
          <a:p>
            <a:pPr indent="0" lvl="0" marL="0" rtl="0" algn="just">
              <a:spcBef>
                <a:spcPts val="400"/>
              </a:spcBef>
              <a:spcAft>
                <a:spcPts val="0"/>
              </a:spcAft>
              <a:buSzPts val="1900"/>
              <a:buNone/>
            </a:pPr>
            <a:r>
              <a:rPr lang="en-US" sz="2000"/>
              <a:t>	</a:t>
            </a:r>
            <a:r>
              <a:rPr b="1" lang="en-US" sz="2000"/>
              <a:t>P(Default|Single) = 0.042/0.3 = 0.14 </a:t>
            </a:r>
            <a:endParaRPr b="1" sz="2000">
              <a:solidFill>
                <a:srgbClr val="333333"/>
              </a:solidFill>
            </a:endParaRPr>
          </a:p>
          <a:p>
            <a:pPr indent="0" lvl="0" marL="0" rtl="0" algn="just">
              <a:spcBef>
                <a:spcPts val="400"/>
              </a:spcBef>
              <a:spcAft>
                <a:spcPts val="0"/>
              </a:spcAft>
              <a:buSzPts val="1900"/>
              <a:buNone/>
            </a:pPr>
            <a:r>
              <a:t/>
            </a:r>
            <a:endParaRPr sz="2000"/>
          </a:p>
        </p:txBody>
      </p:sp>
      <p:pic>
        <p:nvPicPr>
          <p:cNvPr id="293" name="Google Shape;293;p30"/>
          <p:cNvPicPr preferRelativeResize="0"/>
          <p:nvPr/>
        </p:nvPicPr>
        <p:blipFill rotWithShape="1">
          <a:blip r:embed="rId3">
            <a:alphaModFix/>
          </a:blip>
          <a:srcRect b="0" l="0" r="0" t="0"/>
          <a:stretch/>
        </p:blipFill>
        <p:spPr>
          <a:xfrm>
            <a:off x="2286000" y="2743200"/>
            <a:ext cx="3422073" cy="762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just">
              <a:spcBef>
                <a:spcPts val="0"/>
              </a:spcBef>
              <a:spcAft>
                <a:spcPts val="0"/>
              </a:spcAft>
              <a:buClr>
                <a:schemeClr val="dk2"/>
              </a:buClr>
              <a:buSzPts val="3600"/>
              <a:buFont typeface="Calibri"/>
              <a:buNone/>
            </a:pPr>
            <a:r>
              <a:rPr lang="en-US" sz="3600"/>
              <a:t>APPLICATION OF SIMPLE PROBABILITY RULES – ASSOCIATION RULE LEARNING</a:t>
            </a:r>
            <a:endParaRPr/>
          </a:p>
        </p:txBody>
      </p:sp>
      <p:sp>
        <p:nvSpPr>
          <p:cNvPr id="299" name="Google Shape;299;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1900"/>
              <a:buChar char="⚫"/>
            </a:pPr>
            <a:r>
              <a:rPr lang="en-US" sz="2000"/>
              <a:t>We can use simple probability concepts such as joint probability and conditional probability to solve analytics problems such as market basket analysis and recommender systems using algorithms such as Association Rule Learning (aka Association Rule Mining). </a:t>
            </a:r>
            <a:endParaRPr sz="2000"/>
          </a:p>
          <a:p>
            <a:pPr indent="-274320" lvl="0" marL="274320" rtl="0" algn="just">
              <a:spcBef>
                <a:spcPts val="400"/>
              </a:spcBef>
              <a:spcAft>
                <a:spcPts val="0"/>
              </a:spcAft>
              <a:buSzPts val="1900"/>
              <a:buChar char="⚫"/>
            </a:pPr>
            <a:r>
              <a:rPr lang="en-US" sz="2000"/>
              <a:t>Association rule mining is one of the popular algorithms used to solve problems such as market basket analysis and recommender systems.</a:t>
            </a:r>
            <a:endParaRPr/>
          </a:p>
          <a:p>
            <a:pPr indent="-274320" lvl="0" marL="274320" rtl="0" algn="just">
              <a:spcBef>
                <a:spcPts val="400"/>
              </a:spcBef>
              <a:spcAft>
                <a:spcPts val="0"/>
              </a:spcAft>
              <a:buSzPts val="1900"/>
              <a:buChar char="⚫"/>
            </a:pPr>
            <a:r>
              <a:rPr lang="en-US" sz="2000"/>
              <a:t>Market basket analysis (MBA) is used frequently by retailers to predict products a customer is likely to buy together, which further can be used for designing planogram and product promotions. The primary objective of MBA is to find probability of buying two products (A and B) together.</a:t>
            </a:r>
            <a:endParaRPr/>
          </a:p>
          <a:p>
            <a:pPr indent="-274320" lvl="0" marL="274320" rtl="0" algn="just">
              <a:spcBef>
                <a:spcPts val="400"/>
              </a:spcBef>
              <a:spcAft>
                <a:spcPts val="0"/>
              </a:spcAft>
              <a:buSzPts val="1900"/>
              <a:buChar char="⚫"/>
            </a:pPr>
            <a:r>
              <a:rPr lang="en-US" sz="2000"/>
              <a:t>Recommender systems are models that produce list of recommendations to a customer on products such as books, movies, news items, etc. and is an important analytics technique.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2"/>
          <p:cNvSpPr txBox="1"/>
          <p:nvPr>
            <p:ph type="title"/>
          </p:nvPr>
        </p:nvSpPr>
        <p:spPr>
          <a:xfrm>
            <a:off x="457200" y="3810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Association Rule Learning</a:t>
            </a:r>
            <a:endParaRPr/>
          </a:p>
        </p:txBody>
      </p:sp>
      <p:sp>
        <p:nvSpPr>
          <p:cNvPr id="305" name="Google Shape;305;p32"/>
          <p:cNvSpPr txBox="1"/>
          <p:nvPr>
            <p:ph idx="1" type="body"/>
          </p:nvPr>
        </p:nvSpPr>
        <p:spPr>
          <a:xfrm>
            <a:off x="461962" y="11430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In general, association rule learning (also known as association rule mining) is a method of finding association between different entities in a database. </a:t>
            </a:r>
            <a:endParaRPr sz="2000"/>
          </a:p>
          <a:p>
            <a:pPr indent="-274320" lvl="0" marL="274320" rtl="0" algn="just">
              <a:spcBef>
                <a:spcPts val="400"/>
              </a:spcBef>
              <a:spcAft>
                <a:spcPts val="0"/>
              </a:spcAft>
              <a:buSzPts val="1900"/>
              <a:buChar char="⚫"/>
            </a:pPr>
            <a:r>
              <a:rPr lang="en-US" sz="2000"/>
              <a:t>In a retail context, association rule learning is a method for finding association relationships that exist in frequently purchased items. </a:t>
            </a:r>
            <a:endParaRPr sz="2000"/>
          </a:p>
          <a:p>
            <a:pPr indent="-274320" lvl="0" marL="274320" rtl="0" algn="just">
              <a:spcBef>
                <a:spcPts val="400"/>
              </a:spcBef>
              <a:spcAft>
                <a:spcPts val="0"/>
              </a:spcAft>
              <a:buSzPts val="1900"/>
              <a:buChar char="⚫"/>
            </a:pPr>
            <a:r>
              <a:rPr lang="en-US" sz="2000"/>
              <a:t>Association rule is a relationship of the form X → Y (that is, X implies Y). Here, X and Y are two mutually exclusive sets (set of stock keeping units or SKUs).</a:t>
            </a:r>
            <a:endParaRPr/>
          </a:p>
        </p:txBody>
      </p:sp>
      <p:pic>
        <p:nvPicPr>
          <p:cNvPr id="306" name="Google Shape;306;p32"/>
          <p:cNvPicPr preferRelativeResize="0"/>
          <p:nvPr/>
        </p:nvPicPr>
        <p:blipFill rotWithShape="1">
          <a:blip r:embed="rId3">
            <a:alphaModFix/>
          </a:blip>
          <a:srcRect b="0" l="0" r="0" t="0"/>
          <a:stretch/>
        </p:blipFill>
        <p:spPr>
          <a:xfrm>
            <a:off x="3762375" y="3429000"/>
            <a:ext cx="5381625" cy="2428875"/>
          </a:xfrm>
          <a:prstGeom prst="rect">
            <a:avLst/>
          </a:prstGeom>
          <a:noFill/>
          <a:ln>
            <a:noFill/>
          </a:ln>
        </p:spPr>
      </p:pic>
      <p:sp>
        <p:nvSpPr>
          <p:cNvPr id="307" name="Google Shape;307;p32"/>
          <p:cNvSpPr/>
          <p:nvPr/>
        </p:nvSpPr>
        <p:spPr>
          <a:xfrm>
            <a:off x="304800" y="3801070"/>
            <a:ext cx="3457575" cy="280076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chemeClr val="dk1"/>
                </a:solidFill>
                <a:latin typeface="Constantia"/>
                <a:ea typeface="Constantia"/>
                <a:cs typeface="Constantia"/>
                <a:sym typeface="Constantia"/>
              </a:rPr>
              <a:t>In Table 3.2, transaction ID is the transaction reference number and apple, orange, etc. are the different SKUs sold by the store. Binary code is used to represent whether the SKU was purchased (equal to 1) or not (equal to 0) during a transaction. The strength of association between two mutually exclusive subsets can be measured </a:t>
            </a:r>
            <a:r>
              <a:rPr b="1" lang="en-US" sz="1600">
                <a:solidFill>
                  <a:schemeClr val="dk1"/>
                </a:solidFill>
                <a:latin typeface="Constantia"/>
                <a:ea typeface="Constantia"/>
                <a:cs typeface="Constantia"/>
                <a:sym typeface="Constantia"/>
              </a:rPr>
              <a:t>using ‘support’, ‘confidence’, and ‘lift’.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3"/>
          <p:cNvSpPr txBox="1"/>
          <p:nvPr>
            <p:ph type="title"/>
          </p:nvPr>
        </p:nvSpPr>
        <p:spPr>
          <a:xfrm>
            <a:off x="533400" y="173813"/>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Association Rule Learning</a:t>
            </a:r>
            <a:endParaRPr/>
          </a:p>
        </p:txBody>
      </p:sp>
      <p:sp>
        <p:nvSpPr>
          <p:cNvPr id="313" name="Google Shape;313;p33"/>
          <p:cNvSpPr txBox="1"/>
          <p:nvPr>
            <p:ph idx="1" type="body"/>
          </p:nvPr>
        </p:nvSpPr>
        <p:spPr>
          <a:xfrm>
            <a:off x="428625" y="990600"/>
            <a:ext cx="8229600" cy="58674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Support between two sets (of products purchased) is calculated using the joint probability of those events: </a:t>
            </a:r>
            <a:endParaRPr sz="2000"/>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where n(X ∩ Y) is the number of times both X and Y is purchased together and N is the total number of transactions. That is, support is proportion of times X and Y are purchased together. </a:t>
            </a:r>
            <a:endParaRPr sz="2000"/>
          </a:p>
          <a:p>
            <a:pPr indent="-274320" lvl="0" marL="274320" rtl="0" algn="just">
              <a:spcBef>
                <a:spcPts val="400"/>
              </a:spcBef>
              <a:spcAft>
                <a:spcPts val="0"/>
              </a:spcAft>
              <a:buSzPts val="1900"/>
              <a:buChar char="⚫"/>
            </a:pPr>
            <a:r>
              <a:rPr lang="en-US" sz="2000"/>
              <a:t>Confidence is the conditional probability of purchasing product Y given the product X is purchased.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The third measure in association rule mining is lift, which is given by</a:t>
            </a:r>
            <a:endParaRPr/>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Lift overcomes one of the disadvantages of using confidence. For example, P(X) could be very small, making it less attractive for MBA and recommendation among millions of SKUs that a retailer may be selling. </a:t>
            </a:r>
            <a:endParaRPr/>
          </a:p>
        </p:txBody>
      </p:sp>
      <p:pic>
        <p:nvPicPr>
          <p:cNvPr id="314" name="Google Shape;314;p33"/>
          <p:cNvPicPr preferRelativeResize="0"/>
          <p:nvPr/>
        </p:nvPicPr>
        <p:blipFill rotWithShape="1">
          <a:blip r:embed="rId3">
            <a:alphaModFix/>
          </a:blip>
          <a:srcRect b="0" l="0" r="0" t="0"/>
          <a:stretch/>
        </p:blipFill>
        <p:spPr>
          <a:xfrm>
            <a:off x="3429000" y="1643025"/>
            <a:ext cx="3156613" cy="866775"/>
          </a:xfrm>
          <a:prstGeom prst="rect">
            <a:avLst/>
          </a:prstGeom>
          <a:noFill/>
          <a:ln>
            <a:noFill/>
          </a:ln>
        </p:spPr>
      </p:pic>
      <p:pic>
        <p:nvPicPr>
          <p:cNvPr id="315" name="Google Shape;315;p33"/>
          <p:cNvPicPr preferRelativeResize="0"/>
          <p:nvPr/>
        </p:nvPicPr>
        <p:blipFill rotWithShape="1">
          <a:blip r:embed="rId4">
            <a:alphaModFix/>
          </a:blip>
          <a:srcRect b="0" l="0" r="0" t="0"/>
          <a:stretch/>
        </p:blipFill>
        <p:spPr>
          <a:xfrm>
            <a:off x="4648200" y="3770181"/>
            <a:ext cx="3377242" cy="685800"/>
          </a:xfrm>
          <a:prstGeom prst="rect">
            <a:avLst/>
          </a:prstGeom>
          <a:noFill/>
          <a:ln>
            <a:noFill/>
          </a:ln>
        </p:spPr>
      </p:pic>
      <p:pic>
        <p:nvPicPr>
          <p:cNvPr id="316" name="Google Shape;316;p33"/>
          <p:cNvPicPr preferRelativeResize="0"/>
          <p:nvPr/>
        </p:nvPicPr>
        <p:blipFill rotWithShape="1">
          <a:blip r:embed="rId5">
            <a:alphaModFix/>
          </a:blip>
          <a:srcRect b="0" l="0" r="0" t="0"/>
          <a:stretch/>
        </p:blipFill>
        <p:spPr>
          <a:xfrm>
            <a:off x="3482808" y="4910602"/>
            <a:ext cx="2178382" cy="6494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4"/>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Association Rule Learning</a:t>
            </a:r>
            <a:endParaRPr/>
          </a:p>
        </p:txBody>
      </p:sp>
      <p:sp>
        <p:nvSpPr>
          <p:cNvPr id="322" name="Google Shape;322;p3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t>In Table 3.2, assume that X = Apple and Y = Banana. Then</a:t>
            </a:r>
            <a:endParaRPr/>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Association rules can be generated based on threshold values of support, confidence and lift. For example, assume that the cut-off for support is 0.25 and confidence is 0.5 (lift should be greater than 1). Then we can conclude that X implies Y (that is, purchase of apple implies purchase of banana, however this rule will be ineffective since lift is less than 1).</a:t>
            </a:r>
            <a:endParaRPr sz="2000"/>
          </a:p>
          <a:p>
            <a:pPr indent="-153670" lvl="0" marL="274320" rtl="0" algn="l">
              <a:spcBef>
                <a:spcPts val="400"/>
              </a:spcBef>
              <a:spcAft>
                <a:spcPts val="0"/>
              </a:spcAft>
              <a:buSzPts val="1900"/>
              <a:buNone/>
            </a:pPr>
            <a:r>
              <a:t/>
            </a:r>
            <a:endParaRPr sz="2000"/>
          </a:p>
        </p:txBody>
      </p:sp>
      <p:pic>
        <p:nvPicPr>
          <p:cNvPr id="323" name="Google Shape;323;p34"/>
          <p:cNvPicPr preferRelativeResize="0"/>
          <p:nvPr/>
        </p:nvPicPr>
        <p:blipFill rotWithShape="1">
          <a:blip r:embed="rId3">
            <a:alphaModFix/>
          </a:blip>
          <a:srcRect b="0" l="0" r="0" t="0"/>
          <a:stretch/>
        </p:blipFill>
        <p:spPr>
          <a:xfrm>
            <a:off x="2590800" y="2362200"/>
            <a:ext cx="4366260" cy="1371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5"/>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Bayes’ Theorem</a:t>
            </a:r>
            <a:endParaRPr/>
          </a:p>
        </p:txBody>
      </p:sp>
      <p:sp>
        <p:nvSpPr>
          <p:cNvPr id="329" name="Google Shape;329;p3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090"/>
              <a:buChar char="⚫"/>
            </a:pPr>
            <a:r>
              <a:rPr lang="en-US" sz="2200">
                <a:solidFill>
                  <a:srgbClr val="333333"/>
                </a:solidFill>
              </a:rPr>
              <a:t>It describes the probability of an event, based on prior knowledge of conditions that might be related to that event. </a:t>
            </a:r>
            <a:endParaRPr/>
          </a:p>
          <a:p>
            <a:pPr indent="-274320" lvl="0" marL="274320" rtl="0" algn="just">
              <a:spcBef>
                <a:spcPts val="440"/>
              </a:spcBef>
              <a:spcAft>
                <a:spcPts val="0"/>
              </a:spcAft>
              <a:buSzPts val="2090"/>
              <a:buChar char="⚫"/>
            </a:pPr>
            <a:r>
              <a:rPr lang="en-US" sz="2200">
                <a:solidFill>
                  <a:srgbClr val="333333"/>
                </a:solidFill>
              </a:rPr>
              <a:t>It can also be considered for conditional probability examples. </a:t>
            </a:r>
            <a:endParaRPr/>
          </a:p>
          <a:p>
            <a:pPr indent="-274320" lvl="0" marL="274320" rtl="0" algn="just">
              <a:spcBef>
                <a:spcPts val="440"/>
              </a:spcBef>
              <a:spcAft>
                <a:spcPts val="0"/>
              </a:spcAft>
              <a:buSzPts val="2090"/>
              <a:buChar char="⚫"/>
            </a:pPr>
            <a:r>
              <a:rPr lang="en-US" sz="2200">
                <a:solidFill>
                  <a:srgbClr val="333333"/>
                </a:solidFill>
              </a:rPr>
              <a:t>It is used where the probability of occurrence of a particular event is calculated based on other conditions which are also called conditional probability. </a:t>
            </a:r>
            <a:endParaRPr/>
          </a:p>
          <a:p>
            <a:pPr indent="-274320" lvl="0" marL="274320" rtl="0" algn="just">
              <a:spcBef>
                <a:spcPts val="440"/>
              </a:spcBef>
              <a:spcAft>
                <a:spcPts val="0"/>
              </a:spcAft>
              <a:buSzPts val="2090"/>
              <a:buChar char="⚫"/>
            </a:pPr>
            <a:r>
              <a:rPr lang="en-US" sz="2200">
                <a:solidFill>
                  <a:srgbClr val="333333"/>
                </a:solidFill>
              </a:rPr>
              <a:t>For example: There are 3 bags, each containing some white marbles and some black marbles in each bag. If a white marble is drawn at random. With probability to find that this white marble is from the first bag. In cases like such, we use the Bayes’ Theorem. </a:t>
            </a:r>
            <a:endParaRPr/>
          </a:p>
          <a:p>
            <a:pPr indent="-141605" lvl="0" marL="274320" rtl="0" algn="just">
              <a:spcBef>
                <a:spcPts val="440"/>
              </a:spcBef>
              <a:spcAft>
                <a:spcPts val="0"/>
              </a:spcAft>
              <a:buSzPts val="2090"/>
              <a:buNone/>
            </a:pPr>
            <a:r>
              <a:t/>
            </a:r>
            <a:endParaRPr sz="2200">
              <a:solidFill>
                <a:srgbClr val="333333"/>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6"/>
          <p:cNvSpPr txBox="1"/>
          <p:nvPr>
            <p:ph type="title"/>
          </p:nvPr>
        </p:nvSpPr>
        <p:spPr>
          <a:xfrm>
            <a:off x="457200" y="390547"/>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Bayes’ Theorem</a:t>
            </a:r>
            <a:endParaRPr sz="4800"/>
          </a:p>
        </p:txBody>
      </p:sp>
      <p:sp>
        <p:nvSpPr>
          <p:cNvPr id="335" name="Google Shape;335;p36"/>
          <p:cNvSpPr txBox="1"/>
          <p:nvPr>
            <p:ph idx="1" type="body"/>
          </p:nvPr>
        </p:nvSpPr>
        <p:spPr>
          <a:xfrm>
            <a:off x="457200" y="1306786"/>
            <a:ext cx="8229600" cy="5551213"/>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spcBef>
                <a:spcPts val="0"/>
              </a:spcBef>
              <a:spcAft>
                <a:spcPts val="0"/>
              </a:spcAft>
              <a:buSzPct val="95000"/>
              <a:buChar char="⚫"/>
            </a:pPr>
            <a:r>
              <a:rPr lang="en-US" sz="2000"/>
              <a:t>Bayes’ theorem is one of the most important concepts in analytics since several problems are solved using Bayesian statistics. Consider two events A and B. We can write the following two conditional probabilities:</a:t>
            </a:r>
            <a:endParaRPr/>
          </a:p>
          <a:p>
            <a:pPr indent="-171767" lvl="0" marL="274320" rtl="0" algn="just">
              <a:spcBef>
                <a:spcPts val="340"/>
              </a:spcBef>
              <a:spcAft>
                <a:spcPts val="0"/>
              </a:spcAft>
              <a:buSzPct val="95000"/>
              <a:buNone/>
            </a:pPr>
            <a:r>
              <a:t/>
            </a:r>
            <a:endParaRPr sz="2000"/>
          </a:p>
          <a:p>
            <a:pPr indent="-171767" lvl="0" marL="274320" rtl="0" algn="just">
              <a:spcBef>
                <a:spcPts val="340"/>
              </a:spcBef>
              <a:spcAft>
                <a:spcPts val="0"/>
              </a:spcAft>
              <a:buSzPct val="95000"/>
              <a:buNone/>
            </a:pPr>
            <a:r>
              <a:t/>
            </a:r>
            <a:endParaRPr sz="2000"/>
          </a:p>
          <a:p>
            <a:pPr indent="-274320" lvl="0" marL="274320" rtl="0" algn="just">
              <a:spcBef>
                <a:spcPts val="340"/>
              </a:spcBef>
              <a:spcAft>
                <a:spcPts val="0"/>
              </a:spcAft>
              <a:buSzPct val="95000"/>
              <a:buChar char="⚫"/>
            </a:pPr>
            <a:r>
              <a:rPr lang="en-US" sz="2000"/>
              <a:t>Using the two equations, we can show that </a:t>
            </a:r>
            <a:endParaRPr sz="2000"/>
          </a:p>
          <a:p>
            <a:pPr indent="-171767" lvl="0" marL="274320" rtl="0" algn="just">
              <a:spcBef>
                <a:spcPts val="340"/>
              </a:spcBef>
              <a:spcAft>
                <a:spcPts val="0"/>
              </a:spcAft>
              <a:buSzPct val="95000"/>
              <a:buNone/>
            </a:pPr>
            <a:r>
              <a:t/>
            </a:r>
            <a:endParaRPr sz="2000"/>
          </a:p>
          <a:p>
            <a:pPr indent="-171767" lvl="0" marL="274320" rtl="0" algn="just">
              <a:spcBef>
                <a:spcPts val="340"/>
              </a:spcBef>
              <a:spcAft>
                <a:spcPts val="0"/>
              </a:spcAft>
              <a:buSzPct val="95000"/>
              <a:buNone/>
            </a:pPr>
            <a:r>
              <a:t/>
            </a:r>
            <a:endParaRPr sz="2000"/>
          </a:p>
          <a:p>
            <a:pPr indent="-171767" lvl="0" marL="274320" rtl="0" algn="just">
              <a:spcBef>
                <a:spcPts val="340"/>
              </a:spcBef>
              <a:spcAft>
                <a:spcPts val="0"/>
              </a:spcAft>
              <a:buSzPct val="95000"/>
              <a:buNone/>
            </a:pPr>
            <a:r>
              <a:t/>
            </a:r>
            <a:endParaRPr sz="2000"/>
          </a:p>
          <a:p>
            <a:pPr indent="-274320" lvl="0" marL="274320" rtl="0" algn="just">
              <a:spcBef>
                <a:spcPts val="340"/>
              </a:spcBef>
              <a:spcAft>
                <a:spcPts val="0"/>
              </a:spcAft>
              <a:buSzPct val="95000"/>
              <a:buChar char="⚫"/>
            </a:pPr>
            <a:r>
              <a:rPr lang="en-US" sz="2000"/>
              <a:t>Equation (3.13) is the Bayes’ theorem. Bayes’ theorem helps the data scientists to update the probability of an event (B) when any additional information is provided. This makes Bayesian statistics a very attractive technique since it helps the decision maker to fine-tune his/her belief with every additional data that is received.</a:t>
            </a:r>
            <a:endParaRPr/>
          </a:p>
          <a:p>
            <a:pPr indent="0" lvl="0" marL="0" rtl="0" algn="just">
              <a:spcBef>
                <a:spcPts val="340"/>
              </a:spcBef>
              <a:spcAft>
                <a:spcPts val="0"/>
              </a:spcAft>
              <a:buSzPct val="95000"/>
              <a:buNone/>
            </a:pPr>
            <a:r>
              <a:rPr lang="en-US" sz="2000"/>
              <a:t> </a:t>
            </a:r>
            <a:r>
              <a:rPr b="1" lang="en-US" sz="2000"/>
              <a:t>The following terminologies are used to describe various components in Eq. (3.13).</a:t>
            </a:r>
            <a:endParaRPr/>
          </a:p>
          <a:p>
            <a:pPr indent="-246888" lvl="1" marL="640080" rtl="0" algn="just">
              <a:spcBef>
                <a:spcPts val="323"/>
              </a:spcBef>
              <a:spcAft>
                <a:spcPts val="0"/>
              </a:spcAft>
              <a:buSzPct val="85000"/>
              <a:buChar char="⚫"/>
            </a:pPr>
            <a:r>
              <a:rPr lang="en-US" sz="1900"/>
              <a:t>P(B) is called the prior probability (estimate of the probability without any additional information).</a:t>
            </a:r>
            <a:endParaRPr/>
          </a:p>
          <a:p>
            <a:pPr indent="-246888" lvl="1" marL="640080" rtl="0" algn="just">
              <a:spcBef>
                <a:spcPts val="323"/>
              </a:spcBef>
              <a:spcAft>
                <a:spcPts val="0"/>
              </a:spcAft>
              <a:buSzPct val="85000"/>
              <a:buChar char="⚫"/>
            </a:pPr>
            <a:r>
              <a:rPr lang="en-US" sz="1900"/>
              <a:t>P(B|A) is called the posterior probability (that is, given that the event A has occurred, what is the probability of occurrence of event B). That is, post the additional information (or additional evidence) that A has occurred, what is estimated probability of occurrence of B.</a:t>
            </a:r>
            <a:endParaRPr/>
          </a:p>
          <a:p>
            <a:pPr indent="-246888" lvl="1" marL="640080" rtl="0" algn="just">
              <a:spcBef>
                <a:spcPts val="323"/>
              </a:spcBef>
              <a:spcAft>
                <a:spcPts val="0"/>
              </a:spcAft>
              <a:buSzPct val="85000"/>
              <a:buChar char="⚫"/>
            </a:pPr>
            <a:r>
              <a:rPr lang="en-US" sz="1900"/>
              <a:t>P(A|B) is called the likelihood of observing evidence A if B is true.</a:t>
            </a:r>
            <a:endParaRPr/>
          </a:p>
          <a:p>
            <a:pPr indent="-246888" lvl="1" marL="640080" rtl="0" algn="just">
              <a:spcBef>
                <a:spcPts val="323"/>
              </a:spcBef>
              <a:spcAft>
                <a:spcPts val="0"/>
              </a:spcAft>
              <a:buSzPct val="85000"/>
              <a:buChar char="⚫"/>
            </a:pPr>
            <a:r>
              <a:rPr lang="en-US" sz="1900"/>
              <a:t>P(A) is the prior probability of A.</a:t>
            </a:r>
            <a:endParaRPr/>
          </a:p>
        </p:txBody>
      </p:sp>
      <p:pic>
        <p:nvPicPr>
          <p:cNvPr id="336" name="Google Shape;336;p36"/>
          <p:cNvPicPr preferRelativeResize="0"/>
          <p:nvPr/>
        </p:nvPicPr>
        <p:blipFill rotWithShape="1">
          <a:blip r:embed="rId3">
            <a:alphaModFix/>
          </a:blip>
          <a:srcRect b="0" l="0" r="0" t="0"/>
          <a:stretch/>
        </p:blipFill>
        <p:spPr>
          <a:xfrm>
            <a:off x="4572000" y="1857396"/>
            <a:ext cx="3943048" cy="762000"/>
          </a:xfrm>
          <a:prstGeom prst="rect">
            <a:avLst/>
          </a:prstGeom>
          <a:noFill/>
          <a:ln>
            <a:noFill/>
          </a:ln>
        </p:spPr>
      </p:pic>
      <p:pic>
        <p:nvPicPr>
          <p:cNvPr id="337" name="Google Shape;337;p36"/>
          <p:cNvPicPr preferRelativeResize="0"/>
          <p:nvPr/>
        </p:nvPicPr>
        <p:blipFill rotWithShape="1">
          <a:blip r:embed="rId4">
            <a:alphaModFix/>
          </a:blip>
          <a:srcRect b="0" l="0" r="0" t="0"/>
          <a:stretch/>
        </p:blipFill>
        <p:spPr>
          <a:xfrm>
            <a:off x="3142444" y="2850744"/>
            <a:ext cx="5544356" cy="68489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481012" y="228600"/>
            <a:ext cx="8229600" cy="1143000"/>
          </a:xfrm>
          <a:prstGeom prst="rect">
            <a:avLst/>
          </a:prstGeom>
          <a:noFill/>
          <a:ln>
            <a:noFill/>
          </a:ln>
        </p:spPr>
        <p:txBody>
          <a:bodyPr anchorCtr="0" anchor="t"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Generalization of Bayes’ Theorem</a:t>
            </a:r>
            <a:endParaRPr/>
          </a:p>
        </p:txBody>
      </p:sp>
      <p:sp>
        <p:nvSpPr>
          <p:cNvPr id="343" name="Google Shape;343;p37"/>
          <p:cNvSpPr txBox="1"/>
          <p:nvPr>
            <p:ph idx="1" type="body"/>
          </p:nvPr>
        </p:nvSpPr>
        <p:spPr>
          <a:xfrm>
            <a:off x="481012" y="990600"/>
            <a:ext cx="8229600" cy="5867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t>The probability of evidence P(A) may come from mutually exclusive subsets (events) as described in Figure 3.2.</a:t>
            </a:r>
            <a:endParaRPr/>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274320" lvl="0" marL="274320" rtl="0" algn="l">
              <a:spcBef>
                <a:spcPts val="400"/>
              </a:spcBef>
              <a:spcAft>
                <a:spcPts val="0"/>
              </a:spcAft>
              <a:buSzPts val="1900"/>
              <a:buChar char="⚫"/>
            </a:pPr>
            <a:r>
              <a:rPr lang="en-US" sz="2000"/>
              <a:t>For better understating, consider a part manufactured by different suppliers B1 , B2 , ..., Bn . Let A denote a defective part. P(A) can be written as:</a:t>
            </a:r>
            <a:endParaRPr/>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p:txBody>
      </p:sp>
      <p:pic>
        <p:nvPicPr>
          <p:cNvPr id="344" name="Google Shape;344;p37"/>
          <p:cNvPicPr preferRelativeResize="0"/>
          <p:nvPr/>
        </p:nvPicPr>
        <p:blipFill rotWithShape="1">
          <a:blip r:embed="rId3">
            <a:alphaModFix/>
          </a:blip>
          <a:srcRect b="0" l="0" r="0" t="0"/>
          <a:stretch/>
        </p:blipFill>
        <p:spPr>
          <a:xfrm>
            <a:off x="1752600" y="1752600"/>
            <a:ext cx="5343525" cy="2358634"/>
          </a:xfrm>
          <a:prstGeom prst="rect">
            <a:avLst/>
          </a:prstGeom>
          <a:noFill/>
          <a:ln>
            <a:noFill/>
          </a:ln>
        </p:spPr>
      </p:pic>
      <p:pic>
        <p:nvPicPr>
          <p:cNvPr id="345" name="Google Shape;345;p37"/>
          <p:cNvPicPr preferRelativeResize="0"/>
          <p:nvPr/>
        </p:nvPicPr>
        <p:blipFill rotWithShape="1">
          <a:blip r:embed="rId4">
            <a:alphaModFix/>
          </a:blip>
          <a:srcRect b="0" l="0" r="0" t="0"/>
          <a:stretch/>
        </p:blipFill>
        <p:spPr>
          <a:xfrm>
            <a:off x="67733" y="5257800"/>
            <a:ext cx="8731956" cy="12954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title"/>
          </p:nvPr>
        </p:nvSpPr>
        <p:spPr>
          <a:xfrm>
            <a:off x="419100" y="3048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Bayes’ Theorem-example</a:t>
            </a:r>
            <a:endParaRPr sz="4800"/>
          </a:p>
        </p:txBody>
      </p:sp>
      <p:pic>
        <p:nvPicPr>
          <p:cNvPr id="351" name="Google Shape;351;p38"/>
          <p:cNvPicPr preferRelativeResize="0"/>
          <p:nvPr>
            <p:ph idx="1" type="body"/>
          </p:nvPr>
        </p:nvPicPr>
        <p:blipFill rotWithShape="1">
          <a:blip r:embed="rId3">
            <a:alphaModFix/>
          </a:blip>
          <a:srcRect b="0" l="0" r="0" t="0"/>
          <a:stretch/>
        </p:blipFill>
        <p:spPr>
          <a:xfrm>
            <a:off x="685800" y="1812685"/>
            <a:ext cx="7620000" cy="468476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9"/>
          <p:cNvSpPr txBox="1"/>
          <p:nvPr>
            <p:ph type="title"/>
          </p:nvPr>
        </p:nvSpPr>
        <p:spPr>
          <a:xfrm>
            <a:off x="457200" y="685800"/>
            <a:ext cx="8229600" cy="13716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273239"/>
              </a:buClr>
              <a:buSzPts val="1800"/>
              <a:buFont typeface="Constantia"/>
              <a:buNone/>
            </a:pPr>
            <a:r>
              <a:rPr b="1" i="0" lang="en-US" sz="1800">
                <a:solidFill>
                  <a:srgbClr val="273239"/>
                </a:solidFill>
                <a:latin typeface="Constantia"/>
                <a:ea typeface="Constantia"/>
                <a:cs typeface="Constantia"/>
                <a:sym typeface="Constantia"/>
              </a:rPr>
              <a:t>There are three urns containing 3 white and 2 black balls; 2 white and 3 black balls; 1 black and 4 white balls respectively. There is an equal probability of each urn being chosen. One ball is equal probability chosen at random. what is the probability that a  white ball is drawn?</a:t>
            </a:r>
            <a:br>
              <a:rPr b="1" i="0" lang="en-US" sz="1800">
                <a:solidFill>
                  <a:srgbClr val="273239"/>
                </a:solidFill>
                <a:latin typeface="Constantia"/>
                <a:ea typeface="Constantia"/>
                <a:cs typeface="Constantia"/>
                <a:sym typeface="Constantia"/>
              </a:rPr>
            </a:br>
            <a:endParaRPr sz="1800">
              <a:latin typeface="Constantia"/>
              <a:ea typeface="Constantia"/>
              <a:cs typeface="Constantia"/>
              <a:sym typeface="Constantia"/>
            </a:endParaRPr>
          </a:p>
        </p:txBody>
      </p:sp>
      <p:sp>
        <p:nvSpPr>
          <p:cNvPr id="357" name="Google Shape;357;p39"/>
          <p:cNvSpPr txBox="1"/>
          <p:nvPr>
            <p:ph idx="1" type="body"/>
          </p:nvPr>
        </p:nvSpPr>
        <p:spPr>
          <a:xfrm>
            <a:off x="457200" y="2397442"/>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b="0" i="1" lang="en-US" sz="2000">
                <a:solidFill>
                  <a:srgbClr val="273239"/>
                </a:solidFill>
              </a:rPr>
              <a:t>Let E1, E2, and E3 be the events of choosing the first, second, and third urn respectively. Then,</a:t>
            </a:r>
            <a:endParaRPr/>
          </a:p>
          <a:p>
            <a:pPr indent="-274320" lvl="0" marL="274320" rtl="0" algn="l">
              <a:spcBef>
                <a:spcPts val="400"/>
              </a:spcBef>
              <a:spcAft>
                <a:spcPts val="0"/>
              </a:spcAft>
              <a:buSzPts val="1900"/>
              <a:buChar char="⚫"/>
            </a:pPr>
            <a:r>
              <a:rPr b="0" i="1" lang="en-US" sz="2000">
                <a:solidFill>
                  <a:srgbClr val="273239"/>
                </a:solidFill>
              </a:rPr>
              <a:t>P(E1) = P(E2) = P(E3) =1/3</a:t>
            </a:r>
            <a:endParaRPr/>
          </a:p>
          <a:p>
            <a:pPr indent="-274320" lvl="0" marL="274320" rtl="0" algn="l">
              <a:spcBef>
                <a:spcPts val="400"/>
              </a:spcBef>
              <a:spcAft>
                <a:spcPts val="0"/>
              </a:spcAft>
              <a:buSzPts val="1900"/>
              <a:buChar char="⚫"/>
            </a:pPr>
            <a:r>
              <a:rPr b="0" i="1" lang="en-US" sz="2000">
                <a:solidFill>
                  <a:srgbClr val="273239"/>
                </a:solidFill>
              </a:rPr>
              <a:t>Let E be the event that a white ball is drawn. Then,</a:t>
            </a:r>
            <a:endParaRPr/>
          </a:p>
          <a:p>
            <a:pPr indent="-274320" lvl="0" marL="274320" rtl="0" algn="l">
              <a:spcBef>
                <a:spcPts val="400"/>
              </a:spcBef>
              <a:spcAft>
                <a:spcPts val="0"/>
              </a:spcAft>
              <a:buSzPts val="1900"/>
              <a:buChar char="⚫"/>
            </a:pPr>
            <a:r>
              <a:rPr b="0" i="1" lang="en-US" sz="2000">
                <a:solidFill>
                  <a:srgbClr val="273239"/>
                </a:solidFill>
              </a:rPr>
              <a:t>P(E/E1) = 3/5, P(E/E2) = 2/5, P(E/E3) = 4/5</a:t>
            </a:r>
            <a:endParaRPr/>
          </a:p>
          <a:p>
            <a:pPr indent="-274320" lvl="0" marL="274320" rtl="0" algn="l">
              <a:spcBef>
                <a:spcPts val="400"/>
              </a:spcBef>
              <a:spcAft>
                <a:spcPts val="0"/>
              </a:spcAft>
              <a:buSzPts val="1900"/>
              <a:buChar char="⚫"/>
            </a:pPr>
            <a:r>
              <a:rPr b="0" i="1" lang="en-US" sz="2000">
                <a:solidFill>
                  <a:srgbClr val="273239"/>
                </a:solidFill>
              </a:rPr>
              <a:t>By theorem of total probability, we have</a:t>
            </a:r>
            <a:endParaRPr/>
          </a:p>
          <a:p>
            <a:pPr indent="-274320" lvl="0" marL="274320" rtl="0" algn="l">
              <a:spcBef>
                <a:spcPts val="400"/>
              </a:spcBef>
              <a:spcAft>
                <a:spcPts val="0"/>
              </a:spcAft>
              <a:buSzPts val="1900"/>
              <a:buChar char="⚫"/>
            </a:pPr>
            <a:r>
              <a:rPr b="0" i="1" lang="en-US" sz="2000">
                <a:solidFill>
                  <a:srgbClr val="273239"/>
                </a:solidFill>
              </a:rPr>
              <a:t>P(E) = P(E/E1) . P(E1) + P(E/E2) . P(E2) + P(E/E3) . P(E3)</a:t>
            </a:r>
            <a:endParaRPr/>
          </a:p>
          <a:p>
            <a:pPr indent="-274320" lvl="0" marL="274320" rtl="0" algn="l">
              <a:spcBef>
                <a:spcPts val="400"/>
              </a:spcBef>
              <a:spcAft>
                <a:spcPts val="0"/>
              </a:spcAft>
              <a:buSzPts val="1900"/>
              <a:buChar char="⚫"/>
            </a:pPr>
            <a:r>
              <a:rPr b="0" i="1" lang="en-US" sz="2000">
                <a:solidFill>
                  <a:srgbClr val="273239"/>
                </a:solidFill>
              </a:rPr>
              <a:t>       = (3/5 * 1/3) + (2/5 * 1/3) + (4/5 * 1/3)</a:t>
            </a:r>
            <a:endParaRPr/>
          </a:p>
          <a:p>
            <a:pPr indent="-274320" lvl="0" marL="274320" rtl="0" algn="l">
              <a:spcBef>
                <a:spcPts val="400"/>
              </a:spcBef>
              <a:spcAft>
                <a:spcPts val="0"/>
              </a:spcAft>
              <a:buSzPts val="1900"/>
              <a:buChar char="⚫"/>
            </a:pPr>
            <a:r>
              <a:rPr b="0" i="1" lang="en-US" sz="2000">
                <a:solidFill>
                  <a:srgbClr val="273239"/>
                </a:solidFill>
              </a:rPr>
              <a:t>       = 9/15 = 3/5</a:t>
            </a:r>
            <a:endParaRPr/>
          </a:p>
          <a:p>
            <a:pPr indent="-153670" lvl="0" marL="274320" rtl="0" algn="l">
              <a:spcBef>
                <a:spcPts val="400"/>
              </a:spcBef>
              <a:spcAft>
                <a:spcPts val="0"/>
              </a:spcAft>
              <a:buSzPts val="1900"/>
              <a:buNone/>
            </a:pPr>
            <a:r>
              <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0"/>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Bayes’ Theorem- example</a:t>
            </a:r>
            <a:endParaRPr sz="4800"/>
          </a:p>
        </p:txBody>
      </p:sp>
      <p:sp>
        <p:nvSpPr>
          <p:cNvPr id="363" name="Google Shape;363;p4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280"/>
              <a:buChar char="⚫"/>
            </a:pPr>
            <a:r>
              <a:rPr lang="en-US" sz="2400"/>
              <a:t>At an electronics plant, it is known from past experience that the probability is 0.83 that a new worker who has attended the company’s training program will meet the production quota and that the corresponding probability is 0.35 for a new worker who has not attended the company’s training program. If 80 % of all new workers attend the training program, what is the probability that a new worker will meet the production quota? Also, find the probability that a new worker who meets the production quota will have attended the company’s training program.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41"/>
          <p:cNvPicPr preferRelativeResize="0"/>
          <p:nvPr>
            <p:ph idx="1" type="body"/>
          </p:nvPr>
        </p:nvPicPr>
        <p:blipFill rotWithShape="1">
          <a:blip r:embed="rId3">
            <a:alphaModFix/>
          </a:blip>
          <a:srcRect b="0" l="0" r="0" t="0"/>
          <a:stretch/>
        </p:blipFill>
        <p:spPr>
          <a:xfrm>
            <a:off x="762000" y="1295400"/>
            <a:ext cx="7467600" cy="481333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txBox="1"/>
          <p:nvPr>
            <p:ph type="title"/>
          </p:nvPr>
        </p:nvSpPr>
        <p:spPr>
          <a:xfrm>
            <a:off x="457200" y="3810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Bayes’ Theorem- example</a:t>
            </a:r>
            <a:endParaRPr sz="4800"/>
          </a:p>
        </p:txBody>
      </p:sp>
      <p:sp>
        <p:nvSpPr>
          <p:cNvPr id="374" name="Google Shape;374;p42"/>
          <p:cNvSpPr txBox="1"/>
          <p:nvPr>
            <p:ph idx="1" type="body"/>
          </p:nvPr>
        </p:nvSpPr>
        <p:spPr>
          <a:xfrm>
            <a:off x="457200" y="16002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280"/>
              <a:buChar char="⚫"/>
            </a:pPr>
            <a:r>
              <a:rPr b="0" i="0" lang="en-US" sz="2400"/>
              <a:t>60% of the companies that increased their share price by more than 5% in the last three years replaced their </a:t>
            </a:r>
            <a:r>
              <a:rPr lang="en-US" sz="2400"/>
              <a:t>CEOs </a:t>
            </a:r>
            <a:r>
              <a:rPr b="0" i="0" lang="en-US" sz="2400"/>
              <a:t>during the period.</a:t>
            </a:r>
            <a:endParaRPr/>
          </a:p>
          <a:p>
            <a:pPr indent="-274320" lvl="0" marL="274320" rtl="0" algn="just">
              <a:spcBef>
                <a:spcPts val="480"/>
              </a:spcBef>
              <a:spcAft>
                <a:spcPts val="0"/>
              </a:spcAft>
              <a:buSzPts val="2280"/>
              <a:buChar char="⚫"/>
            </a:pPr>
            <a:r>
              <a:rPr b="0" i="0" lang="en-US" sz="2400"/>
              <a:t>At the same time, only 35% of the companies that did not increase their share price by more than 5% in the same period replaced their CEOs. Knowing that the probability that the stock prices grow by more than 5% is 4%, find the probability that the shares of a company that fires its CEO will increase by more than 5%.</a:t>
            </a:r>
            <a:endParaRPr/>
          </a:p>
          <a:p>
            <a:pPr indent="-129540" lvl="0" marL="274320" rtl="0" algn="just">
              <a:spcBef>
                <a:spcPts val="480"/>
              </a:spcBef>
              <a:spcAft>
                <a:spcPts val="0"/>
              </a:spcAft>
              <a:buSzPts val="2280"/>
              <a:buNone/>
            </a:pPr>
            <a:r>
              <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3"/>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Bayes’ Theorem- example</a:t>
            </a:r>
            <a:endParaRPr sz="4800"/>
          </a:p>
        </p:txBody>
      </p:sp>
      <p:sp>
        <p:nvSpPr>
          <p:cNvPr id="380" name="Google Shape;380;p4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280"/>
              <a:buNone/>
            </a:pPr>
            <a:r>
              <a:rPr b="0" i="0" lang="en-US" sz="2400"/>
              <a:t>Before finding the probabilities, you must first define the notation of the probabilities.</a:t>
            </a:r>
            <a:endParaRPr/>
          </a:p>
          <a:p>
            <a:pPr indent="-274320" lvl="0" marL="274320" rtl="0" algn="l">
              <a:spcBef>
                <a:spcPts val="480"/>
              </a:spcBef>
              <a:spcAft>
                <a:spcPts val="0"/>
              </a:spcAft>
              <a:buSzPts val="2280"/>
              <a:buFont typeface="Arial"/>
              <a:buChar char="•"/>
            </a:pPr>
            <a:r>
              <a:rPr b="0" i="0" lang="en-US" sz="2400"/>
              <a:t>P(A) – the probability that the stock price increases by 5%</a:t>
            </a:r>
            <a:endParaRPr/>
          </a:p>
          <a:p>
            <a:pPr indent="-274320" lvl="0" marL="274320" rtl="0" algn="l">
              <a:spcBef>
                <a:spcPts val="480"/>
              </a:spcBef>
              <a:spcAft>
                <a:spcPts val="0"/>
              </a:spcAft>
              <a:buSzPts val="2280"/>
              <a:buFont typeface="Arial"/>
              <a:buChar char="•"/>
            </a:pPr>
            <a:r>
              <a:rPr b="0" i="0" lang="en-US" sz="2400"/>
              <a:t>P(B) – the probability that the CEO is replaced</a:t>
            </a:r>
            <a:endParaRPr/>
          </a:p>
          <a:p>
            <a:pPr indent="-274320" lvl="0" marL="274320" rtl="0" algn="l">
              <a:spcBef>
                <a:spcPts val="480"/>
              </a:spcBef>
              <a:spcAft>
                <a:spcPts val="0"/>
              </a:spcAft>
              <a:buSzPts val="2280"/>
              <a:buFont typeface="Arial"/>
              <a:buChar char="•"/>
            </a:pPr>
            <a:r>
              <a:rPr b="0" i="0" lang="en-US" sz="2400"/>
              <a:t>P(A|B) – the probability of the stock price increases by 5% given that the CEO has been replaced</a:t>
            </a:r>
            <a:endParaRPr/>
          </a:p>
          <a:p>
            <a:pPr indent="-274320" lvl="0" marL="274320" rtl="0" algn="l">
              <a:spcBef>
                <a:spcPts val="480"/>
              </a:spcBef>
              <a:spcAft>
                <a:spcPts val="0"/>
              </a:spcAft>
              <a:buSzPts val="2280"/>
              <a:buFont typeface="Arial"/>
              <a:buChar char="•"/>
            </a:pPr>
            <a:r>
              <a:rPr b="0" i="0" lang="en-US" sz="2400"/>
              <a:t>P(B|A) – the probability of the CEO replacement given the stock price has increased by 5%.</a:t>
            </a:r>
            <a:endParaRPr/>
          </a:p>
          <a:p>
            <a:pPr indent="-129540" lvl="0" marL="274320" rtl="0" algn="l">
              <a:spcBef>
                <a:spcPts val="480"/>
              </a:spcBef>
              <a:spcAft>
                <a:spcPts val="0"/>
              </a:spcAft>
              <a:buSzPts val="2280"/>
              <a:buNone/>
            </a:pPr>
            <a:r>
              <a:t/>
            </a:r>
            <a:endParaRPr sz="24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4"/>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rgbClr val="57595D"/>
              </a:buClr>
              <a:buSzPts val="3200"/>
              <a:buFont typeface="Calibri"/>
              <a:buNone/>
            </a:pPr>
            <a:r>
              <a:rPr b="0" i="0" lang="en-US" sz="3200">
                <a:solidFill>
                  <a:srgbClr val="57595D"/>
                </a:solidFill>
              </a:rPr>
              <a:t>Using the Bayes’ theorem, we can find the required probability:</a:t>
            </a:r>
            <a:endParaRPr sz="3200"/>
          </a:p>
        </p:txBody>
      </p:sp>
      <p:sp>
        <p:nvSpPr>
          <p:cNvPr id="386" name="Google Shape;386;p44"/>
          <p:cNvSpPr txBox="1"/>
          <p:nvPr>
            <p:ph idx="1" type="body"/>
          </p:nvPr>
        </p:nvSpPr>
        <p:spPr>
          <a:xfrm>
            <a:off x="301752" y="1524000"/>
            <a:ext cx="8503920" cy="457200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solidFill>
                <a:srgbClr val="57595D"/>
              </a:solidFill>
              <a:latin typeface="Open Sans"/>
              <a:ea typeface="Open Sans"/>
              <a:cs typeface="Open Sans"/>
              <a:sym typeface="Open Sans"/>
            </a:endParaRPr>
          </a:p>
          <a:p>
            <a:pPr indent="-117475" lvl="0" marL="274320" rtl="0" algn="l">
              <a:spcBef>
                <a:spcPts val="520"/>
              </a:spcBef>
              <a:spcAft>
                <a:spcPts val="0"/>
              </a:spcAft>
              <a:buSzPts val="2470"/>
              <a:buNone/>
            </a:pPr>
            <a:r>
              <a:t/>
            </a:r>
            <a:endParaRPr b="0" i="0">
              <a:solidFill>
                <a:srgbClr val="57595D"/>
              </a:solidFill>
              <a:latin typeface="Open Sans"/>
              <a:ea typeface="Open Sans"/>
              <a:cs typeface="Open Sans"/>
              <a:sym typeface="Open Sans"/>
            </a:endParaRPr>
          </a:p>
          <a:p>
            <a:pPr indent="-117475" lvl="0" marL="274320" rtl="0" algn="l">
              <a:spcBef>
                <a:spcPts val="520"/>
              </a:spcBef>
              <a:spcAft>
                <a:spcPts val="0"/>
              </a:spcAft>
              <a:buSzPts val="2470"/>
              <a:buNone/>
            </a:pPr>
            <a:r>
              <a:t/>
            </a:r>
            <a:endParaRPr>
              <a:solidFill>
                <a:srgbClr val="57595D"/>
              </a:solidFill>
              <a:latin typeface="Open Sans"/>
              <a:ea typeface="Open Sans"/>
              <a:cs typeface="Open Sans"/>
              <a:sym typeface="Open Sans"/>
            </a:endParaRPr>
          </a:p>
          <a:p>
            <a:pPr indent="-117475" lvl="0" marL="274320" rtl="0" algn="l">
              <a:spcBef>
                <a:spcPts val="520"/>
              </a:spcBef>
              <a:spcAft>
                <a:spcPts val="0"/>
              </a:spcAft>
              <a:buSzPts val="2470"/>
              <a:buNone/>
            </a:pPr>
            <a:r>
              <a:t/>
            </a:r>
            <a:endParaRPr b="0" i="0">
              <a:solidFill>
                <a:srgbClr val="57595D"/>
              </a:solidFill>
              <a:latin typeface="Open Sans"/>
              <a:ea typeface="Open Sans"/>
              <a:cs typeface="Open Sans"/>
              <a:sym typeface="Open Sans"/>
            </a:endParaRPr>
          </a:p>
          <a:p>
            <a:pPr indent="-274320" lvl="0" marL="274320" rtl="0" algn="l">
              <a:spcBef>
                <a:spcPts val="480"/>
              </a:spcBef>
              <a:spcAft>
                <a:spcPts val="0"/>
              </a:spcAft>
              <a:buSzPts val="2280"/>
              <a:buChar char="⚫"/>
            </a:pPr>
            <a:r>
              <a:rPr b="0" i="0" lang="en-US" sz="2400"/>
              <a:t>Thus, the probability that the shares of a company that replaces its CEO will grow by more than 5% is 6.67%.</a:t>
            </a:r>
            <a:endParaRPr/>
          </a:p>
          <a:p>
            <a:pPr indent="-129540" lvl="0" marL="274320" rtl="0" algn="l">
              <a:spcBef>
                <a:spcPts val="480"/>
              </a:spcBef>
              <a:spcAft>
                <a:spcPts val="0"/>
              </a:spcAft>
              <a:buSzPts val="2280"/>
              <a:buNone/>
            </a:pPr>
            <a:r>
              <a:t/>
            </a:r>
            <a:endParaRPr sz="2400"/>
          </a:p>
        </p:txBody>
      </p:sp>
      <p:pic>
        <p:nvPicPr>
          <p:cNvPr descr="Sample Calculation" id="387" name="Google Shape;387;p44"/>
          <p:cNvPicPr preferRelativeResize="0"/>
          <p:nvPr/>
        </p:nvPicPr>
        <p:blipFill rotWithShape="1">
          <a:blip r:embed="rId3">
            <a:alphaModFix/>
          </a:blip>
          <a:srcRect b="0" l="0" r="0" t="0"/>
          <a:stretch/>
        </p:blipFill>
        <p:spPr>
          <a:xfrm>
            <a:off x="452438" y="2133600"/>
            <a:ext cx="8239125" cy="8572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txBox="1"/>
          <p:nvPr>
            <p:ph type="title"/>
          </p:nvPr>
        </p:nvSpPr>
        <p:spPr>
          <a:xfrm>
            <a:off x="762000" y="381000"/>
            <a:ext cx="7773338" cy="1062038"/>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Random Variable</a:t>
            </a:r>
            <a:endParaRPr/>
          </a:p>
        </p:txBody>
      </p:sp>
      <p:sp>
        <p:nvSpPr>
          <p:cNvPr id="393" name="Google Shape;393;p45"/>
          <p:cNvSpPr txBox="1"/>
          <p:nvPr>
            <p:ph idx="1" type="body"/>
          </p:nvPr>
        </p:nvSpPr>
        <p:spPr>
          <a:xfrm>
            <a:off x="547687" y="1676400"/>
            <a:ext cx="7987651" cy="4033706"/>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spcBef>
                <a:spcPts val="0"/>
              </a:spcBef>
              <a:spcAft>
                <a:spcPts val="0"/>
              </a:spcAft>
              <a:buSzPct val="95000"/>
              <a:buChar char="⚫"/>
            </a:pPr>
            <a:r>
              <a:rPr lang="en-US"/>
              <a:t>A variable is defined as any symbol that can take any particular set of values.</a:t>
            </a:r>
            <a:endParaRPr/>
          </a:p>
          <a:p>
            <a:pPr indent="-274320" lvl="0" marL="274320" rtl="0" algn="just">
              <a:spcBef>
                <a:spcPts val="442"/>
              </a:spcBef>
              <a:spcAft>
                <a:spcPts val="0"/>
              </a:spcAft>
              <a:buSzPct val="95000"/>
              <a:buChar char="⚫"/>
            </a:pPr>
            <a:r>
              <a:rPr lang="en-US"/>
              <a:t>If the value of a variable depends upon the outcome of a random experiment, it is a random variable and  can take up any real value.</a:t>
            </a:r>
            <a:endParaRPr/>
          </a:p>
          <a:p>
            <a:pPr indent="-274320" lvl="0" marL="274320" rtl="0" algn="just">
              <a:spcBef>
                <a:spcPts val="442"/>
              </a:spcBef>
              <a:spcAft>
                <a:spcPts val="0"/>
              </a:spcAft>
              <a:buSzPct val="95000"/>
              <a:buChar char="⚫"/>
            </a:pPr>
            <a:r>
              <a:rPr b="0" i="0" lang="en-US"/>
              <a:t>Such an experiment, where we know the set of all possible results but find its impossible to predict one at any particular execution, is a random experiment.</a:t>
            </a:r>
            <a:endParaRPr/>
          </a:p>
          <a:p>
            <a:pPr indent="-274320" lvl="0" marL="274320" rtl="0" algn="just">
              <a:spcBef>
                <a:spcPts val="442"/>
              </a:spcBef>
              <a:spcAft>
                <a:spcPts val="0"/>
              </a:spcAft>
              <a:buSzPct val="95000"/>
              <a:buChar char="⚫"/>
            </a:pPr>
            <a:r>
              <a:rPr lang="en-US"/>
              <a:t>Mathematically, a random variable is a real-valued function whose domain is a sample space S of a random experiment. </a:t>
            </a:r>
            <a:endParaRPr/>
          </a:p>
          <a:p>
            <a:pPr indent="-274320" lvl="0" marL="274320" rtl="0" algn="just">
              <a:spcBef>
                <a:spcPts val="442"/>
              </a:spcBef>
              <a:spcAft>
                <a:spcPts val="0"/>
              </a:spcAft>
              <a:buSzPct val="95000"/>
              <a:buChar char="⚫"/>
            </a:pPr>
            <a:r>
              <a:rPr lang="en-US"/>
              <a:t>Random variable is always denoted by capital letter like X,Y,M.</a:t>
            </a:r>
            <a:endParaRPr/>
          </a:p>
          <a:p>
            <a:pPr indent="-274320" lvl="0" marL="274320" rtl="0" algn="just">
              <a:spcBef>
                <a:spcPts val="442"/>
              </a:spcBef>
              <a:spcAft>
                <a:spcPts val="0"/>
              </a:spcAft>
              <a:buSzPct val="95000"/>
              <a:buChar char="⚫"/>
            </a:pPr>
            <a:r>
              <a:rPr lang="en-US"/>
              <a:t>Lowercase letters like </a:t>
            </a:r>
            <a:r>
              <a:rPr lang="en-US" cap="none"/>
              <a:t>x, y, z, m </a:t>
            </a:r>
            <a:r>
              <a:rPr lang="en-US"/>
              <a:t>etc. represent its value.</a:t>
            </a:r>
            <a:endParaRPr/>
          </a:p>
          <a:p>
            <a:pPr indent="-141001" lvl="0" marL="274320" rtl="0" algn="just">
              <a:spcBef>
                <a:spcPts val="442"/>
              </a:spcBef>
              <a:spcAft>
                <a:spcPts val="0"/>
              </a:spcAft>
              <a:buSzPct val="95000"/>
              <a:buNone/>
            </a:pPr>
            <a:r>
              <a:t/>
            </a:r>
            <a:endParaRPr/>
          </a:p>
          <a:p>
            <a:pPr indent="-141001" lvl="0" marL="274320" rtl="0" algn="l">
              <a:spcBef>
                <a:spcPts val="442"/>
              </a:spcBef>
              <a:spcAft>
                <a:spcPts val="0"/>
              </a:spcAft>
              <a:buSzPct val="950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6"/>
          <p:cNvSpPr txBox="1"/>
          <p:nvPr>
            <p:ph type="title"/>
          </p:nvPr>
        </p:nvSpPr>
        <p:spPr>
          <a:xfrm>
            <a:off x="533400" y="577002"/>
            <a:ext cx="7773338" cy="10668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Random Variable</a:t>
            </a:r>
            <a:endParaRPr/>
          </a:p>
        </p:txBody>
      </p:sp>
      <p:sp>
        <p:nvSpPr>
          <p:cNvPr id="399" name="Google Shape;399;p46"/>
          <p:cNvSpPr txBox="1"/>
          <p:nvPr>
            <p:ph idx="1" type="body"/>
          </p:nvPr>
        </p:nvSpPr>
        <p:spPr>
          <a:xfrm>
            <a:off x="542925" y="1644541"/>
            <a:ext cx="8001469" cy="4338506"/>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X denotes the Probability Distribution of random variable X.</a:t>
            </a:r>
            <a:endParaRPr/>
          </a:p>
          <a:p>
            <a:pPr indent="-274320" lvl="0" marL="274320" rtl="0" algn="just">
              <a:spcBef>
                <a:spcPts val="0"/>
              </a:spcBef>
              <a:spcAft>
                <a:spcPts val="0"/>
              </a:spcAft>
              <a:buSzPts val="1900"/>
              <a:buChar char="⚫"/>
            </a:pPr>
            <a:r>
              <a:rPr lang="en-US" sz="2000"/>
              <a:t>P(X) denotes the Probability of X. </a:t>
            </a:r>
            <a:endParaRPr/>
          </a:p>
          <a:p>
            <a:pPr indent="-274320" lvl="0" marL="274320" rtl="0" algn="just">
              <a:spcBef>
                <a:spcPts val="0"/>
              </a:spcBef>
              <a:spcAft>
                <a:spcPts val="0"/>
              </a:spcAft>
              <a:buSzPts val="1900"/>
              <a:buChar char="⚫"/>
            </a:pPr>
            <a:r>
              <a:rPr lang="en-US" sz="2000"/>
              <a:t>p(X=x) denotes the Probability that random variable X is equivalent to any particular value, represented by x.</a:t>
            </a:r>
            <a:endParaRPr b="0" i="0" sz="2000"/>
          </a:p>
          <a:p>
            <a:pPr indent="-274320" lvl="0" marL="274320" rtl="0" algn="just">
              <a:spcBef>
                <a:spcPts val="400"/>
              </a:spcBef>
              <a:spcAft>
                <a:spcPts val="0"/>
              </a:spcAft>
              <a:buSzPts val="1900"/>
              <a:buChar char="⚫"/>
            </a:pPr>
            <a:r>
              <a:rPr b="0" i="0" lang="en-US" sz="2000"/>
              <a:t>Experiment is tossing a coin 2 times.</a:t>
            </a:r>
            <a:endParaRPr/>
          </a:p>
          <a:p>
            <a:pPr indent="-274320" lvl="0" marL="274320" rtl="0" algn="just">
              <a:spcBef>
                <a:spcPts val="400"/>
              </a:spcBef>
              <a:spcAft>
                <a:spcPts val="0"/>
              </a:spcAft>
              <a:buSzPts val="1900"/>
              <a:buChar char="⚫"/>
            </a:pPr>
            <a:r>
              <a:rPr b="0" i="0" lang="en-US" sz="2000"/>
              <a:t>Sample space(S) is {HH, TH, HT, TT}.</a:t>
            </a:r>
            <a:endParaRPr/>
          </a:p>
          <a:p>
            <a:pPr indent="-274320" lvl="0" marL="274320" rtl="0" algn="just">
              <a:spcBef>
                <a:spcPts val="400"/>
              </a:spcBef>
              <a:spcAft>
                <a:spcPts val="0"/>
              </a:spcAft>
              <a:buSzPts val="1900"/>
              <a:buChar char="⚫"/>
            </a:pPr>
            <a:r>
              <a:rPr b="0" i="0" lang="en-US" sz="2000"/>
              <a:t>X(Random Variable) is the number of both heads when we toss a coin 2 times.</a:t>
            </a:r>
            <a:endParaRPr/>
          </a:p>
          <a:p>
            <a:pPr indent="-274320" lvl="0" marL="274320" rtl="0" algn="just">
              <a:spcBef>
                <a:spcPts val="400"/>
              </a:spcBef>
              <a:spcAft>
                <a:spcPts val="0"/>
              </a:spcAft>
              <a:buSzPts val="1900"/>
              <a:buChar char="⚫"/>
            </a:pPr>
            <a:r>
              <a:rPr b="0" i="0" lang="en-US" sz="2000"/>
              <a:t>P(X=HT)=0.25, P(X=TT)=0.25, P(X=HH)=0.25, P(X=HT)=0.25</a:t>
            </a:r>
            <a:endParaRPr/>
          </a:p>
          <a:p>
            <a:pPr indent="-274320" lvl="0" marL="274320" rtl="0" algn="just">
              <a:spcBef>
                <a:spcPts val="400"/>
              </a:spcBef>
              <a:spcAft>
                <a:spcPts val="0"/>
              </a:spcAft>
              <a:buSzPts val="1900"/>
              <a:buChar char="⚫"/>
            </a:pPr>
            <a:r>
              <a:rPr lang="en-US" sz="2000"/>
              <a:t>For outcome {HT},</a:t>
            </a:r>
            <a:endParaRPr b="0" i="0" sz="2000"/>
          </a:p>
          <a:p>
            <a:pPr indent="-274320" lvl="0" marL="274320" rtl="0" algn="just">
              <a:spcBef>
                <a:spcPts val="400"/>
              </a:spcBef>
              <a:spcAft>
                <a:spcPts val="0"/>
              </a:spcAft>
              <a:buSzPts val="1900"/>
              <a:buChar char="⚫"/>
            </a:pPr>
            <a:r>
              <a:rPr b="0" i="0" lang="en-US" sz="2000"/>
              <a:t>Then, X(HH) = 0</a:t>
            </a:r>
            <a:r>
              <a:rPr lang="en-US" sz="2000"/>
              <a:t>, </a:t>
            </a:r>
            <a:r>
              <a:rPr b="0" i="0" lang="en-US" sz="2000"/>
              <a:t>X(TH) = 0, X(HT) = 1, X(TT) = 0.</a:t>
            </a:r>
            <a:endParaRPr/>
          </a:p>
          <a:p>
            <a:pPr indent="-117475" lvl="0" marL="274320" rtl="0" algn="just">
              <a:spcBef>
                <a:spcPts val="520"/>
              </a:spcBef>
              <a:spcAft>
                <a:spcPts val="0"/>
              </a:spcAft>
              <a:buSzPts val="2470"/>
              <a:buNone/>
            </a:pPr>
            <a:r>
              <a:t/>
            </a:r>
            <a:endParaRPr b="0" i="0">
              <a:latin typeface="Arial"/>
              <a:ea typeface="Arial"/>
              <a:cs typeface="Arial"/>
              <a:sym typeface="Arial"/>
            </a:endParaRPr>
          </a:p>
          <a:p>
            <a:pPr indent="-117475" lvl="0" marL="274320" rtl="0" algn="just">
              <a:spcBef>
                <a:spcPts val="520"/>
              </a:spcBef>
              <a:spcAft>
                <a:spcPts val="0"/>
              </a:spcAft>
              <a:buSzPts val="247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7"/>
          <p:cNvSpPr txBox="1"/>
          <p:nvPr>
            <p:ph type="title"/>
          </p:nvPr>
        </p:nvSpPr>
        <p:spPr>
          <a:xfrm>
            <a:off x="457200" y="2667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Random Variable</a:t>
            </a:r>
            <a:endParaRPr/>
          </a:p>
        </p:txBody>
      </p:sp>
      <p:sp>
        <p:nvSpPr>
          <p:cNvPr id="405" name="Google Shape;405;p47"/>
          <p:cNvSpPr txBox="1"/>
          <p:nvPr>
            <p:ph idx="1" type="body"/>
          </p:nvPr>
        </p:nvSpPr>
        <p:spPr>
          <a:xfrm>
            <a:off x="457200" y="1433512"/>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t>Since there are two forms of data, discrete and continuous, there are two types of random variables.</a:t>
            </a:r>
            <a:endParaRPr/>
          </a:p>
          <a:p>
            <a:pPr indent="-274320" lvl="0" marL="274320" rtl="0" algn="l">
              <a:spcBef>
                <a:spcPts val="480"/>
              </a:spcBef>
              <a:spcAft>
                <a:spcPts val="0"/>
              </a:spcAft>
              <a:buSzPts val="2280"/>
              <a:buChar char="⚫"/>
            </a:pPr>
            <a:r>
              <a:rPr lang="en-US" sz="2400"/>
              <a:t>It can be categorized into two types:</a:t>
            </a:r>
            <a:endParaRPr/>
          </a:p>
          <a:p>
            <a:pPr indent="-246888" lvl="1" marL="640080" rtl="0" algn="l">
              <a:spcBef>
                <a:spcPts val="440"/>
              </a:spcBef>
              <a:spcAft>
                <a:spcPts val="0"/>
              </a:spcAft>
              <a:buSzPts val="1870"/>
              <a:buChar char="⚫"/>
            </a:pPr>
            <a:r>
              <a:rPr b="1" lang="en-US" sz="2200"/>
              <a:t>Discrete Random Variable</a:t>
            </a:r>
            <a:endParaRPr/>
          </a:p>
          <a:p>
            <a:pPr indent="-246888" lvl="1" marL="640080" rtl="0" algn="l">
              <a:spcBef>
                <a:spcPts val="440"/>
              </a:spcBef>
              <a:spcAft>
                <a:spcPts val="0"/>
              </a:spcAft>
              <a:buSzPts val="1870"/>
              <a:buChar char="⚫"/>
            </a:pPr>
            <a:r>
              <a:rPr b="1" lang="en-US" sz="2200"/>
              <a:t>Continuous Random variable</a:t>
            </a:r>
            <a:endParaRPr/>
          </a:p>
          <a:p>
            <a:pPr indent="-129540" lvl="0" marL="274320" rtl="0" algn="l">
              <a:spcBef>
                <a:spcPts val="480"/>
              </a:spcBef>
              <a:spcAft>
                <a:spcPts val="0"/>
              </a:spcAft>
              <a:buSzPts val="2280"/>
              <a:buNone/>
            </a:pPr>
            <a:r>
              <a:t/>
            </a:r>
            <a:endParaRPr sz="2400"/>
          </a:p>
        </p:txBody>
      </p:sp>
      <p:pic>
        <p:nvPicPr>
          <p:cNvPr descr="See the source image" id="406" name="Google Shape;406;p47"/>
          <p:cNvPicPr preferRelativeResize="0"/>
          <p:nvPr/>
        </p:nvPicPr>
        <p:blipFill rotWithShape="1">
          <a:blip r:embed="rId3">
            <a:alphaModFix/>
          </a:blip>
          <a:srcRect b="8362" l="18334" r="18332" t="39609"/>
          <a:stretch/>
        </p:blipFill>
        <p:spPr>
          <a:xfrm>
            <a:off x="1752600" y="3581400"/>
            <a:ext cx="5743304" cy="264494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8"/>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Discrete random variable</a:t>
            </a:r>
            <a:endParaRPr/>
          </a:p>
        </p:txBody>
      </p:sp>
      <p:sp>
        <p:nvSpPr>
          <p:cNvPr id="412" name="Google Shape;412;p48"/>
          <p:cNvSpPr txBox="1"/>
          <p:nvPr>
            <p:ph idx="1" type="body"/>
          </p:nvPr>
        </p:nvSpPr>
        <p:spPr>
          <a:xfrm>
            <a:off x="457200" y="1600200"/>
            <a:ext cx="8229600" cy="51054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710"/>
              <a:buChar char="⚫"/>
            </a:pPr>
            <a:r>
              <a:rPr lang="en-US" sz="1800"/>
              <a:t>If the random variable X can assume only a finite or countably infinite set of values, then it is called a discrete random variable. There are very many situations where the random variable X can assume only finite or countably infinite set of values.</a:t>
            </a:r>
            <a:endParaRPr/>
          </a:p>
          <a:p>
            <a:pPr indent="0" lvl="0" marL="0" rtl="0" algn="just">
              <a:spcBef>
                <a:spcPts val="360"/>
              </a:spcBef>
              <a:spcAft>
                <a:spcPts val="0"/>
              </a:spcAft>
              <a:buSzPts val="1710"/>
              <a:buNone/>
            </a:pPr>
            <a:r>
              <a:rPr b="1" lang="en-US" sz="1800"/>
              <a:t> </a:t>
            </a:r>
            <a:endParaRPr/>
          </a:p>
          <a:p>
            <a:pPr indent="0" lvl="0" marL="0" rtl="0" algn="just">
              <a:spcBef>
                <a:spcPts val="360"/>
              </a:spcBef>
              <a:spcAft>
                <a:spcPts val="0"/>
              </a:spcAft>
              <a:buSzPts val="1710"/>
              <a:buNone/>
            </a:pPr>
            <a:r>
              <a:rPr b="1" lang="en-US" sz="1800"/>
              <a:t>Examples of discrete random variables are:</a:t>
            </a:r>
            <a:endParaRPr/>
          </a:p>
          <a:p>
            <a:pPr indent="-274320" lvl="0" marL="274320" rtl="0" algn="just">
              <a:spcBef>
                <a:spcPts val="360"/>
              </a:spcBef>
              <a:spcAft>
                <a:spcPts val="0"/>
              </a:spcAft>
              <a:buSzPts val="1710"/>
              <a:buChar char="⚫"/>
            </a:pPr>
            <a:r>
              <a:rPr lang="en-US" sz="1800"/>
              <a:t>Credit rating (usually classified into different categories such as low, medium and high or using labels such as AAA, AA, A, BBB, etc.).</a:t>
            </a:r>
            <a:endParaRPr/>
          </a:p>
          <a:p>
            <a:pPr indent="-274320" lvl="0" marL="274320" rtl="0" algn="just">
              <a:spcBef>
                <a:spcPts val="360"/>
              </a:spcBef>
              <a:spcAft>
                <a:spcPts val="0"/>
              </a:spcAft>
              <a:buSzPts val="1710"/>
              <a:buChar char="⚫"/>
            </a:pPr>
            <a:r>
              <a:rPr lang="en-US" sz="1800"/>
              <a:t>Number of orders received at an e-commerce retailer which can be countably infinite.</a:t>
            </a:r>
            <a:endParaRPr/>
          </a:p>
          <a:p>
            <a:pPr indent="-274320" lvl="0" marL="274320" rtl="0" algn="just">
              <a:spcBef>
                <a:spcPts val="360"/>
              </a:spcBef>
              <a:spcAft>
                <a:spcPts val="0"/>
              </a:spcAft>
              <a:buSzPts val="1710"/>
              <a:buChar char="⚫"/>
            </a:pPr>
            <a:r>
              <a:rPr lang="en-US" sz="1800"/>
              <a:t>Customer churn [the random variables take binary values: (a) Churn and (b) Do not churn].</a:t>
            </a:r>
            <a:endParaRPr/>
          </a:p>
          <a:p>
            <a:pPr indent="-274320" lvl="0" marL="274320" rtl="0" algn="just">
              <a:spcBef>
                <a:spcPts val="360"/>
              </a:spcBef>
              <a:spcAft>
                <a:spcPts val="0"/>
              </a:spcAft>
              <a:buSzPts val="1710"/>
              <a:buChar char="⚫"/>
            </a:pPr>
            <a:r>
              <a:rPr lang="en-US" sz="1800"/>
              <a:t>Fraud [the random variables take binary values: (a) Fraudulent transaction and (b) Genuine transaction].</a:t>
            </a:r>
            <a:endParaRPr/>
          </a:p>
          <a:p>
            <a:pPr indent="-274320" lvl="0" marL="274320" rtl="0" algn="just">
              <a:spcBef>
                <a:spcPts val="360"/>
              </a:spcBef>
              <a:spcAft>
                <a:spcPts val="0"/>
              </a:spcAft>
              <a:buSzPts val="1710"/>
              <a:buChar char="⚫"/>
            </a:pPr>
            <a:r>
              <a:rPr lang="en-US" sz="1800"/>
              <a:t> Any experiment that involves counting (for example, number of returns in a day from customers of e-commerce portals such as Amazon, Flipkart; number of customers not accepting job offers from an organization).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9"/>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Continuous random variable</a:t>
            </a:r>
            <a:endParaRPr/>
          </a:p>
        </p:txBody>
      </p:sp>
      <p:sp>
        <p:nvSpPr>
          <p:cNvPr id="418" name="Google Shape;418;p49"/>
          <p:cNvSpPr txBox="1"/>
          <p:nvPr>
            <p:ph idx="1" type="body"/>
          </p:nvPr>
        </p:nvSpPr>
        <p:spPr>
          <a:xfrm>
            <a:off x="457200" y="1935480"/>
            <a:ext cx="8229600" cy="46177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t>A random variable X which can take a value from an infinite set of values is called a continuous random variable. </a:t>
            </a:r>
            <a:endParaRPr sz="2000"/>
          </a:p>
          <a:p>
            <a:pPr indent="0" lvl="0" marL="0" rtl="0" algn="l">
              <a:spcBef>
                <a:spcPts val="400"/>
              </a:spcBef>
              <a:spcAft>
                <a:spcPts val="0"/>
              </a:spcAft>
              <a:buSzPts val="1900"/>
              <a:buNone/>
            </a:pPr>
            <a:r>
              <a:rPr b="1" lang="en-US" sz="2000"/>
              <a:t>Examples of continuous random variables are listed below:</a:t>
            </a:r>
            <a:endParaRPr/>
          </a:p>
          <a:p>
            <a:pPr indent="-274320" lvl="0" marL="274320" rtl="0" algn="l">
              <a:spcBef>
                <a:spcPts val="400"/>
              </a:spcBef>
              <a:spcAft>
                <a:spcPts val="0"/>
              </a:spcAft>
              <a:buSzPts val="1900"/>
              <a:buChar char="⚫"/>
            </a:pPr>
            <a:r>
              <a:rPr lang="en-US" sz="2000"/>
              <a:t>Market share of a company (which take any value from an infinite set of values between 0 and 100%).</a:t>
            </a:r>
            <a:endParaRPr/>
          </a:p>
          <a:p>
            <a:pPr indent="-274320" lvl="0" marL="274320" rtl="0" algn="l">
              <a:spcBef>
                <a:spcPts val="400"/>
              </a:spcBef>
              <a:spcAft>
                <a:spcPts val="0"/>
              </a:spcAft>
              <a:buSzPts val="1900"/>
              <a:buChar char="⚫"/>
            </a:pPr>
            <a:r>
              <a:rPr lang="en-US" sz="2000"/>
              <a:t>Percentage of attrition among employees of an organization.</a:t>
            </a:r>
            <a:endParaRPr/>
          </a:p>
          <a:p>
            <a:pPr indent="-274320" lvl="0" marL="274320" rtl="0" algn="l">
              <a:spcBef>
                <a:spcPts val="400"/>
              </a:spcBef>
              <a:spcAft>
                <a:spcPts val="0"/>
              </a:spcAft>
              <a:buSzPts val="1900"/>
              <a:buChar char="⚫"/>
            </a:pPr>
            <a:r>
              <a:rPr lang="en-US" sz="2000"/>
              <a:t>Time to failure of engineering systems.</a:t>
            </a:r>
            <a:endParaRPr/>
          </a:p>
          <a:p>
            <a:pPr indent="-274320" lvl="0" marL="274320" rtl="0" algn="l">
              <a:spcBef>
                <a:spcPts val="400"/>
              </a:spcBef>
              <a:spcAft>
                <a:spcPts val="0"/>
              </a:spcAft>
              <a:buSzPts val="1900"/>
              <a:buChar char="⚫"/>
            </a:pPr>
            <a:r>
              <a:rPr lang="en-US" sz="2000"/>
              <a:t>Time taken to complete an order placed at an e-commerce portal.</a:t>
            </a:r>
            <a:endParaRPr/>
          </a:p>
          <a:p>
            <a:pPr indent="-274320" lvl="0" marL="274320" rtl="0" algn="l">
              <a:spcBef>
                <a:spcPts val="400"/>
              </a:spcBef>
              <a:spcAft>
                <a:spcPts val="0"/>
              </a:spcAft>
              <a:buSzPts val="1900"/>
              <a:buChar char="⚫"/>
            </a:pPr>
            <a:r>
              <a:rPr lang="en-US" sz="2000"/>
              <a:t>Time taken to resolve a customer complaint at call and service centers.</a:t>
            </a:r>
            <a:endParaRPr/>
          </a:p>
          <a:p>
            <a:pPr indent="-274320" lvl="0" marL="274320" rtl="0" algn="l">
              <a:spcBef>
                <a:spcPts val="400"/>
              </a:spcBef>
              <a:spcAft>
                <a:spcPts val="0"/>
              </a:spcAft>
              <a:buSzPts val="1900"/>
              <a:buChar char="⚫"/>
            </a:pPr>
            <a:r>
              <a:rPr lang="en-US" sz="2000"/>
              <a:t>Height, Weight, Amount of rainfall, etc.</a:t>
            </a:r>
            <a:endParaRPr/>
          </a:p>
          <a:p>
            <a:pPr indent="0" lvl="0" marL="0" rtl="0" algn="l">
              <a:spcBef>
                <a:spcPts val="400"/>
              </a:spcBef>
              <a:spcAft>
                <a:spcPts val="0"/>
              </a:spcAft>
              <a:buSzPts val="1900"/>
              <a:buNone/>
            </a:pPr>
            <a:r>
              <a:t/>
            </a:r>
            <a:endParaRPr sz="2000"/>
          </a:p>
          <a:p>
            <a:pPr indent="0" lvl="0" marL="0" rtl="0" algn="l">
              <a:spcBef>
                <a:spcPts val="400"/>
              </a:spcBef>
              <a:spcAft>
                <a:spcPts val="0"/>
              </a:spcAft>
              <a:buSzPts val="1900"/>
              <a:buNone/>
            </a:pPr>
            <a:r>
              <a:rPr lang="en-US" sz="2000"/>
              <a:t>In many situations, a continuous variable may be converted to a discrete random variable for modelling purpose.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0"/>
          <p:cNvSpPr txBox="1"/>
          <p:nvPr>
            <p:ph type="title"/>
          </p:nvPr>
        </p:nvSpPr>
        <p:spPr>
          <a:xfrm>
            <a:off x="301752" y="441198"/>
            <a:ext cx="7773338" cy="10668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US" sz="4400">
                <a:latin typeface="Constantia"/>
                <a:ea typeface="Constantia"/>
                <a:cs typeface="Constantia"/>
                <a:sym typeface="Constantia"/>
              </a:rPr>
              <a:t>Probability Distributions</a:t>
            </a:r>
            <a:endParaRPr/>
          </a:p>
        </p:txBody>
      </p:sp>
      <p:sp>
        <p:nvSpPr>
          <p:cNvPr id="424" name="Google Shape;424;p50"/>
          <p:cNvSpPr txBox="1"/>
          <p:nvPr>
            <p:ph idx="1" type="body"/>
          </p:nvPr>
        </p:nvSpPr>
        <p:spPr>
          <a:xfrm>
            <a:off x="301752" y="1527048"/>
            <a:ext cx="8503800" cy="50262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A probability distribution is a function that calculates the likelihood of all possible values for a random variable.</a:t>
            </a:r>
            <a:endParaRPr/>
          </a:p>
          <a:p>
            <a:pPr indent="-274320" lvl="0" marL="274320" rtl="0" algn="just">
              <a:spcBef>
                <a:spcPts val="400"/>
              </a:spcBef>
              <a:spcAft>
                <a:spcPts val="0"/>
              </a:spcAft>
              <a:buSzPts val="1900"/>
              <a:buChar char="⚫"/>
            </a:pPr>
            <a:r>
              <a:rPr b="0" i="0" lang="en-US" sz="2000"/>
              <a:t>For any event of a random experiment, we can find its corresponding probability. </a:t>
            </a:r>
            <a:endParaRPr/>
          </a:p>
          <a:p>
            <a:pPr indent="-274320" lvl="0" marL="274320" rtl="0" algn="just">
              <a:spcBef>
                <a:spcPts val="400"/>
              </a:spcBef>
              <a:spcAft>
                <a:spcPts val="0"/>
              </a:spcAft>
              <a:buSzPts val="1900"/>
              <a:buChar char="⚫"/>
            </a:pPr>
            <a:r>
              <a:rPr b="1" i="0" lang="en-US" sz="2000"/>
              <a:t>For different values of the random variable, we can find its respective probability. </a:t>
            </a:r>
            <a:endParaRPr/>
          </a:p>
          <a:p>
            <a:pPr indent="-274320" lvl="0" marL="274320" rtl="0" algn="just">
              <a:spcBef>
                <a:spcPts val="400"/>
              </a:spcBef>
              <a:spcAft>
                <a:spcPts val="0"/>
              </a:spcAft>
              <a:buSzPts val="1900"/>
              <a:buChar char="⚫"/>
            </a:pPr>
            <a:r>
              <a:rPr b="1" i="0" lang="en-US" sz="2000"/>
              <a:t>The values of random variables along with the corresponding probabilities are the probability distribution of the random variable.</a:t>
            </a:r>
            <a:r>
              <a:rPr b="1" lang="en-US" sz="2000"/>
              <a:t> </a:t>
            </a:r>
            <a:endParaRPr/>
          </a:p>
          <a:p>
            <a:pPr indent="-274320" lvl="0" marL="274320" rtl="0" algn="just">
              <a:spcBef>
                <a:spcPts val="400"/>
              </a:spcBef>
              <a:spcAft>
                <a:spcPts val="0"/>
              </a:spcAft>
              <a:buSzPts val="1900"/>
              <a:buChar char="⚫"/>
            </a:pPr>
            <a:r>
              <a:rPr lang="en-US" sz="2000"/>
              <a:t>A probability distribution and </a:t>
            </a:r>
            <a:r>
              <a:rPr b="1" lang="en-US" sz="2000"/>
              <a:t>probability mass functions </a:t>
            </a:r>
            <a:r>
              <a:rPr lang="en-US" sz="2000"/>
              <a:t>can both be used to define a discrete probability distribution. </a:t>
            </a:r>
            <a:endParaRPr/>
          </a:p>
          <a:p>
            <a:pPr indent="-274320" lvl="0" marL="274320" rtl="0" algn="just">
              <a:spcBef>
                <a:spcPts val="400"/>
              </a:spcBef>
              <a:spcAft>
                <a:spcPts val="0"/>
              </a:spcAft>
              <a:buSzPts val="1900"/>
              <a:buChar char="⚫"/>
            </a:pPr>
            <a:r>
              <a:rPr lang="en-US" sz="2000"/>
              <a:t>A continuous probability distribution is described using a probability distribution function and a </a:t>
            </a:r>
            <a:r>
              <a:rPr b="1" lang="en-US" sz="2000"/>
              <a:t>probability density function</a:t>
            </a:r>
            <a:r>
              <a:rPr lang="en-US" sz="2000"/>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1"/>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onstantia"/>
              <a:buNone/>
            </a:pPr>
            <a:r>
              <a:rPr lang="en-US" sz="4400">
                <a:latin typeface="Constantia"/>
                <a:ea typeface="Constantia"/>
                <a:cs typeface="Constantia"/>
                <a:sym typeface="Constantia"/>
              </a:rPr>
              <a:t>Discrete Random Variables</a:t>
            </a:r>
            <a:endParaRPr/>
          </a:p>
        </p:txBody>
      </p:sp>
      <p:sp>
        <p:nvSpPr>
          <p:cNvPr id="430" name="Google Shape;430;p5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The probability distribution of a discrete random variable is a list of probabilities associated with each of its possible values.</a:t>
            </a:r>
            <a:endParaRPr/>
          </a:p>
          <a:p>
            <a:pPr indent="-274320" lvl="0" marL="274320" rtl="0" algn="just">
              <a:spcBef>
                <a:spcPts val="400"/>
              </a:spcBef>
              <a:spcAft>
                <a:spcPts val="0"/>
              </a:spcAft>
              <a:buSzPts val="1900"/>
              <a:buChar char="⚫"/>
            </a:pPr>
            <a:r>
              <a:rPr b="0" i="0" lang="en-US" sz="2000"/>
              <a:t>It is also sometimes called the </a:t>
            </a:r>
            <a:r>
              <a:rPr b="1" i="0" lang="en-US" sz="2000"/>
              <a:t>probability function </a:t>
            </a:r>
            <a:r>
              <a:rPr b="0" i="0" lang="en-US" sz="2000"/>
              <a:t>or the </a:t>
            </a:r>
            <a:r>
              <a:rPr b="1" i="0" lang="en-US" sz="2000"/>
              <a:t>probability mass function.</a:t>
            </a:r>
            <a:endParaRPr/>
          </a:p>
          <a:p>
            <a:pPr indent="-274320" lvl="0" marL="274320" rtl="0" algn="just">
              <a:spcBef>
                <a:spcPts val="400"/>
              </a:spcBef>
              <a:spcAft>
                <a:spcPts val="0"/>
              </a:spcAft>
              <a:buSzPts val="1900"/>
              <a:buChar char="⚫"/>
            </a:pPr>
            <a:r>
              <a:rPr b="0" i="0" lang="en-US" sz="2000"/>
              <a:t>More formally, the probability distribution of a discrete random variable X is a function which gives the probability p(xi) that the random variable equals xi, for each value xi:</a:t>
            </a:r>
            <a:endParaRPr/>
          </a:p>
          <a:p>
            <a:pPr indent="-274320" lvl="0" marL="274320" rtl="0" algn="just">
              <a:spcBef>
                <a:spcPts val="400"/>
              </a:spcBef>
              <a:spcAft>
                <a:spcPts val="0"/>
              </a:spcAft>
              <a:buSzPts val="1900"/>
              <a:buChar char="⚫"/>
            </a:pPr>
            <a:r>
              <a:rPr b="0" i="0" lang="en-US" sz="2000"/>
              <a:t>p(xi) = P(X=xi)</a:t>
            </a:r>
            <a:endParaRPr/>
          </a:p>
          <a:p>
            <a:pPr indent="-274320" lvl="0" marL="274320" rtl="0" algn="just">
              <a:spcBef>
                <a:spcPts val="400"/>
              </a:spcBef>
              <a:spcAft>
                <a:spcPts val="0"/>
              </a:spcAft>
              <a:buSzPts val="1900"/>
              <a:buChar char="⚫"/>
            </a:pPr>
            <a:r>
              <a:rPr b="0" i="0" lang="en-US" sz="2000"/>
              <a:t>It satisfies the following conditions:</a:t>
            </a:r>
            <a:endParaRPr/>
          </a:p>
          <a:p>
            <a:pPr indent="-274320" lvl="0" marL="274320" rtl="0" algn="just">
              <a:spcBef>
                <a:spcPts val="400"/>
              </a:spcBef>
              <a:spcAft>
                <a:spcPts val="0"/>
              </a:spcAft>
              <a:buSzPts val="1900"/>
              <a:buFont typeface="Arial"/>
              <a:buChar char="•"/>
            </a:pPr>
            <a:r>
              <a:rPr b="0" i="0" lang="en-US" sz="2000"/>
              <a:t>0 &lt;= p(xi) &lt;= 1</a:t>
            </a:r>
            <a:endParaRPr/>
          </a:p>
          <a:p>
            <a:pPr indent="-274320" lvl="0" marL="274320" rtl="0" algn="just">
              <a:spcBef>
                <a:spcPts val="400"/>
              </a:spcBef>
              <a:spcAft>
                <a:spcPts val="0"/>
              </a:spcAft>
              <a:buSzPts val="1900"/>
              <a:buFont typeface="Arial"/>
              <a:buChar char="•"/>
            </a:pPr>
            <a:r>
              <a:rPr b="0" i="0" lang="en-US" sz="2000"/>
              <a:t>sum of all p(xi) is 1</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2"/>
          <p:cNvSpPr txBox="1"/>
          <p:nvPr>
            <p:ph type="title"/>
          </p:nvPr>
        </p:nvSpPr>
        <p:spPr>
          <a:xfrm>
            <a:off x="379476" y="381000"/>
            <a:ext cx="8348472" cy="9144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Discrete Random Variables</a:t>
            </a:r>
            <a:endParaRPr/>
          </a:p>
        </p:txBody>
      </p:sp>
      <p:sp>
        <p:nvSpPr>
          <p:cNvPr id="436" name="Google Shape;436;p52"/>
          <p:cNvSpPr txBox="1"/>
          <p:nvPr>
            <p:ph idx="1" type="body"/>
          </p:nvPr>
        </p:nvSpPr>
        <p:spPr>
          <a:xfrm>
            <a:off x="301752" y="1527048"/>
            <a:ext cx="8503920" cy="4797552"/>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Consider a random variable X= number of heads after tossing a coin thrice.</a:t>
            </a:r>
            <a:endParaRPr/>
          </a:p>
          <a:p>
            <a:pPr indent="-274320" lvl="0" marL="274320" rtl="0" algn="just">
              <a:spcBef>
                <a:spcPts val="400"/>
              </a:spcBef>
              <a:spcAft>
                <a:spcPts val="0"/>
              </a:spcAft>
              <a:buSzPts val="1900"/>
              <a:buChar char="⚫"/>
            </a:pPr>
            <a:r>
              <a:rPr b="0" i="1" lang="en-US" sz="2000"/>
              <a:t>x ∈ {0,1,2,3}</a:t>
            </a:r>
            <a:r>
              <a:rPr lang="en-US" sz="2000"/>
              <a:t>.</a:t>
            </a:r>
            <a:endParaRPr/>
          </a:p>
          <a:p>
            <a:pPr indent="-274320" lvl="0" marL="274320" rtl="0" algn="just">
              <a:spcBef>
                <a:spcPts val="400"/>
              </a:spcBef>
              <a:spcAft>
                <a:spcPts val="0"/>
              </a:spcAft>
              <a:buSzPts val="1900"/>
              <a:buChar char="⚫"/>
            </a:pPr>
            <a:r>
              <a:rPr b="0" i="0" lang="en-US" sz="2000"/>
              <a:t>All the possible outcomes after a coin is flipped thrice are, {HHH,HHT,HTT,TTT,TTH,THH,THT,HTH}.</a:t>
            </a:r>
            <a:endParaRPr/>
          </a:p>
          <a:p>
            <a:pPr indent="-274320" lvl="0" marL="274320" rtl="0" algn="just">
              <a:spcBef>
                <a:spcPts val="400"/>
              </a:spcBef>
              <a:spcAft>
                <a:spcPts val="0"/>
              </a:spcAft>
              <a:buSzPts val="1900"/>
              <a:buChar char="⚫"/>
            </a:pPr>
            <a:r>
              <a:rPr b="0" i="0" lang="en-US" sz="2000"/>
              <a:t>What will be the probability that 0 heads occur?</a:t>
            </a:r>
            <a:endParaRPr/>
          </a:p>
          <a:p>
            <a:pPr indent="-274320" lvl="0" marL="274320" rtl="0" algn="just">
              <a:spcBef>
                <a:spcPts val="400"/>
              </a:spcBef>
              <a:spcAft>
                <a:spcPts val="0"/>
              </a:spcAft>
              <a:buSzPts val="1900"/>
              <a:buChar char="⚫"/>
            </a:pPr>
            <a:r>
              <a:rPr b="0" i="0" lang="en-US" sz="2000"/>
              <a:t>We denote it as P(X=0)=1/8=0.125</a:t>
            </a:r>
            <a:endParaRPr/>
          </a:p>
          <a:p>
            <a:pPr indent="-274320" lvl="0" marL="274320" rtl="0" algn="just">
              <a:spcBef>
                <a:spcPts val="400"/>
              </a:spcBef>
              <a:spcAft>
                <a:spcPts val="0"/>
              </a:spcAft>
              <a:buSzPts val="1900"/>
              <a:buChar char="⚫"/>
            </a:pPr>
            <a:r>
              <a:rPr b="0" i="0" lang="en-US" sz="2000"/>
              <a:t>probability of getting exactly 1 head=P(X=1)=3/8=0.375</a:t>
            </a:r>
            <a:endParaRPr/>
          </a:p>
          <a:p>
            <a:pPr indent="-274320" lvl="0" marL="274320" rtl="0" algn="just">
              <a:spcBef>
                <a:spcPts val="400"/>
              </a:spcBef>
              <a:spcAft>
                <a:spcPts val="0"/>
              </a:spcAft>
              <a:buSzPts val="1900"/>
              <a:buChar char="⚫"/>
            </a:pPr>
            <a:r>
              <a:rPr b="0" i="0" lang="en-US" sz="2000"/>
              <a:t>P(X=2)=3/8=0.375</a:t>
            </a:r>
            <a:endParaRPr/>
          </a:p>
          <a:p>
            <a:pPr indent="-274320" lvl="0" marL="274320" rtl="0" algn="just">
              <a:spcBef>
                <a:spcPts val="400"/>
              </a:spcBef>
              <a:spcAft>
                <a:spcPts val="0"/>
              </a:spcAft>
              <a:buSzPts val="1900"/>
              <a:buChar char="⚫"/>
            </a:pPr>
            <a:r>
              <a:rPr b="0" i="0" lang="en-US" sz="2000"/>
              <a:t>P(x=3)=1/8=0.125</a:t>
            </a:r>
            <a:endParaRPr/>
          </a:p>
          <a:p>
            <a:pPr indent="-274320" lvl="0" marL="274320" rtl="0" algn="just">
              <a:spcBef>
                <a:spcPts val="400"/>
              </a:spcBef>
              <a:spcAft>
                <a:spcPts val="0"/>
              </a:spcAft>
              <a:buSzPts val="1900"/>
              <a:buChar char="⚫"/>
            </a:pPr>
            <a:r>
              <a:rPr b="0" i="0" lang="en-US" sz="2000"/>
              <a:t>If we sum up the probabilities of all outcomes, it will be equal to one. This gives us the Probability Distribution of that random variable.</a:t>
            </a:r>
            <a:endParaRPr/>
          </a:p>
          <a:p>
            <a:pPr indent="-153670" lvl="0" marL="274320" rtl="0" algn="just">
              <a:spcBef>
                <a:spcPts val="400"/>
              </a:spcBef>
              <a:spcAft>
                <a:spcPts val="0"/>
              </a:spcAft>
              <a:buSzPts val="1900"/>
              <a:buNone/>
            </a:pPr>
            <a:r>
              <a:t/>
            </a:r>
            <a:endParaRPr sz="2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3"/>
          <p:cNvSpPr txBox="1"/>
          <p:nvPr>
            <p:ph type="title"/>
          </p:nvPr>
        </p:nvSpPr>
        <p:spPr>
          <a:xfrm>
            <a:off x="489045" y="501359"/>
            <a:ext cx="8229600" cy="1143000"/>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Probability Mass Function(PMF) of Discrete Random Variable</a:t>
            </a:r>
            <a:endParaRPr sz="3600"/>
          </a:p>
        </p:txBody>
      </p:sp>
      <p:sp>
        <p:nvSpPr>
          <p:cNvPr id="442" name="Google Shape;442;p53"/>
          <p:cNvSpPr txBox="1"/>
          <p:nvPr>
            <p:ph idx="1" type="body"/>
          </p:nvPr>
        </p:nvSpPr>
        <p:spPr>
          <a:xfrm>
            <a:off x="455707" y="18288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In the case of Discrete Random Variables, the function that denotes the probability of the random variable for each x in the range of X is known as the </a:t>
            </a:r>
            <a:r>
              <a:rPr b="1" i="0" lang="en-US" sz="2000"/>
              <a:t>Probability Mass Function(PMF). </a:t>
            </a:r>
            <a:r>
              <a:rPr b="0" i="0" lang="en-US" sz="2000"/>
              <a:t> </a:t>
            </a:r>
            <a:endParaRPr/>
          </a:p>
          <a:p>
            <a:pPr indent="-274320" lvl="0" marL="274320" rtl="0" algn="just">
              <a:spcBef>
                <a:spcPts val="400"/>
              </a:spcBef>
              <a:spcAft>
                <a:spcPts val="0"/>
              </a:spcAft>
              <a:buSzPts val="1900"/>
              <a:buChar char="⚫"/>
            </a:pPr>
            <a:r>
              <a:rPr b="0" i="0" lang="en-US" sz="2000"/>
              <a:t>It can be shown using tables or graph or mathematical equation.</a:t>
            </a:r>
            <a:endParaRPr sz="2000"/>
          </a:p>
        </p:txBody>
      </p:sp>
      <p:pic>
        <p:nvPicPr>
          <p:cNvPr id="443" name="Google Shape;443;p53"/>
          <p:cNvPicPr preferRelativeResize="0"/>
          <p:nvPr/>
        </p:nvPicPr>
        <p:blipFill rotWithShape="1">
          <a:blip r:embed="rId3">
            <a:alphaModFix/>
          </a:blip>
          <a:srcRect b="0" l="0" r="0" t="0"/>
          <a:stretch/>
        </p:blipFill>
        <p:spPr>
          <a:xfrm>
            <a:off x="457200" y="3322320"/>
            <a:ext cx="3657600" cy="2362200"/>
          </a:xfrm>
          <a:prstGeom prst="rect">
            <a:avLst/>
          </a:prstGeom>
          <a:noFill/>
          <a:ln>
            <a:noFill/>
          </a:ln>
        </p:spPr>
      </p:pic>
      <p:pic>
        <p:nvPicPr>
          <p:cNvPr id="444" name="Google Shape;444;p53"/>
          <p:cNvPicPr preferRelativeResize="0"/>
          <p:nvPr/>
        </p:nvPicPr>
        <p:blipFill rotWithShape="1">
          <a:blip r:embed="rId4">
            <a:alphaModFix/>
          </a:blip>
          <a:srcRect b="0" l="0" r="0" t="0"/>
          <a:stretch/>
        </p:blipFill>
        <p:spPr>
          <a:xfrm>
            <a:off x="4265707" y="3192425"/>
            <a:ext cx="4419600" cy="247590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4"/>
          <p:cNvSpPr txBox="1"/>
          <p:nvPr>
            <p:ph type="title"/>
          </p:nvPr>
        </p:nvSpPr>
        <p:spPr>
          <a:xfrm>
            <a:off x="609600" y="585216"/>
            <a:ext cx="8458200" cy="1700784"/>
          </a:xfrm>
          <a:prstGeom prst="rect">
            <a:avLst/>
          </a:prstGeom>
          <a:noFill/>
          <a:ln>
            <a:noFill/>
          </a:ln>
        </p:spPr>
        <p:txBody>
          <a:bodyPr anchorCtr="0" anchor="b" bIns="0" lIns="0" spcFirstLastPara="1" rIns="0" wrap="square" tIns="45700">
            <a:normAutofit/>
          </a:bodyPr>
          <a:lstStyle/>
          <a:p>
            <a:pPr indent="0" lvl="0" marL="0" marR="0" rtl="0" algn="just">
              <a:lnSpc>
                <a:spcPct val="100000"/>
              </a:lnSpc>
              <a:spcBef>
                <a:spcPts val="0"/>
              </a:spcBef>
              <a:spcAft>
                <a:spcPts val="0"/>
              </a:spcAft>
              <a:buClr>
                <a:schemeClr val="dk2"/>
              </a:buClr>
              <a:buSzPts val="1600"/>
              <a:buFont typeface="Times New Roman"/>
              <a:buNone/>
            </a:pPr>
            <a:r>
              <a:rPr lang="en-US" sz="1600" cap="none">
                <a:latin typeface="Times New Roman"/>
                <a:ea typeface="Times New Roman"/>
                <a:cs typeface="Times New Roman"/>
                <a:sym typeface="Times New Roman"/>
              </a:rPr>
              <a:t>         </a:t>
            </a:r>
            <a:br>
              <a:rPr lang="en-US" sz="1600" cap="none">
                <a:latin typeface="Times New Roman"/>
                <a:ea typeface="Times New Roman"/>
                <a:cs typeface="Times New Roman"/>
                <a:sym typeface="Times New Roman"/>
              </a:rPr>
            </a:br>
            <a:endParaRPr sz="1600" cap="none">
              <a:latin typeface="Times New Roman"/>
              <a:ea typeface="Times New Roman"/>
              <a:cs typeface="Times New Roman"/>
              <a:sym typeface="Times New Roman"/>
            </a:endParaRPr>
          </a:p>
        </p:txBody>
      </p:sp>
      <p:sp>
        <p:nvSpPr>
          <p:cNvPr id="450" name="Google Shape;450;p54"/>
          <p:cNvSpPr txBox="1"/>
          <p:nvPr>
            <p:ph idx="1" type="body"/>
          </p:nvPr>
        </p:nvSpPr>
        <p:spPr>
          <a:xfrm>
            <a:off x="0" y="1600200"/>
            <a:ext cx="8806869" cy="51054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Note that the values of x take on all possible cases. and the sum of the probabilities add to 1. mathematically, this can be written as f(x) = p(x = x). the </a:t>
            </a:r>
            <a:r>
              <a:rPr b="1" lang="en-US" sz="2000"/>
              <a:t>set of ordered pairs (x, f(x)) is called the probability function</a:t>
            </a:r>
            <a:r>
              <a:rPr lang="en-US" sz="2000"/>
              <a:t>, probability mass function or probability distribution function of the discrete random variable x. f(x) is considered a probability mass function if it satisfies the following conditions:</a:t>
            </a:r>
            <a:endParaRPr b="0" i="0" sz="2000"/>
          </a:p>
          <a:p>
            <a:pPr indent="-274320" lvl="0" marL="274320" rtl="0" algn="just">
              <a:spcBef>
                <a:spcPts val="400"/>
              </a:spcBef>
              <a:spcAft>
                <a:spcPts val="0"/>
              </a:spcAft>
              <a:buSzPts val="1900"/>
              <a:buChar char="⚫"/>
            </a:pPr>
            <a:r>
              <a:rPr b="0" i="0" lang="en-US" sz="2000"/>
              <a:t>In case of rolling of a die, the probability of each value X can take is the same. So the probability distribution in this case will be:</a:t>
            </a:r>
            <a:br>
              <a:rPr lang="en-US" sz="2000"/>
            </a:br>
            <a:r>
              <a:rPr b="0" i="0" lang="en-US" sz="2000"/>
              <a:t>P(X=1) = 1/6, P(X=2) = 1/6 and so on. </a:t>
            </a:r>
            <a:endParaRPr/>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b="0" i="0" sz="2000"/>
          </a:p>
          <a:p>
            <a:pPr indent="-153670" lvl="0" marL="274320" rtl="0" algn="just">
              <a:spcBef>
                <a:spcPts val="400"/>
              </a:spcBef>
              <a:spcAft>
                <a:spcPts val="0"/>
              </a:spcAft>
              <a:buSzPts val="1900"/>
              <a:buNone/>
            </a:pPr>
            <a:r>
              <a:t/>
            </a:r>
            <a:endParaRPr b="0" i="0" sz="2000"/>
          </a:p>
          <a:p>
            <a:pPr indent="-274320" lvl="0" marL="274320" rtl="0" algn="just">
              <a:spcBef>
                <a:spcPts val="400"/>
              </a:spcBef>
              <a:spcAft>
                <a:spcPts val="0"/>
              </a:spcAft>
              <a:buSzPts val="1900"/>
              <a:buChar char="⚫"/>
            </a:pPr>
            <a:r>
              <a:rPr b="0" i="0" lang="en-US" sz="2000"/>
              <a:t>Note that the values of x take on all possible cases. And the sum of the probabilities add to 1.</a:t>
            </a:r>
            <a:endParaRPr sz="2000"/>
          </a:p>
        </p:txBody>
      </p:sp>
      <p:pic>
        <p:nvPicPr>
          <p:cNvPr id="451" name="Google Shape;451;p54"/>
          <p:cNvPicPr preferRelativeResize="0"/>
          <p:nvPr/>
        </p:nvPicPr>
        <p:blipFill rotWithShape="1">
          <a:blip r:embed="rId3">
            <a:alphaModFix/>
          </a:blip>
          <a:srcRect b="0" l="0" r="0" t="0"/>
          <a:stretch/>
        </p:blipFill>
        <p:spPr>
          <a:xfrm>
            <a:off x="1524000" y="4724400"/>
            <a:ext cx="4514850" cy="809625"/>
          </a:xfrm>
          <a:prstGeom prst="rect">
            <a:avLst/>
          </a:prstGeom>
          <a:noFill/>
          <a:ln>
            <a:noFill/>
          </a:ln>
        </p:spPr>
      </p:pic>
      <p:sp>
        <p:nvSpPr>
          <p:cNvPr id="452" name="Google Shape;452;p54"/>
          <p:cNvSpPr/>
          <p:nvPr/>
        </p:nvSpPr>
        <p:spPr>
          <a:xfrm>
            <a:off x="0" y="43934"/>
            <a:ext cx="184731" cy="369332"/>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onstantia"/>
              <a:buNone/>
            </a:pPr>
            <a:r>
              <a:t/>
            </a:r>
            <a:endParaRPr b="0" i="0" sz="1800" u="none" cap="none" strike="noStrike">
              <a:solidFill>
                <a:schemeClr val="dk1"/>
              </a:solidFill>
              <a:latin typeface="Arial"/>
              <a:ea typeface="Arial"/>
              <a:cs typeface="Arial"/>
              <a:sym typeface="Arial"/>
            </a:endParaRPr>
          </a:p>
        </p:txBody>
      </p:sp>
      <p:sp>
        <p:nvSpPr>
          <p:cNvPr id="453" name="Google Shape;453;p54"/>
          <p:cNvSpPr txBox="1"/>
          <p:nvPr/>
        </p:nvSpPr>
        <p:spPr>
          <a:xfrm>
            <a:off x="457200" y="228600"/>
            <a:ext cx="8229600" cy="1143000"/>
          </a:xfrm>
          <a:prstGeom prst="rect">
            <a:avLst/>
          </a:prstGeom>
          <a:noFill/>
          <a:ln>
            <a:noFill/>
          </a:ln>
        </p:spPr>
        <p:txBody>
          <a:bodyPr anchorCtr="0" anchor="t" bIns="0" lIns="0" spcFirstLastPara="1" rIns="0" wrap="square" tIns="45700">
            <a:noAutofit/>
          </a:bodyPr>
          <a:lstStyle/>
          <a:p>
            <a:pPr indent="0" lvl="0" marL="0" marR="0" rtl="0" algn="l">
              <a:spcBef>
                <a:spcPts val="0"/>
              </a:spcBef>
              <a:spcAft>
                <a:spcPts val="0"/>
              </a:spcAft>
              <a:buClr>
                <a:schemeClr val="dk2"/>
              </a:buClr>
              <a:buSzPts val="4000"/>
              <a:buFont typeface="Calibri"/>
              <a:buNone/>
            </a:pPr>
            <a:r>
              <a:rPr b="0" lang="en-US" sz="4000">
                <a:solidFill>
                  <a:schemeClr val="dk2"/>
                </a:solidFill>
                <a:latin typeface="Calibri"/>
                <a:ea typeface="Calibri"/>
                <a:cs typeface="Calibri"/>
                <a:sym typeface="Calibri"/>
              </a:rPr>
              <a:t>Probability Distribution Function(PDF) of Discrete Random Variable</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5"/>
          <p:cNvSpPr txBox="1"/>
          <p:nvPr>
            <p:ph idx="1" type="body"/>
          </p:nvPr>
        </p:nvSpPr>
        <p:spPr>
          <a:xfrm>
            <a:off x="489045" y="14478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Mathematically, this can be written as </a:t>
            </a:r>
            <a:r>
              <a:rPr b="0" i="1" lang="en-US" sz="2000"/>
              <a:t>f</a:t>
            </a:r>
            <a:r>
              <a:rPr b="0" i="0" lang="en-US" sz="2000"/>
              <a:t>(</a:t>
            </a:r>
            <a:r>
              <a:rPr b="0" i="1" lang="en-US" sz="2000"/>
              <a:t>x</a:t>
            </a:r>
            <a:r>
              <a:rPr b="0" i="0" lang="en-US" sz="2000"/>
              <a:t>) = P(X = </a:t>
            </a:r>
            <a:r>
              <a:rPr b="0" i="1" lang="en-US" sz="2000"/>
              <a:t>x</a:t>
            </a:r>
            <a:r>
              <a:rPr b="0" i="0" lang="en-US" sz="2000"/>
              <a:t>). </a:t>
            </a:r>
            <a:endParaRPr/>
          </a:p>
          <a:p>
            <a:pPr indent="-274320" lvl="0" marL="274320" rtl="0" algn="just">
              <a:spcBef>
                <a:spcPts val="400"/>
              </a:spcBef>
              <a:spcAft>
                <a:spcPts val="0"/>
              </a:spcAft>
              <a:buSzPts val="1900"/>
              <a:buChar char="⚫"/>
            </a:pPr>
            <a:r>
              <a:rPr b="0" i="0" lang="en-US" sz="2000"/>
              <a:t>The set of ordered pairs (</a:t>
            </a:r>
            <a:r>
              <a:rPr b="0" i="1" lang="en-US" sz="2000"/>
              <a:t>x, f</a:t>
            </a:r>
            <a:r>
              <a:rPr b="0" i="0" lang="en-US" sz="2000"/>
              <a:t>(</a:t>
            </a:r>
            <a:r>
              <a:rPr b="0" i="1" lang="en-US" sz="2000"/>
              <a:t>x</a:t>
            </a:r>
            <a:r>
              <a:rPr b="0" i="0" lang="en-US" sz="2000"/>
              <a:t>)) is called the </a:t>
            </a:r>
            <a:r>
              <a:rPr b="1" i="0" lang="en-US" sz="2000"/>
              <a:t>probability function</a:t>
            </a:r>
            <a:r>
              <a:rPr b="0" i="0" lang="en-US" sz="2000"/>
              <a:t>, </a:t>
            </a:r>
            <a:r>
              <a:rPr b="1" i="0" lang="en-US" sz="2000"/>
              <a:t>probability mass function</a:t>
            </a:r>
            <a:r>
              <a:rPr b="0" i="0" lang="en-US" sz="2000"/>
              <a:t> or </a:t>
            </a:r>
            <a:r>
              <a:rPr b="1" i="0" lang="en-US" sz="2000"/>
              <a:t>probability distribution function</a:t>
            </a:r>
            <a:r>
              <a:rPr b="0" i="0" lang="en-US" sz="2000"/>
              <a:t> of the discrete random variable X.</a:t>
            </a:r>
            <a:endParaRPr/>
          </a:p>
          <a:p>
            <a:pPr indent="-274320" lvl="0" marL="274320" rtl="0" algn="just">
              <a:spcBef>
                <a:spcPts val="400"/>
              </a:spcBef>
              <a:spcAft>
                <a:spcPts val="0"/>
              </a:spcAft>
              <a:buSzPts val="1900"/>
              <a:buChar char="⚫"/>
            </a:pPr>
            <a:r>
              <a:rPr b="0" i="0" lang="en-US" sz="2000"/>
              <a:t>f(</a:t>
            </a:r>
            <a:r>
              <a:rPr b="0" i="1" lang="en-US" sz="2000"/>
              <a:t>x</a:t>
            </a:r>
            <a:r>
              <a:rPr b="0" i="0" lang="en-US" sz="2000"/>
              <a:t>) is considered a probability mass function if it satisfies the following conditions:</a:t>
            </a:r>
            <a:endParaRPr/>
          </a:p>
          <a:p>
            <a:pPr indent="-153670" lvl="0" marL="274320" rtl="0" algn="just">
              <a:spcBef>
                <a:spcPts val="400"/>
              </a:spcBef>
              <a:spcAft>
                <a:spcPts val="0"/>
              </a:spcAft>
              <a:buSzPts val="1900"/>
              <a:buNone/>
            </a:pPr>
            <a:r>
              <a:t/>
            </a:r>
            <a:endParaRPr sz="2000"/>
          </a:p>
        </p:txBody>
      </p:sp>
      <p:pic>
        <p:nvPicPr>
          <p:cNvPr id="459" name="Google Shape;459;p55"/>
          <p:cNvPicPr preferRelativeResize="0"/>
          <p:nvPr/>
        </p:nvPicPr>
        <p:blipFill rotWithShape="1">
          <a:blip r:embed="rId3">
            <a:alphaModFix/>
          </a:blip>
          <a:srcRect b="0" l="0" r="0" t="0"/>
          <a:stretch/>
        </p:blipFill>
        <p:spPr>
          <a:xfrm>
            <a:off x="3308445" y="3142628"/>
            <a:ext cx="2590800" cy="1439333"/>
          </a:xfrm>
          <a:prstGeom prst="rect">
            <a:avLst/>
          </a:prstGeom>
          <a:noFill/>
          <a:ln>
            <a:noFill/>
          </a:ln>
        </p:spPr>
      </p:pic>
      <p:sp>
        <p:nvSpPr>
          <p:cNvPr id="460" name="Google Shape;460;p55"/>
          <p:cNvSpPr txBox="1"/>
          <p:nvPr>
            <p:ph type="title"/>
          </p:nvPr>
        </p:nvSpPr>
        <p:spPr>
          <a:xfrm>
            <a:off x="489045" y="159689"/>
            <a:ext cx="8229600" cy="1143000"/>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chemeClr val="dk2"/>
              </a:buClr>
              <a:buSzPts val="4000"/>
              <a:buFont typeface="Calibri"/>
              <a:buNone/>
            </a:pPr>
            <a:r>
              <a:rPr lang="en-US" sz="4000"/>
              <a:t>Probability Distribution Function(PDF) of Discrete Random Variable</a:t>
            </a:r>
            <a:endParaRPr/>
          </a:p>
        </p:txBody>
      </p:sp>
      <p:pic>
        <p:nvPicPr>
          <p:cNvPr id="461" name="Google Shape;461;p55"/>
          <p:cNvPicPr preferRelativeResize="0"/>
          <p:nvPr/>
        </p:nvPicPr>
        <p:blipFill rotWithShape="1">
          <a:blip r:embed="rId4">
            <a:alphaModFix/>
          </a:blip>
          <a:srcRect b="0" l="0" r="0" t="0"/>
          <a:stretch/>
        </p:blipFill>
        <p:spPr>
          <a:xfrm>
            <a:off x="685800" y="4940088"/>
            <a:ext cx="6553200" cy="1665514"/>
          </a:xfrm>
          <a:prstGeom prst="rect">
            <a:avLst/>
          </a:prstGeom>
          <a:noFill/>
          <a:ln>
            <a:noFill/>
          </a:ln>
        </p:spPr>
      </p:pic>
      <p:sp>
        <p:nvSpPr>
          <p:cNvPr id="462" name="Google Shape;462;p55"/>
          <p:cNvSpPr txBox="1"/>
          <p:nvPr/>
        </p:nvSpPr>
        <p:spPr>
          <a:xfrm>
            <a:off x="838200" y="4346601"/>
            <a:ext cx="182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Example </a:t>
            </a:r>
            <a:endParaRPr b="1" sz="1800">
              <a:solidFill>
                <a:schemeClr val="dk1"/>
              </a:solidFill>
              <a:latin typeface="Constantia"/>
              <a:ea typeface="Constantia"/>
              <a:cs typeface="Constantia"/>
              <a:sym typeface="Constantia"/>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6"/>
          <p:cNvSpPr txBox="1"/>
          <p:nvPr>
            <p:ph idx="1" type="body"/>
          </p:nvPr>
        </p:nvSpPr>
        <p:spPr>
          <a:xfrm>
            <a:off x="465232" y="1649121"/>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solidFill>
                  <a:srgbClr val="292929"/>
                </a:solidFill>
              </a:rPr>
              <a:t>However, many times we may wish to compute the probability that the random variable X be lesser than or equal to some real number </a:t>
            </a:r>
            <a:r>
              <a:rPr b="0" i="1" lang="en-US" sz="2000">
                <a:solidFill>
                  <a:srgbClr val="292929"/>
                </a:solidFill>
              </a:rPr>
              <a:t>x. </a:t>
            </a:r>
            <a:endParaRPr/>
          </a:p>
          <a:p>
            <a:pPr indent="-274320" lvl="0" marL="274320" rtl="0" algn="just">
              <a:spcBef>
                <a:spcPts val="400"/>
              </a:spcBef>
              <a:spcAft>
                <a:spcPts val="0"/>
              </a:spcAft>
              <a:buSzPts val="1900"/>
              <a:buChar char="⚫"/>
            </a:pPr>
            <a:r>
              <a:rPr b="0" i="0" lang="en-US" sz="2000">
                <a:solidFill>
                  <a:srgbClr val="292929"/>
                </a:solidFill>
              </a:rPr>
              <a:t>Writing F(</a:t>
            </a:r>
            <a:r>
              <a:rPr b="0" i="1" lang="en-US" sz="2000">
                <a:solidFill>
                  <a:srgbClr val="292929"/>
                </a:solidFill>
              </a:rPr>
              <a:t>x</a:t>
            </a:r>
            <a:r>
              <a:rPr b="0" i="0" lang="en-US" sz="2000">
                <a:solidFill>
                  <a:srgbClr val="292929"/>
                </a:solidFill>
              </a:rPr>
              <a:t>) = P(X ≤ </a:t>
            </a:r>
            <a:r>
              <a:rPr b="0" i="1" lang="en-US" sz="2000">
                <a:solidFill>
                  <a:srgbClr val="292929"/>
                </a:solidFill>
              </a:rPr>
              <a:t>x</a:t>
            </a:r>
            <a:r>
              <a:rPr b="0" i="0" lang="en-US" sz="2000">
                <a:solidFill>
                  <a:srgbClr val="292929"/>
                </a:solidFill>
              </a:rPr>
              <a:t>) for every real number </a:t>
            </a:r>
            <a:r>
              <a:rPr b="0" i="1" lang="en-US" sz="2000">
                <a:solidFill>
                  <a:srgbClr val="292929"/>
                </a:solidFill>
              </a:rPr>
              <a:t>x</a:t>
            </a:r>
            <a:r>
              <a:rPr b="0" i="0" lang="en-US" sz="2000">
                <a:solidFill>
                  <a:srgbClr val="292929"/>
                </a:solidFill>
              </a:rPr>
              <a:t>, we define F(</a:t>
            </a:r>
            <a:r>
              <a:rPr b="0" i="1" lang="en-US" sz="2000">
                <a:solidFill>
                  <a:srgbClr val="292929"/>
                </a:solidFill>
              </a:rPr>
              <a:t>x</a:t>
            </a:r>
            <a:r>
              <a:rPr b="0" i="0" lang="en-US" sz="2000">
                <a:solidFill>
                  <a:srgbClr val="292929"/>
                </a:solidFill>
              </a:rPr>
              <a:t>) to be the </a:t>
            </a:r>
            <a:r>
              <a:rPr b="1" i="0" lang="en-US" sz="2000">
                <a:solidFill>
                  <a:srgbClr val="292929"/>
                </a:solidFill>
              </a:rPr>
              <a:t>cumulative distribution function</a:t>
            </a:r>
            <a:r>
              <a:rPr b="0" i="0" lang="en-US" sz="2000">
                <a:solidFill>
                  <a:srgbClr val="292929"/>
                </a:solidFill>
              </a:rPr>
              <a:t> of the random variable X.</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pic>
        <p:nvPicPr>
          <p:cNvPr id="469" name="Google Shape;469;p56"/>
          <p:cNvPicPr preferRelativeResize="0"/>
          <p:nvPr/>
        </p:nvPicPr>
        <p:blipFill rotWithShape="1">
          <a:blip r:embed="rId3">
            <a:alphaModFix/>
          </a:blip>
          <a:srcRect b="0" l="0" r="0" t="0"/>
          <a:stretch/>
        </p:blipFill>
        <p:spPr>
          <a:xfrm>
            <a:off x="1524000" y="3288896"/>
            <a:ext cx="5981148" cy="749703"/>
          </a:xfrm>
          <a:prstGeom prst="rect">
            <a:avLst/>
          </a:prstGeom>
          <a:noFill/>
          <a:ln>
            <a:noFill/>
          </a:ln>
        </p:spPr>
      </p:pic>
      <p:sp>
        <p:nvSpPr>
          <p:cNvPr id="470" name="Google Shape;470;p56"/>
          <p:cNvSpPr txBox="1"/>
          <p:nvPr>
            <p:ph type="title"/>
          </p:nvPr>
        </p:nvSpPr>
        <p:spPr>
          <a:xfrm>
            <a:off x="489045" y="501359"/>
            <a:ext cx="8229600" cy="1143000"/>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chemeClr val="dk2"/>
              </a:buClr>
              <a:buSzPts val="3600"/>
              <a:buFont typeface="Calibri"/>
              <a:buNone/>
            </a:pPr>
            <a:r>
              <a:rPr lang="en-US" sz="3600"/>
              <a:t>Cumulative distribution Function(CDF) of Discrete Random Variable</a:t>
            </a:r>
            <a:endParaRPr/>
          </a:p>
        </p:txBody>
      </p:sp>
      <p:sp>
        <p:nvSpPr>
          <p:cNvPr id="471" name="Google Shape;471;p56"/>
          <p:cNvSpPr/>
          <p:nvPr/>
        </p:nvSpPr>
        <p:spPr>
          <a:xfrm>
            <a:off x="441418" y="4043361"/>
            <a:ext cx="786438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Example 1</a:t>
            </a:r>
            <a:endParaRPr/>
          </a:p>
          <a:p>
            <a:pPr indent="0" lvl="0" marL="0" marR="0" rtl="0" algn="l">
              <a:spcBef>
                <a:spcPts val="0"/>
              </a:spcBef>
              <a:spcAft>
                <a:spcPts val="0"/>
              </a:spcAft>
              <a:buNone/>
            </a:pPr>
            <a:r>
              <a:t/>
            </a:r>
            <a:endParaRPr b="1"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Cumulative distribution function, F(xi ), is the probability that the random variable X takes values less than or equal xi . That is, F(xi ) = P(X ≤ xi ). </a:t>
            </a:r>
            <a:endParaRPr/>
          </a:p>
        </p:txBody>
      </p:sp>
      <p:sp>
        <p:nvSpPr>
          <p:cNvPr id="472" name="Google Shape;472;p56"/>
          <p:cNvSpPr/>
          <p:nvPr/>
        </p:nvSpPr>
        <p:spPr>
          <a:xfrm>
            <a:off x="508095" y="5429651"/>
            <a:ext cx="67975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onstantia"/>
                <a:ea typeface="Constantia"/>
                <a:cs typeface="Constantia"/>
                <a:sym typeface="Constantia"/>
              </a:rPr>
              <a:t>F(2) = P(X ≤ 2) = P(X = 0) + P(X = 1) + P(X = 2) = 0.60</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57"/>
          <p:cNvSpPr txBox="1"/>
          <p:nvPr>
            <p:ph type="title"/>
          </p:nvPr>
        </p:nvSpPr>
        <p:spPr>
          <a:xfrm>
            <a:off x="457200" y="704088"/>
            <a:ext cx="8229600" cy="1810512"/>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rgbClr val="000000"/>
              </a:buClr>
              <a:buSzPts val="2400"/>
              <a:buFont typeface="Constantia"/>
              <a:buNone/>
            </a:pPr>
            <a:r>
              <a:rPr b="1" i="0" lang="en-US" sz="2400">
                <a:solidFill>
                  <a:srgbClr val="000000"/>
                </a:solidFill>
                <a:latin typeface="Constantia"/>
                <a:ea typeface="Constantia"/>
                <a:cs typeface="Constantia"/>
                <a:sym typeface="Constantia"/>
              </a:rPr>
              <a:t>Example 2</a:t>
            </a:r>
            <a:br>
              <a:rPr b="0" i="0" lang="en-US" sz="2400">
                <a:solidFill>
                  <a:srgbClr val="000000"/>
                </a:solidFill>
                <a:latin typeface="Constantia"/>
                <a:ea typeface="Constantia"/>
                <a:cs typeface="Constantia"/>
                <a:sym typeface="Constantia"/>
              </a:rPr>
            </a:br>
            <a:r>
              <a:rPr b="0" i="0" lang="en-US" sz="2000">
                <a:solidFill>
                  <a:srgbClr val="000000"/>
                </a:solidFill>
                <a:latin typeface="Constantia"/>
                <a:ea typeface="Constantia"/>
                <a:cs typeface="Constantia"/>
                <a:sym typeface="Constantia"/>
              </a:rPr>
              <a:t>The probability of X is less than or 1 is 0.1. </a:t>
            </a:r>
            <a:br>
              <a:rPr b="0" i="0" lang="en-US" sz="2000">
                <a:solidFill>
                  <a:srgbClr val="000000"/>
                </a:solidFill>
                <a:latin typeface="Constantia"/>
                <a:ea typeface="Constantia"/>
                <a:cs typeface="Constantia"/>
                <a:sym typeface="Constantia"/>
              </a:rPr>
            </a:br>
            <a:r>
              <a:rPr b="0" i="0" lang="en-US" sz="2000">
                <a:solidFill>
                  <a:srgbClr val="000000"/>
                </a:solidFill>
                <a:latin typeface="Constantia"/>
                <a:ea typeface="Constantia"/>
                <a:cs typeface="Constantia"/>
                <a:sym typeface="Constantia"/>
              </a:rPr>
              <a:t>Similarly, probability of X is less than or equal to 2 is (0.1+0.3) =0.4 and so on</a:t>
            </a:r>
            <a:r>
              <a:rPr b="0" i="0" lang="en-US" sz="2400">
                <a:solidFill>
                  <a:srgbClr val="000000"/>
                </a:solidFill>
                <a:latin typeface="Constantia"/>
                <a:ea typeface="Constantia"/>
                <a:cs typeface="Constantia"/>
                <a:sym typeface="Constantia"/>
              </a:rPr>
              <a:t>.</a:t>
            </a:r>
            <a:endParaRPr sz="2400">
              <a:latin typeface="Constantia"/>
              <a:ea typeface="Constantia"/>
              <a:cs typeface="Constantia"/>
              <a:sym typeface="Constantia"/>
            </a:endParaRPr>
          </a:p>
        </p:txBody>
      </p:sp>
      <p:pic>
        <p:nvPicPr>
          <p:cNvPr id="478" name="Google Shape;478;p57"/>
          <p:cNvPicPr preferRelativeResize="0"/>
          <p:nvPr/>
        </p:nvPicPr>
        <p:blipFill rotWithShape="1">
          <a:blip r:embed="rId3">
            <a:alphaModFix/>
          </a:blip>
          <a:srcRect b="0" l="0" r="0" t="0"/>
          <a:stretch/>
        </p:blipFill>
        <p:spPr>
          <a:xfrm>
            <a:off x="457200" y="2486025"/>
            <a:ext cx="4449937" cy="2590800"/>
          </a:xfrm>
          <a:prstGeom prst="rect">
            <a:avLst/>
          </a:prstGeom>
          <a:noFill/>
          <a:ln>
            <a:noFill/>
          </a:ln>
        </p:spPr>
      </p:pic>
      <p:pic>
        <p:nvPicPr>
          <p:cNvPr id="479" name="Google Shape;479;p57"/>
          <p:cNvPicPr preferRelativeResize="0"/>
          <p:nvPr/>
        </p:nvPicPr>
        <p:blipFill rotWithShape="1">
          <a:blip r:embed="rId4">
            <a:alphaModFix/>
          </a:blip>
          <a:srcRect b="0" l="0" r="0" t="0"/>
          <a:stretch/>
        </p:blipFill>
        <p:spPr>
          <a:xfrm>
            <a:off x="5181600" y="2447925"/>
            <a:ext cx="3776472" cy="313601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8"/>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2400"/>
              <a:buFont typeface="Calibri"/>
              <a:buNone/>
            </a:pPr>
            <a:r>
              <a:rPr b="1" lang="en-US" sz="2400"/>
              <a:t>PROBABILITY DENSITY FUNCTION (PDF) AND CUMULATIVE DISTRIBUTION FUNCTION (CDF) OF A CONTINUOUS RANDOM VARIABLE</a:t>
            </a:r>
            <a:endParaRPr b="1" sz="2400"/>
          </a:p>
        </p:txBody>
      </p:sp>
      <p:sp>
        <p:nvSpPr>
          <p:cNvPr id="485" name="Google Shape;485;p5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1900"/>
              <a:buChar char="⚫"/>
            </a:pPr>
            <a:r>
              <a:rPr b="0" i="0" lang="en-US" sz="2000">
                <a:solidFill>
                  <a:srgbClr val="292929"/>
                </a:solidFill>
              </a:rPr>
              <a:t>The probability of a continuous random variable assuming exactly any of its values is 0. </a:t>
            </a:r>
            <a:endParaRPr/>
          </a:p>
          <a:p>
            <a:pPr indent="-274320" lvl="0" marL="274320" rtl="0" algn="l">
              <a:spcBef>
                <a:spcPts val="400"/>
              </a:spcBef>
              <a:spcAft>
                <a:spcPts val="0"/>
              </a:spcAft>
              <a:buSzPts val="1900"/>
              <a:buChar char="⚫"/>
            </a:pPr>
            <a:r>
              <a:rPr b="0" i="0" lang="en-US" sz="2000">
                <a:solidFill>
                  <a:srgbClr val="292929"/>
                </a:solidFill>
              </a:rPr>
              <a:t>Hence, the probability distribution for a continuous random variable cannot be given in tabular form. </a:t>
            </a:r>
            <a:endParaRPr/>
          </a:p>
          <a:p>
            <a:pPr indent="-274320" lvl="0" marL="274320" rtl="0" algn="l">
              <a:spcBef>
                <a:spcPts val="400"/>
              </a:spcBef>
              <a:spcAft>
                <a:spcPts val="0"/>
              </a:spcAft>
              <a:buSzPts val="1900"/>
              <a:buChar char="⚫"/>
            </a:pPr>
            <a:r>
              <a:rPr b="0" i="0" lang="en-US" sz="2000">
                <a:solidFill>
                  <a:srgbClr val="000000"/>
                </a:solidFill>
              </a:rPr>
              <a:t>The probability density function of a continuous random variable is a function which can be integrated to obtain the probability that the random variable takes a value in a given interval. </a:t>
            </a:r>
            <a:endParaRPr b="0" i="0" sz="2000">
              <a:solidFill>
                <a:srgbClr val="292929"/>
              </a:solidFill>
            </a:endParaRPr>
          </a:p>
          <a:p>
            <a:pPr indent="-274320" lvl="0" marL="274320" rtl="0" algn="l">
              <a:spcBef>
                <a:spcPts val="400"/>
              </a:spcBef>
              <a:spcAft>
                <a:spcPts val="0"/>
              </a:spcAft>
              <a:buSzPts val="1900"/>
              <a:buChar char="⚫"/>
            </a:pPr>
            <a:r>
              <a:rPr b="0" i="0" lang="en-US" sz="2000">
                <a:solidFill>
                  <a:srgbClr val="292929"/>
                </a:solidFill>
              </a:rPr>
              <a:t>The probability for a continuous random variable is always computed at intervals : P(a≤X≤b).</a:t>
            </a:r>
            <a:endParaRPr/>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a:p>
            <a:pPr indent="-274320" lvl="0" marL="274320" rtl="0" algn="l">
              <a:spcBef>
                <a:spcPts val="360"/>
              </a:spcBef>
              <a:spcAft>
                <a:spcPts val="0"/>
              </a:spcAft>
              <a:buSzPts val="1710"/>
              <a:buChar char="⚫"/>
            </a:pPr>
            <a:r>
              <a:rPr lang="en-US" sz="1800">
                <a:solidFill>
                  <a:srgbClr val="292929"/>
                </a:solidFill>
              </a:rPr>
              <a:t>The probability distribution of a continuous random variable can be stated as a formula; and f(</a:t>
            </a:r>
            <a:r>
              <a:rPr i="1" lang="en-US" sz="1800">
                <a:solidFill>
                  <a:srgbClr val="292929"/>
                </a:solidFill>
              </a:rPr>
              <a:t>x</a:t>
            </a:r>
            <a:r>
              <a:rPr lang="en-US" sz="1800">
                <a:solidFill>
                  <a:srgbClr val="292929"/>
                </a:solidFill>
              </a:rPr>
              <a:t>) is called the </a:t>
            </a:r>
            <a:r>
              <a:rPr b="1" lang="en-US" sz="1800">
                <a:solidFill>
                  <a:srgbClr val="292929"/>
                </a:solidFill>
              </a:rPr>
              <a:t>probability density function</a:t>
            </a:r>
            <a:r>
              <a:rPr lang="en-US" sz="1800">
                <a:solidFill>
                  <a:srgbClr val="292929"/>
                </a:solidFill>
              </a:rPr>
              <a:t>, or simply a </a:t>
            </a:r>
            <a:r>
              <a:rPr b="1" lang="en-US" sz="1800">
                <a:solidFill>
                  <a:srgbClr val="292929"/>
                </a:solidFill>
              </a:rPr>
              <a:t>density function, </a:t>
            </a:r>
            <a:r>
              <a:rPr lang="en-US" sz="1800">
                <a:solidFill>
                  <a:srgbClr val="292929"/>
                </a:solidFill>
              </a:rPr>
              <a:t>of X. </a:t>
            </a:r>
            <a:endParaRPr/>
          </a:p>
          <a:p>
            <a:pPr indent="-153670" lvl="0" marL="274320" rtl="0" algn="l">
              <a:spcBef>
                <a:spcPts val="400"/>
              </a:spcBef>
              <a:spcAft>
                <a:spcPts val="0"/>
              </a:spcAft>
              <a:buSzPts val="1900"/>
              <a:buNone/>
            </a:pPr>
            <a:r>
              <a:t/>
            </a:r>
            <a:endParaRPr sz="2000"/>
          </a:p>
        </p:txBody>
      </p:sp>
      <p:pic>
        <p:nvPicPr>
          <p:cNvPr id="486" name="Google Shape;486;p58"/>
          <p:cNvPicPr preferRelativeResize="0"/>
          <p:nvPr/>
        </p:nvPicPr>
        <p:blipFill rotWithShape="1">
          <a:blip r:embed="rId3">
            <a:alphaModFix/>
          </a:blip>
          <a:srcRect b="0" l="0" r="0" t="0"/>
          <a:stretch/>
        </p:blipFill>
        <p:spPr>
          <a:xfrm>
            <a:off x="3186112" y="4724400"/>
            <a:ext cx="2771775" cy="5715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9"/>
          <p:cNvSpPr txBox="1"/>
          <p:nvPr>
            <p:ph idx="1" type="body"/>
          </p:nvPr>
        </p:nvSpPr>
        <p:spPr>
          <a:xfrm>
            <a:off x="352424" y="1517332"/>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900"/>
              <a:buChar char="⚫"/>
            </a:pPr>
            <a:r>
              <a:rPr lang="en-US" sz="2000"/>
              <a:t>Here probability is given by the surface area under the curve with a interval. To find the probability of a certain interval, say a to b, we find the area under that curve by integrating the PDF in that interval.</a:t>
            </a:r>
            <a:endParaRPr/>
          </a:p>
          <a:p>
            <a:pPr indent="-274320" lvl="0" marL="274320" rtl="0" algn="l">
              <a:spcBef>
                <a:spcPts val="400"/>
              </a:spcBef>
              <a:spcAft>
                <a:spcPts val="0"/>
              </a:spcAft>
              <a:buSzPts val="1900"/>
              <a:buChar char="⚫"/>
            </a:pPr>
            <a:r>
              <a:rPr lang="en-US" sz="2000"/>
              <a:t>fₓ(x) is the </a:t>
            </a:r>
            <a:r>
              <a:rPr b="1" lang="en-US" sz="2000"/>
              <a:t>Probability Density Function</a:t>
            </a:r>
            <a:endParaRPr/>
          </a:p>
          <a:p>
            <a:pPr indent="-153670" lvl="0" marL="274320" rtl="0" algn="l">
              <a:spcBef>
                <a:spcPts val="400"/>
              </a:spcBef>
              <a:spcAft>
                <a:spcPts val="0"/>
              </a:spcAft>
              <a:buSzPts val="1900"/>
              <a:buNone/>
            </a:pPr>
            <a:r>
              <a:t/>
            </a:r>
            <a:endParaRPr sz="2000">
              <a:solidFill>
                <a:srgbClr val="292929"/>
              </a:solidFill>
            </a:endParaRPr>
          </a:p>
          <a:p>
            <a:pPr indent="-153670" lvl="0" marL="274320" rtl="0" algn="l">
              <a:spcBef>
                <a:spcPts val="400"/>
              </a:spcBef>
              <a:spcAft>
                <a:spcPts val="0"/>
              </a:spcAft>
              <a:buSzPts val="1900"/>
              <a:buNone/>
            </a:pPr>
            <a:r>
              <a:t/>
            </a:r>
            <a:endParaRPr sz="2000">
              <a:solidFill>
                <a:srgbClr val="292929"/>
              </a:solidFill>
            </a:endParaRPr>
          </a:p>
          <a:p>
            <a:pPr indent="-153670" lvl="0" marL="274320" rtl="0" algn="l">
              <a:spcBef>
                <a:spcPts val="400"/>
              </a:spcBef>
              <a:spcAft>
                <a:spcPts val="0"/>
              </a:spcAft>
              <a:buSzPts val="1900"/>
              <a:buNone/>
            </a:pPr>
            <a:r>
              <a:t/>
            </a:r>
            <a:endParaRPr sz="2000">
              <a:solidFill>
                <a:srgbClr val="292929"/>
              </a:solidFill>
            </a:endParaRPr>
          </a:p>
          <a:p>
            <a:pPr indent="-153670" lvl="0" marL="274320" rtl="0" algn="l">
              <a:spcBef>
                <a:spcPts val="400"/>
              </a:spcBef>
              <a:spcAft>
                <a:spcPts val="0"/>
              </a:spcAft>
              <a:buSzPts val="1900"/>
              <a:buNone/>
            </a:pPr>
            <a:r>
              <a:t/>
            </a:r>
            <a:endParaRPr sz="2000">
              <a:solidFill>
                <a:srgbClr val="292929"/>
              </a:solidFill>
            </a:endParaRPr>
          </a:p>
          <a:p>
            <a:pPr indent="-274320" lvl="0" marL="274320" rtl="0" algn="l">
              <a:spcBef>
                <a:spcPts val="400"/>
              </a:spcBef>
              <a:spcAft>
                <a:spcPts val="0"/>
              </a:spcAft>
              <a:buSzPts val="1900"/>
              <a:buChar char="⚫"/>
            </a:pPr>
            <a:r>
              <a:rPr lang="en-US" sz="2000">
                <a:solidFill>
                  <a:srgbClr val="292929"/>
                </a:solidFill>
              </a:rPr>
              <a:t>And the </a:t>
            </a:r>
            <a:r>
              <a:rPr b="1" lang="en-US" sz="2000">
                <a:solidFill>
                  <a:srgbClr val="292929"/>
                </a:solidFill>
              </a:rPr>
              <a:t>cumulative distribution function</a:t>
            </a:r>
            <a:r>
              <a:rPr lang="en-US" sz="2000">
                <a:solidFill>
                  <a:srgbClr val="292929"/>
                </a:solidFill>
              </a:rPr>
              <a:t> F(</a:t>
            </a:r>
            <a:r>
              <a:rPr i="1" lang="en-US" sz="2000">
                <a:solidFill>
                  <a:srgbClr val="292929"/>
                </a:solidFill>
              </a:rPr>
              <a:t>x</a:t>
            </a:r>
            <a:r>
              <a:rPr lang="en-US" sz="2000">
                <a:solidFill>
                  <a:srgbClr val="292929"/>
                </a:solidFill>
              </a:rPr>
              <a:t>) of a continuous random variable is given by:</a:t>
            </a:r>
            <a:endParaRPr/>
          </a:p>
          <a:p>
            <a:pPr indent="-153670" lvl="0" marL="274320" rtl="0" algn="l">
              <a:spcBef>
                <a:spcPts val="400"/>
              </a:spcBef>
              <a:spcAft>
                <a:spcPts val="0"/>
              </a:spcAft>
              <a:buSzPts val="1900"/>
              <a:buNone/>
            </a:pPr>
            <a:r>
              <a:t/>
            </a:r>
            <a:endParaRPr sz="2000"/>
          </a:p>
          <a:p>
            <a:pPr indent="-153670" lvl="0" marL="274320" rtl="0" algn="l">
              <a:spcBef>
                <a:spcPts val="400"/>
              </a:spcBef>
              <a:spcAft>
                <a:spcPts val="0"/>
              </a:spcAft>
              <a:buSzPts val="1900"/>
              <a:buNone/>
            </a:pPr>
            <a:r>
              <a:t/>
            </a:r>
            <a:endParaRPr sz="2000"/>
          </a:p>
        </p:txBody>
      </p:sp>
      <p:sp>
        <p:nvSpPr>
          <p:cNvPr id="492" name="Google Shape;492;p59"/>
          <p:cNvSpPr txBox="1"/>
          <p:nvPr>
            <p:ph type="title"/>
          </p:nvPr>
        </p:nvSpPr>
        <p:spPr>
          <a:xfrm>
            <a:off x="319087" y="374332"/>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2400"/>
              <a:buFont typeface="Calibri"/>
              <a:buNone/>
            </a:pPr>
            <a:r>
              <a:rPr b="1" lang="en-US" sz="2400"/>
              <a:t>PROBABILITY DENSITY FUNCTION (PDF) AND CUMULATIVE DISTRIBUTION FUNCTION (CDF) OF A CONTINUOUS RANDOM VARIABLE</a:t>
            </a:r>
            <a:endParaRPr b="1" sz="2400"/>
          </a:p>
        </p:txBody>
      </p:sp>
      <p:pic>
        <p:nvPicPr>
          <p:cNvPr id="493" name="Google Shape;493;p59"/>
          <p:cNvPicPr preferRelativeResize="0"/>
          <p:nvPr/>
        </p:nvPicPr>
        <p:blipFill rotWithShape="1">
          <a:blip r:embed="rId3">
            <a:alphaModFix/>
          </a:blip>
          <a:srcRect b="0" l="0" r="0" t="0"/>
          <a:stretch/>
        </p:blipFill>
        <p:spPr>
          <a:xfrm>
            <a:off x="1733550" y="2822256"/>
            <a:ext cx="3619500" cy="971550"/>
          </a:xfrm>
          <a:prstGeom prst="rect">
            <a:avLst/>
          </a:prstGeom>
          <a:noFill/>
          <a:ln>
            <a:noFill/>
          </a:ln>
        </p:spPr>
      </p:pic>
      <p:pic>
        <p:nvPicPr>
          <p:cNvPr id="494" name="Google Shape;494;p59"/>
          <p:cNvPicPr preferRelativeResize="0"/>
          <p:nvPr/>
        </p:nvPicPr>
        <p:blipFill rotWithShape="1">
          <a:blip r:embed="rId4">
            <a:alphaModFix/>
          </a:blip>
          <a:srcRect b="0" l="0" r="0" t="0"/>
          <a:stretch/>
        </p:blipFill>
        <p:spPr>
          <a:xfrm>
            <a:off x="6096000" y="2524006"/>
            <a:ext cx="2090734" cy="1568050"/>
          </a:xfrm>
          <a:prstGeom prst="rect">
            <a:avLst/>
          </a:prstGeom>
          <a:noFill/>
          <a:ln>
            <a:noFill/>
          </a:ln>
        </p:spPr>
      </p:pic>
      <p:pic>
        <p:nvPicPr>
          <p:cNvPr id="495" name="Google Shape;495;p59"/>
          <p:cNvPicPr preferRelativeResize="0"/>
          <p:nvPr/>
        </p:nvPicPr>
        <p:blipFill rotWithShape="1">
          <a:blip r:embed="rId5">
            <a:alphaModFix/>
          </a:blip>
          <a:srcRect b="0" l="0" r="0" t="0"/>
          <a:stretch/>
        </p:blipFill>
        <p:spPr>
          <a:xfrm>
            <a:off x="685800" y="5074917"/>
            <a:ext cx="4667250" cy="552450"/>
          </a:xfrm>
          <a:prstGeom prst="rect">
            <a:avLst/>
          </a:prstGeom>
          <a:noFill/>
          <a:ln>
            <a:noFill/>
          </a:ln>
        </p:spPr>
      </p:pic>
      <p:pic>
        <p:nvPicPr>
          <p:cNvPr id="496" name="Google Shape;496;p59"/>
          <p:cNvPicPr preferRelativeResize="0"/>
          <p:nvPr/>
        </p:nvPicPr>
        <p:blipFill rotWithShape="1">
          <a:blip r:embed="rId6">
            <a:alphaModFix/>
          </a:blip>
          <a:srcRect b="0" l="0" r="0" t="0"/>
          <a:stretch/>
        </p:blipFill>
        <p:spPr>
          <a:xfrm>
            <a:off x="5960267" y="4800600"/>
            <a:ext cx="2362200" cy="15049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p>
            <a:pPr indent="0" lvl="0" marL="0" rtl="0" algn="l">
              <a:spcBef>
                <a:spcPts val="0"/>
              </a:spcBef>
              <a:spcAft>
                <a:spcPts val="0"/>
              </a:spcAft>
              <a:buClr>
                <a:schemeClr val="dk2"/>
              </a:buClr>
              <a:buSzPts val="2400"/>
              <a:buFont typeface="Calibri"/>
              <a:buNone/>
            </a:pPr>
            <a:r>
              <a:rPr lang="en-US" sz="2400"/>
              <a:t>PROBABILITY DENSITY FUNCTION (PDF) AND CUMULATIVE DISTRIBUTION FUNCTION (CDF) OF A CONTINUOUS RANDOM VARIABLE</a:t>
            </a:r>
            <a:endParaRPr sz="2400"/>
          </a:p>
        </p:txBody>
      </p:sp>
      <p:sp>
        <p:nvSpPr>
          <p:cNvPr id="502" name="Google Shape;502;p6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solidFill>
                  <a:srgbClr val="292929"/>
                </a:solidFill>
              </a:rPr>
              <a:t>Probability density function and cumulative distribution function of a continuous random variable satisfy the following properties:</a:t>
            </a:r>
            <a:endParaRPr/>
          </a:p>
          <a:p>
            <a:pPr indent="-153670" lvl="0" marL="274320" rtl="0" algn="just">
              <a:spcBef>
                <a:spcPts val="400"/>
              </a:spcBef>
              <a:spcAft>
                <a:spcPts val="0"/>
              </a:spcAft>
              <a:buSzPts val="1900"/>
              <a:buNone/>
            </a:pPr>
            <a:r>
              <a:t/>
            </a:r>
            <a:endParaRPr sz="2000"/>
          </a:p>
          <a:p>
            <a:pPr indent="-105410" lvl="0" marL="274320" rtl="0" algn="just">
              <a:spcBef>
                <a:spcPts val="560"/>
              </a:spcBef>
              <a:spcAft>
                <a:spcPts val="0"/>
              </a:spcAft>
              <a:buSzPts val="2660"/>
              <a:buNone/>
            </a:pPr>
            <a:r>
              <a:t/>
            </a:r>
            <a:endParaRPr sz="2800"/>
          </a:p>
          <a:p>
            <a:pPr indent="-105410" lvl="0" marL="274320" rtl="0" algn="just">
              <a:spcBef>
                <a:spcPts val="560"/>
              </a:spcBef>
              <a:spcAft>
                <a:spcPts val="0"/>
              </a:spcAft>
              <a:buSzPts val="2660"/>
              <a:buNone/>
            </a:pPr>
            <a:r>
              <a:t/>
            </a:r>
            <a:endParaRPr sz="2800"/>
          </a:p>
          <a:p>
            <a:pPr indent="-274320" lvl="0" marL="274320" rtl="0" algn="just">
              <a:spcBef>
                <a:spcPts val="400"/>
              </a:spcBef>
              <a:spcAft>
                <a:spcPts val="0"/>
              </a:spcAft>
              <a:buSzPts val="1900"/>
              <a:buChar char="⚫"/>
            </a:pPr>
            <a:r>
              <a:rPr lang="en-US" sz="2000"/>
              <a:t>The expected value of a continuous random variable, E(X), is given by</a:t>
            </a:r>
            <a:endParaRPr/>
          </a:p>
          <a:p>
            <a:pPr indent="-153670" lvl="0" marL="274320" rtl="0" algn="just">
              <a:spcBef>
                <a:spcPts val="400"/>
              </a:spcBef>
              <a:spcAft>
                <a:spcPts val="0"/>
              </a:spcAft>
              <a:buSzPts val="1900"/>
              <a:buNone/>
            </a:pPr>
            <a:r>
              <a:t/>
            </a:r>
            <a:endParaRPr sz="2000"/>
          </a:p>
          <a:p>
            <a:pPr indent="-153670" lvl="0" marL="274320" rtl="0" algn="just">
              <a:spcBef>
                <a:spcPts val="400"/>
              </a:spcBef>
              <a:spcAft>
                <a:spcPts val="0"/>
              </a:spcAft>
              <a:buSzPts val="1900"/>
              <a:buNone/>
            </a:pPr>
            <a:r>
              <a:t/>
            </a:r>
            <a:endParaRPr sz="2000"/>
          </a:p>
          <a:p>
            <a:pPr indent="-274320" lvl="0" marL="274320" rtl="0" algn="just">
              <a:spcBef>
                <a:spcPts val="400"/>
              </a:spcBef>
              <a:spcAft>
                <a:spcPts val="0"/>
              </a:spcAft>
              <a:buSzPts val="1900"/>
              <a:buChar char="⚫"/>
            </a:pPr>
            <a:r>
              <a:rPr lang="en-US" sz="2000"/>
              <a:t>The variance of a continuous random variable, Var(X), is given by</a:t>
            </a:r>
            <a:endParaRPr sz="2000"/>
          </a:p>
        </p:txBody>
      </p:sp>
      <p:pic>
        <p:nvPicPr>
          <p:cNvPr id="503" name="Google Shape;503;p60"/>
          <p:cNvPicPr preferRelativeResize="0"/>
          <p:nvPr/>
        </p:nvPicPr>
        <p:blipFill rotWithShape="1">
          <a:blip r:embed="rId3">
            <a:alphaModFix/>
          </a:blip>
          <a:srcRect b="0" l="0" r="0" t="0"/>
          <a:stretch/>
        </p:blipFill>
        <p:spPr>
          <a:xfrm>
            <a:off x="1295400" y="2743200"/>
            <a:ext cx="2714625" cy="1114425"/>
          </a:xfrm>
          <a:prstGeom prst="rect">
            <a:avLst/>
          </a:prstGeom>
          <a:noFill/>
          <a:ln>
            <a:noFill/>
          </a:ln>
        </p:spPr>
      </p:pic>
      <p:pic>
        <p:nvPicPr>
          <p:cNvPr id="504" name="Google Shape;504;p60"/>
          <p:cNvPicPr preferRelativeResize="0"/>
          <p:nvPr/>
        </p:nvPicPr>
        <p:blipFill rotWithShape="1">
          <a:blip r:embed="rId4">
            <a:alphaModFix/>
          </a:blip>
          <a:srcRect b="0" l="0" r="0" t="0"/>
          <a:stretch/>
        </p:blipFill>
        <p:spPr>
          <a:xfrm>
            <a:off x="2652712" y="4542181"/>
            <a:ext cx="1514475" cy="527772"/>
          </a:xfrm>
          <a:prstGeom prst="rect">
            <a:avLst/>
          </a:prstGeom>
          <a:noFill/>
          <a:ln>
            <a:noFill/>
          </a:ln>
        </p:spPr>
      </p:pic>
      <p:pic>
        <p:nvPicPr>
          <p:cNvPr id="505" name="Google Shape;505;p60"/>
          <p:cNvPicPr preferRelativeResize="0"/>
          <p:nvPr/>
        </p:nvPicPr>
        <p:blipFill rotWithShape="1">
          <a:blip r:embed="rId5">
            <a:alphaModFix/>
          </a:blip>
          <a:srcRect b="0" l="0" r="0" t="0"/>
          <a:stretch/>
        </p:blipFill>
        <p:spPr>
          <a:xfrm>
            <a:off x="2514600" y="5638800"/>
            <a:ext cx="2362200" cy="535757"/>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Probability Distribution</a:t>
            </a:r>
            <a:endParaRPr/>
          </a:p>
        </p:txBody>
      </p:sp>
      <p:sp>
        <p:nvSpPr>
          <p:cNvPr id="511" name="Google Shape;511;p6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280"/>
              <a:buNone/>
            </a:pPr>
            <a:r>
              <a:rPr b="1" lang="en-US" sz="2400"/>
              <a:t>Summary</a:t>
            </a:r>
            <a:endParaRPr/>
          </a:p>
          <a:p>
            <a:pPr indent="-274320" lvl="0" marL="274320" rtl="0" algn="l">
              <a:spcBef>
                <a:spcPts val="480"/>
              </a:spcBef>
              <a:spcAft>
                <a:spcPts val="0"/>
              </a:spcAft>
              <a:buSzPts val="2280"/>
              <a:buChar char="⚫"/>
            </a:pPr>
            <a:r>
              <a:rPr lang="en-US" sz="2400"/>
              <a:t>Depending on type of random variables, its probability distribution can be categorized into :</a:t>
            </a:r>
            <a:endParaRPr/>
          </a:p>
          <a:p>
            <a:pPr indent="-457200" lvl="0" marL="457200" rtl="0" algn="l">
              <a:spcBef>
                <a:spcPts val="480"/>
              </a:spcBef>
              <a:spcAft>
                <a:spcPts val="0"/>
              </a:spcAft>
              <a:buSzPts val="2280"/>
              <a:buFont typeface="Calibri"/>
              <a:buAutoNum type="arabicPeriod"/>
            </a:pPr>
            <a:r>
              <a:rPr b="0" i="0" lang="en-US" sz="2400">
                <a:solidFill>
                  <a:srgbClr val="222222"/>
                </a:solidFill>
              </a:rPr>
              <a:t>Discrete probability distributions</a:t>
            </a:r>
            <a:endParaRPr/>
          </a:p>
          <a:p>
            <a:pPr indent="-457200" lvl="0" marL="457200" rtl="0" algn="l">
              <a:spcBef>
                <a:spcPts val="480"/>
              </a:spcBef>
              <a:spcAft>
                <a:spcPts val="0"/>
              </a:spcAft>
              <a:buSzPts val="2280"/>
              <a:buFont typeface="Calibri"/>
              <a:buAutoNum type="arabicPeriod"/>
            </a:pPr>
            <a:r>
              <a:rPr b="0" i="0" lang="en-US" sz="2400">
                <a:solidFill>
                  <a:srgbClr val="222222"/>
                </a:solidFill>
              </a:rPr>
              <a:t>Continuous probability distributions</a:t>
            </a:r>
            <a:endParaRPr/>
          </a:p>
          <a:p>
            <a:pPr indent="-357505" lvl="0" marL="514350" rtl="0" algn="l">
              <a:spcBef>
                <a:spcPts val="520"/>
              </a:spcBef>
              <a:spcAft>
                <a:spcPts val="0"/>
              </a:spcAft>
              <a:buSzPts val="2470"/>
              <a:buFont typeface="Calibri"/>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2"/>
          <p:cNvSpPr txBox="1"/>
          <p:nvPr>
            <p:ph type="title"/>
          </p:nvPr>
        </p:nvSpPr>
        <p:spPr>
          <a:xfrm>
            <a:off x="457200" y="3810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Bernoulli Distribution</a:t>
            </a:r>
            <a:endParaRPr/>
          </a:p>
        </p:txBody>
      </p:sp>
      <p:sp>
        <p:nvSpPr>
          <p:cNvPr id="517" name="Google Shape;517;p62"/>
          <p:cNvSpPr txBox="1"/>
          <p:nvPr>
            <p:ph idx="1" type="body"/>
          </p:nvPr>
        </p:nvSpPr>
        <p:spPr>
          <a:xfrm>
            <a:off x="457200" y="1185992"/>
            <a:ext cx="7773339" cy="5519608"/>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710"/>
              <a:buChar char="⚫"/>
            </a:pPr>
            <a:r>
              <a:rPr b="0" i="0" lang="en-US" sz="1800">
                <a:solidFill>
                  <a:srgbClr val="222222"/>
                </a:solidFill>
              </a:rPr>
              <a:t>This distribution is generated when we perform an experiment once and it has only two possible outcomes – success and failure.</a:t>
            </a:r>
            <a:endParaRPr/>
          </a:p>
          <a:p>
            <a:pPr indent="-274320" lvl="0" marL="274320" rtl="0" algn="just">
              <a:spcBef>
                <a:spcPts val="360"/>
              </a:spcBef>
              <a:spcAft>
                <a:spcPts val="0"/>
              </a:spcAft>
              <a:buSzPts val="1710"/>
              <a:buChar char="⚫"/>
            </a:pPr>
            <a:r>
              <a:rPr b="0" i="0" lang="en-US" sz="1800">
                <a:solidFill>
                  <a:srgbClr val="222222"/>
                </a:solidFill>
              </a:rPr>
              <a:t> The trials of this type are called Bernoulli trials, which form the basis for many distributions</a:t>
            </a:r>
            <a:endParaRPr/>
          </a:p>
          <a:p>
            <a:pPr indent="-274320" lvl="0" marL="274320" rtl="0" algn="just">
              <a:spcBef>
                <a:spcPts val="360"/>
              </a:spcBef>
              <a:spcAft>
                <a:spcPts val="0"/>
              </a:spcAft>
              <a:buSzPts val="1710"/>
              <a:buChar char="⚫"/>
            </a:pPr>
            <a:r>
              <a:rPr b="0" i="0" lang="en-US" sz="1800">
                <a:solidFill>
                  <a:srgbClr val="222222"/>
                </a:solidFill>
              </a:rPr>
              <a:t>Let p be the probability of success and 1 – p is the probability of failure.</a:t>
            </a:r>
            <a:endParaRPr/>
          </a:p>
          <a:p>
            <a:pPr indent="-274320" lvl="0" marL="274320" rtl="0" algn="just">
              <a:spcBef>
                <a:spcPts val="360"/>
              </a:spcBef>
              <a:spcAft>
                <a:spcPts val="0"/>
              </a:spcAft>
              <a:buSzPts val="1710"/>
              <a:buChar char="⚫"/>
            </a:pPr>
            <a:r>
              <a:rPr b="1" i="0" lang="en-US" sz="1800">
                <a:solidFill>
                  <a:srgbClr val="222222"/>
                </a:solidFill>
              </a:rPr>
              <a:t>The PMF is given as</a:t>
            </a:r>
            <a:endParaRPr/>
          </a:p>
          <a:p>
            <a:pPr indent="-153670" lvl="0" marL="274320" rtl="0" algn="just">
              <a:spcBef>
                <a:spcPts val="400"/>
              </a:spcBef>
              <a:spcAft>
                <a:spcPts val="0"/>
              </a:spcAft>
              <a:buSzPts val="1900"/>
              <a:buNone/>
            </a:pPr>
            <a:r>
              <a:t/>
            </a:r>
            <a:endParaRPr sz="2000"/>
          </a:p>
          <a:p>
            <a:pPr indent="0" lvl="0" marL="0" rtl="0" algn="just">
              <a:spcBef>
                <a:spcPts val="400"/>
              </a:spcBef>
              <a:spcAft>
                <a:spcPts val="0"/>
              </a:spcAft>
              <a:buSzPts val="1900"/>
              <a:buNone/>
            </a:pPr>
            <a:r>
              <a:rPr b="1" lang="en-US" sz="2000">
                <a:solidFill>
                  <a:srgbClr val="222222"/>
                </a:solidFill>
              </a:rPr>
              <a:t>Examples:</a:t>
            </a:r>
            <a:endParaRPr/>
          </a:p>
          <a:p>
            <a:pPr indent="-274320" lvl="0" marL="274320" rtl="0" algn="just">
              <a:spcBef>
                <a:spcPts val="360"/>
              </a:spcBef>
              <a:spcAft>
                <a:spcPts val="0"/>
              </a:spcAft>
              <a:buSzPts val="1710"/>
              <a:buChar char="⚫"/>
            </a:pPr>
            <a:r>
              <a:rPr lang="en-US" sz="1800">
                <a:solidFill>
                  <a:srgbClr val="222222"/>
                </a:solidFill>
              </a:rPr>
              <a:t>flipping a coin once. p is the probability of getting a head and 1 – p is the probability of getting a tail. </a:t>
            </a:r>
            <a:endParaRPr/>
          </a:p>
          <a:p>
            <a:pPr indent="-274320" lvl="0" marL="274320" rtl="0" algn="just">
              <a:spcBef>
                <a:spcPts val="360"/>
              </a:spcBef>
              <a:spcAft>
                <a:spcPts val="0"/>
              </a:spcAft>
              <a:buSzPts val="1710"/>
              <a:buChar char="⚫"/>
            </a:pPr>
            <a:r>
              <a:rPr lang="en-US" sz="1800">
                <a:solidFill>
                  <a:srgbClr val="222222"/>
                </a:solidFill>
              </a:rPr>
              <a:t>Will you pass or fail a test?</a:t>
            </a:r>
            <a:endParaRPr/>
          </a:p>
          <a:p>
            <a:pPr indent="-274320" lvl="0" marL="274320" rtl="0" algn="just">
              <a:spcBef>
                <a:spcPts val="360"/>
              </a:spcBef>
              <a:spcAft>
                <a:spcPts val="0"/>
              </a:spcAft>
              <a:buSzPts val="1710"/>
              <a:buChar char="⚫"/>
            </a:pPr>
            <a:r>
              <a:rPr lang="en-US" sz="1800">
                <a:solidFill>
                  <a:srgbClr val="222222"/>
                </a:solidFill>
              </a:rPr>
              <a:t>Will your favourite sports team win or lose their next match?</a:t>
            </a:r>
            <a:endParaRPr/>
          </a:p>
          <a:p>
            <a:pPr indent="-274320" lvl="0" marL="274320" rtl="0" algn="just">
              <a:spcBef>
                <a:spcPts val="360"/>
              </a:spcBef>
              <a:spcAft>
                <a:spcPts val="0"/>
              </a:spcAft>
              <a:buSzPts val="1710"/>
              <a:buChar char="⚫"/>
            </a:pPr>
            <a:r>
              <a:rPr lang="en-US" sz="1800">
                <a:solidFill>
                  <a:srgbClr val="222222"/>
                </a:solidFill>
              </a:rPr>
              <a:t>Will you be accepted or rejected for that job you applied for?</a:t>
            </a:r>
            <a:endParaRPr sz="1800">
              <a:solidFill>
                <a:srgbClr val="222222"/>
              </a:solidFill>
            </a:endParaRPr>
          </a:p>
          <a:p>
            <a:pPr indent="-153670" lvl="0" marL="274320" rtl="0" algn="just">
              <a:spcBef>
                <a:spcPts val="400"/>
              </a:spcBef>
              <a:spcAft>
                <a:spcPts val="0"/>
              </a:spcAft>
              <a:buSzPts val="1900"/>
              <a:buNone/>
            </a:pPr>
            <a:r>
              <a:t/>
            </a:r>
            <a:endParaRPr sz="2000"/>
          </a:p>
        </p:txBody>
      </p:sp>
      <p:pic>
        <p:nvPicPr>
          <p:cNvPr id="518" name="Google Shape;518;p62"/>
          <p:cNvPicPr preferRelativeResize="0"/>
          <p:nvPr/>
        </p:nvPicPr>
        <p:blipFill rotWithShape="1">
          <a:blip r:embed="rId3">
            <a:alphaModFix/>
          </a:blip>
          <a:srcRect b="0" l="0" r="0" t="0"/>
          <a:stretch/>
        </p:blipFill>
        <p:spPr>
          <a:xfrm>
            <a:off x="3581400" y="2819400"/>
            <a:ext cx="3392997" cy="990599"/>
          </a:xfrm>
          <a:prstGeom prst="rect">
            <a:avLst/>
          </a:prstGeom>
          <a:noFill/>
          <a:ln>
            <a:noFill/>
          </a:ln>
        </p:spPr>
      </p:pic>
      <p:pic>
        <p:nvPicPr>
          <p:cNvPr id="519" name="Google Shape;519;p62"/>
          <p:cNvPicPr preferRelativeResize="0"/>
          <p:nvPr/>
        </p:nvPicPr>
        <p:blipFill rotWithShape="1">
          <a:blip r:embed="rId4">
            <a:alphaModFix/>
          </a:blip>
          <a:srcRect b="0" l="0" r="0" t="0"/>
          <a:stretch/>
        </p:blipFill>
        <p:spPr>
          <a:xfrm>
            <a:off x="6435446" y="5486399"/>
            <a:ext cx="2265641" cy="1358027"/>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3"/>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Binomial Distribution </a:t>
            </a:r>
            <a:endParaRPr/>
          </a:p>
        </p:txBody>
      </p:sp>
      <p:sp>
        <p:nvSpPr>
          <p:cNvPr id="525" name="Google Shape;525;p63"/>
          <p:cNvSpPr txBox="1"/>
          <p:nvPr>
            <p:ph idx="1" type="body"/>
          </p:nvPr>
        </p:nvSpPr>
        <p:spPr>
          <a:xfrm>
            <a:off x="457200" y="1600200"/>
            <a:ext cx="8229600" cy="438912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SzPts val="1900"/>
              <a:buNone/>
            </a:pPr>
            <a:r>
              <a:rPr lang="en-US" sz="2000">
                <a:latin typeface="Constantia"/>
                <a:ea typeface="Constantia"/>
                <a:cs typeface="Constantia"/>
                <a:sym typeface="Constantia"/>
              </a:rPr>
              <a:t>Binomial distribution is one of the most important discrete probability distribution due to its applications in several contexts. A random variable X is said to follow a Binomial distribution when</a:t>
            </a:r>
            <a:endParaRPr/>
          </a:p>
          <a:p>
            <a:pPr indent="0" lvl="0" marL="0" rtl="0" algn="just">
              <a:spcBef>
                <a:spcPts val="400"/>
              </a:spcBef>
              <a:spcAft>
                <a:spcPts val="0"/>
              </a:spcAft>
              <a:buSzPts val="1900"/>
              <a:buNone/>
            </a:pPr>
            <a:r>
              <a:t/>
            </a:r>
            <a:endParaRPr sz="2000">
              <a:latin typeface="Constantia"/>
              <a:ea typeface="Constantia"/>
              <a:cs typeface="Constantia"/>
              <a:sym typeface="Constantia"/>
            </a:endParaRPr>
          </a:p>
          <a:p>
            <a:pPr indent="0" lvl="0" marL="0" rtl="0" algn="just">
              <a:spcBef>
                <a:spcPts val="400"/>
              </a:spcBef>
              <a:spcAft>
                <a:spcPts val="0"/>
              </a:spcAft>
              <a:buSzPts val="1900"/>
              <a:buNone/>
            </a:pPr>
            <a:r>
              <a:rPr lang="en-US" sz="2000">
                <a:latin typeface="Constantia"/>
                <a:ea typeface="Constantia"/>
                <a:cs typeface="Constantia"/>
                <a:sym typeface="Constantia"/>
              </a:rPr>
              <a:t>1</a:t>
            </a:r>
            <a:r>
              <a:rPr lang="en-US" sz="1800">
                <a:latin typeface="Constantia"/>
                <a:ea typeface="Constantia"/>
                <a:cs typeface="Constantia"/>
                <a:sym typeface="Constantia"/>
              </a:rPr>
              <a:t>. The random variable can have only two outcomes success and failure (also known as Bernoulli trials).</a:t>
            </a:r>
            <a:endParaRPr/>
          </a:p>
          <a:p>
            <a:pPr indent="0" lvl="0" marL="0" rtl="0" algn="just">
              <a:spcBef>
                <a:spcPts val="360"/>
              </a:spcBef>
              <a:spcAft>
                <a:spcPts val="0"/>
              </a:spcAft>
              <a:buSzPts val="1710"/>
              <a:buNone/>
            </a:pPr>
            <a:r>
              <a:rPr lang="en-US" sz="1800">
                <a:latin typeface="Constantia"/>
                <a:ea typeface="Constantia"/>
                <a:cs typeface="Constantia"/>
                <a:sym typeface="Constantia"/>
              </a:rPr>
              <a:t>2. The objective is to find the probability of getting k successes out of n trials.</a:t>
            </a:r>
            <a:endParaRPr/>
          </a:p>
          <a:p>
            <a:pPr indent="0" lvl="0" marL="0" rtl="0" algn="just">
              <a:spcBef>
                <a:spcPts val="360"/>
              </a:spcBef>
              <a:spcAft>
                <a:spcPts val="0"/>
              </a:spcAft>
              <a:buSzPts val="1710"/>
              <a:buNone/>
            </a:pPr>
            <a:r>
              <a:rPr lang="en-US" sz="1800">
                <a:latin typeface="Constantia"/>
                <a:ea typeface="Constantia"/>
                <a:cs typeface="Constantia"/>
                <a:sym typeface="Constantia"/>
              </a:rPr>
              <a:t>3. The probability of success is p and thus the probability of failure is (1 − p).</a:t>
            </a:r>
            <a:endParaRPr/>
          </a:p>
          <a:p>
            <a:pPr indent="0" lvl="0" marL="0" rtl="0" algn="just">
              <a:spcBef>
                <a:spcPts val="400"/>
              </a:spcBef>
              <a:spcAft>
                <a:spcPts val="0"/>
              </a:spcAft>
              <a:buSzPts val="1710"/>
              <a:buNone/>
            </a:pPr>
            <a:r>
              <a:rPr lang="en-US" sz="1800">
                <a:latin typeface="Constantia"/>
                <a:ea typeface="Constantia"/>
                <a:cs typeface="Constantia"/>
                <a:sym typeface="Constantia"/>
              </a:rPr>
              <a:t>4. The probability p is constant and does not change between trials</a:t>
            </a:r>
            <a:r>
              <a:rPr lang="en-US" sz="2000">
                <a:latin typeface="Constantia"/>
                <a:ea typeface="Constantia"/>
                <a:cs typeface="Constantia"/>
                <a:sym typeface="Constantia"/>
              </a:rPr>
              <a:t>.</a:t>
            </a:r>
            <a:endParaRPr/>
          </a:p>
          <a:p>
            <a:pPr indent="0" lvl="0" marL="0" rtl="0" algn="just">
              <a:spcBef>
                <a:spcPts val="360"/>
              </a:spcBef>
              <a:spcAft>
                <a:spcPts val="0"/>
              </a:spcAft>
              <a:buSzPts val="1710"/>
              <a:buNone/>
            </a:pPr>
            <a:r>
              <a:t/>
            </a:r>
            <a:endParaRPr sz="1800">
              <a:latin typeface="Constantia"/>
              <a:ea typeface="Constantia"/>
              <a:cs typeface="Constantia"/>
              <a:sym typeface="Constantia"/>
            </a:endParaRPr>
          </a:p>
          <a:p>
            <a:pPr indent="0" lvl="0" marL="0" rtl="0" algn="just">
              <a:spcBef>
                <a:spcPts val="360"/>
              </a:spcBef>
              <a:spcAft>
                <a:spcPts val="0"/>
              </a:spcAft>
              <a:buSzPts val="1710"/>
              <a:buNone/>
            </a:pPr>
            <a:r>
              <a:rPr lang="en-US" sz="1800">
                <a:latin typeface="Constantia"/>
                <a:ea typeface="Constantia"/>
                <a:cs typeface="Constantia"/>
                <a:sym typeface="Constantia"/>
              </a:rPr>
              <a:t>Success and failure are generic terminologies used in binomial distribution; based on the context, the interpretation will change (winning a lottery can be considered as success and not winning as failure).</a:t>
            </a:r>
            <a:endParaRPr sz="1800">
              <a:latin typeface="Constantia"/>
              <a:ea typeface="Constantia"/>
              <a:cs typeface="Constantia"/>
              <a:sym typeface="Constanti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4"/>
          <p:cNvSpPr txBox="1"/>
          <p:nvPr>
            <p:ph type="title"/>
          </p:nvPr>
        </p:nvSpPr>
        <p:spPr>
          <a:xfrm>
            <a:off x="457200" y="3810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Binomial Distribution </a:t>
            </a:r>
            <a:endParaRPr/>
          </a:p>
        </p:txBody>
      </p:sp>
      <p:sp>
        <p:nvSpPr>
          <p:cNvPr id="531" name="Google Shape;531;p64"/>
          <p:cNvSpPr txBox="1"/>
          <p:nvPr>
            <p:ph idx="1" type="body"/>
          </p:nvPr>
        </p:nvSpPr>
        <p:spPr>
          <a:xfrm>
            <a:off x="433387" y="1528762"/>
            <a:ext cx="8229600" cy="50244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spcBef>
                <a:spcPts val="0"/>
              </a:spcBef>
              <a:spcAft>
                <a:spcPts val="0"/>
              </a:spcAft>
              <a:buSzPct val="95000"/>
              <a:buNone/>
            </a:pPr>
            <a:r>
              <a:rPr lang="en-US" sz="2800"/>
              <a:t>In analytics, the following are few example problems that can be associated with Binomial distribution:</a:t>
            </a:r>
            <a:endParaRPr sz="2800"/>
          </a:p>
          <a:p>
            <a:pPr indent="-152765" lvl="0" marL="274320" rtl="0" algn="just">
              <a:spcBef>
                <a:spcPts val="403"/>
              </a:spcBef>
              <a:spcAft>
                <a:spcPts val="0"/>
              </a:spcAft>
              <a:buSzPct val="95000"/>
              <a:buNone/>
            </a:pPr>
            <a:r>
              <a:t/>
            </a:r>
            <a:endParaRPr/>
          </a:p>
          <a:p>
            <a:pPr indent="-274350" lvl="0" marL="274320" rtl="0" algn="just">
              <a:spcBef>
                <a:spcPts val="356"/>
              </a:spcBef>
              <a:spcAft>
                <a:spcPts val="0"/>
              </a:spcAft>
              <a:buSzPct val="95000"/>
              <a:buChar char="⚫"/>
            </a:pPr>
            <a:r>
              <a:rPr lang="en-US" sz="2300"/>
              <a:t>Customer churn where the outcomes are: (a) Customer churn and (b) No customer churn.</a:t>
            </a:r>
            <a:endParaRPr/>
          </a:p>
          <a:p>
            <a:pPr indent="-274350" lvl="0" marL="274320" rtl="0" algn="just">
              <a:spcBef>
                <a:spcPts val="356"/>
              </a:spcBef>
              <a:spcAft>
                <a:spcPts val="0"/>
              </a:spcAft>
              <a:buSzPct val="95000"/>
              <a:buChar char="⚫"/>
            </a:pPr>
            <a:r>
              <a:rPr lang="en-US" sz="2300"/>
              <a:t>Fraudulent insurance claims where the outcomes are: (a) Fraudulent claim and (b) Genuine claim.</a:t>
            </a:r>
            <a:endParaRPr/>
          </a:p>
          <a:p>
            <a:pPr indent="-274350" lvl="0" marL="274320" rtl="0" algn="just">
              <a:spcBef>
                <a:spcPts val="356"/>
              </a:spcBef>
              <a:spcAft>
                <a:spcPts val="0"/>
              </a:spcAft>
              <a:buSzPct val="95000"/>
              <a:buChar char="⚫"/>
            </a:pPr>
            <a:r>
              <a:rPr lang="en-US" sz="2300"/>
              <a:t>Loan repayment default by a customer where the outcomes are: (a) Default and (b) No default.</a:t>
            </a:r>
            <a:endParaRPr/>
          </a:p>
          <a:p>
            <a:pPr indent="-274350" lvl="0" marL="274320" rtl="0" algn="just">
              <a:spcBef>
                <a:spcPts val="356"/>
              </a:spcBef>
              <a:spcAft>
                <a:spcPts val="0"/>
              </a:spcAft>
              <a:buSzPct val="95000"/>
              <a:buChar char="⚫"/>
            </a:pPr>
            <a:r>
              <a:rPr lang="en-US" sz="2300"/>
              <a:t>Cart abandonment in e-commerce (a situation where the customer adds items to his/her cart but does not make the purchase), where the outcomes are: (a) Cart abandonment and (b) No cart abandonment.</a:t>
            </a:r>
            <a:endParaRPr/>
          </a:p>
          <a:p>
            <a:pPr indent="-274350" lvl="0" marL="274320" rtl="0" algn="just">
              <a:spcBef>
                <a:spcPts val="356"/>
              </a:spcBef>
              <a:spcAft>
                <a:spcPts val="0"/>
              </a:spcAft>
              <a:buSzPct val="95000"/>
              <a:buChar char="⚫"/>
            </a:pPr>
            <a:r>
              <a:rPr lang="en-US" sz="2300"/>
              <a:t>Employee attrition at a company where the outcomes are: (a) The employee leaves (exits) the company and (b) The employee does not leave the company.</a:t>
            </a:r>
            <a:endParaRPr/>
          </a:p>
          <a:p>
            <a:pPr indent="0" lvl="0" marL="0" rtl="0" algn="just">
              <a:spcBef>
                <a:spcPts val="403"/>
              </a:spcBef>
              <a:spcAft>
                <a:spcPts val="0"/>
              </a:spcAft>
              <a:buSzPct val="95000"/>
              <a:buNone/>
            </a:pPr>
            <a:r>
              <a:t/>
            </a:r>
            <a:endParaRPr/>
          </a:p>
          <a:p>
            <a:pPr indent="0" lvl="0" marL="0" rtl="0" algn="just">
              <a:spcBef>
                <a:spcPts val="403"/>
              </a:spcBef>
              <a:spcAft>
                <a:spcPts val="0"/>
              </a:spcAft>
              <a:buSzPct val="95000"/>
              <a:buNone/>
            </a:pPr>
            <a:r>
              <a:rPr lang="en-US"/>
              <a:t>Any business context in which there are only two outcomes can be analysed using Binomial distribution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5"/>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Binomial Distribution </a:t>
            </a:r>
            <a:endParaRPr/>
          </a:p>
        </p:txBody>
      </p:sp>
      <p:sp>
        <p:nvSpPr>
          <p:cNvPr id="537" name="Google Shape;537;p6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00"/>
              <a:buNone/>
            </a:pPr>
            <a:r>
              <a:rPr b="1" lang="en-US" sz="2000">
                <a:solidFill>
                  <a:srgbClr val="222222"/>
                </a:solidFill>
              </a:rPr>
              <a:t>E</a:t>
            </a:r>
            <a:r>
              <a:rPr b="1" i="0" lang="en-US" sz="2000">
                <a:solidFill>
                  <a:srgbClr val="222222"/>
                </a:solidFill>
              </a:rPr>
              <a:t>xample:</a:t>
            </a:r>
            <a:endParaRPr/>
          </a:p>
          <a:p>
            <a:pPr indent="-274320" lvl="0" marL="274320" rtl="0" algn="l">
              <a:spcBef>
                <a:spcPts val="400"/>
              </a:spcBef>
              <a:spcAft>
                <a:spcPts val="0"/>
              </a:spcAft>
              <a:buSzPts val="1900"/>
              <a:buChar char="⚫"/>
            </a:pPr>
            <a:r>
              <a:rPr b="0" i="0" lang="en-US" sz="2000">
                <a:solidFill>
                  <a:srgbClr val="222222"/>
                </a:solidFill>
              </a:rPr>
              <a:t>Flipping a coin n number of times and calculating the probabilities of getting a particular number of heads.</a:t>
            </a:r>
            <a:endParaRPr/>
          </a:p>
          <a:p>
            <a:pPr indent="-274320" lvl="0" marL="274320" rtl="0" algn="l">
              <a:spcBef>
                <a:spcPts val="400"/>
              </a:spcBef>
              <a:spcAft>
                <a:spcPts val="0"/>
              </a:spcAft>
              <a:buSzPts val="1900"/>
              <a:buChar char="⚫"/>
            </a:pPr>
            <a:r>
              <a:rPr b="0" i="0" lang="en-US" sz="2000">
                <a:solidFill>
                  <a:srgbClr val="222222"/>
                </a:solidFill>
              </a:rPr>
              <a:t>More real-world examples include the number of successful sales calls for a company or whether a drug works for a disease or not.</a:t>
            </a:r>
            <a:endParaRPr/>
          </a:p>
          <a:p>
            <a:pPr indent="-274320" lvl="0" marL="274320" rtl="0" algn="l">
              <a:spcBef>
                <a:spcPts val="400"/>
              </a:spcBef>
              <a:spcAft>
                <a:spcPts val="0"/>
              </a:spcAft>
              <a:buSzPts val="1900"/>
              <a:buChar char="⚫"/>
            </a:pPr>
            <a:r>
              <a:rPr lang="en-US" sz="2000">
                <a:solidFill>
                  <a:srgbClr val="222222"/>
                </a:solidFill>
              </a:rPr>
              <a:t>Number of winning lottery tickets when you buy 10 tickets of the same kind</a:t>
            </a:r>
            <a:endParaRPr/>
          </a:p>
          <a:p>
            <a:pPr indent="-274320" lvl="0" marL="274320" rtl="0" algn="l">
              <a:spcBef>
                <a:spcPts val="400"/>
              </a:spcBef>
              <a:spcAft>
                <a:spcPts val="0"/>
              </a:spcAft>
              <a:buSzPts val="1900"/>
              <a:buChar char="⚫"/>
            </a:pPr>
            <a:r>
              <a:rPr lang="en-US" sz="2000">
                <a:solidFill>
                  <a:srgbClr val="222222"/>
                </a:solidFill>
              </a:rPr>
              <a:t>Number of left-handers in a randomly selected sample of 100 unrelated people</a:t>
            </a:r>
            <a:endParaRPr/>
          </a:p>
          <a:p>
            <a:pPr indent="-153670" lvl="0" marL="274320" rtl="0" algn="l">
              <a:spcBef>
                <a:spcPts val="400"/>
              </a:spcBef>
              <a:spcAft>
                <a:spcPts val="0"/>
              </a:spcAft>
              <a:buSzPts val="1900"/>
              <a:buNone/>
            </a:pPr>
            <a:r>
              <a:t/>
            </a:r>
            <a:endParaRPr sz="20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6"/>
          <p:cNvSpPr txBox="1"/>
          <p:nvPr>
            <p:ph type="title"/>
          </p:nvPr>
        </p:nvSpPr>
        <p:spPr>
          <a:xfrm>
            <a:off x="381000" y="35237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Binomial Distribution </a:t>
            </a:r>
            <a:endParaRPr/>
          </a:p>
        </p:txBody>
      </p:sp>
      <p:pic>
        <p:nvPicPr>
          <p:cNvPr descr="See the source image" id="543" name="Google Shape;543;p66"/>
          <p:cNvPicPr preferRelativeResize="0"/>
          <p:nvPr>
            <p:ph idx="1" type="body"/>
          </p:nvPr>
        </p:nvPicPr>
        <p:blipFill rotWithShape="1">
          <a:blip r:embed="rId3">
            <a:alphaModFix/>
          </a:blip>
          <a:srcRect b="0" l="0" r="0" t="0"/>
          <a:stretch/>
        </p:blipFill>
        <p:spPr>
          <a:xfrm>
            <a:off x="762000" y="1562426"/>
            <a:ext cx="6694311" cy="3765550"/>
          </a:xfrm>
          <a:prstGeom prst="rect">
            <a:avLst/>
          </a:prstGeom>
          <a:noFill/>
          <a:ln>
            <a:noFill/>
          </a:ln>
        </p:spPr>
      </p:pic>
      <p:pic>
        <p:nvPicPr>
          <p:cNvPr id="544" name="Google Shape;544;p66"/>
          <p:cNvPicPr preferRelativeResize="0"/>
          <p:nvPr/>
        </p:nvPicPr>
        <p:blipFill rotWithShape="1">
          <a:blip r:embed="rId4">
            <a:alphaModFix/>
          </a:blip>
          <a:srcRect b="0" l="0" r="0" t="0"/>
          <a:stretch/>
        </p:blipFill>
        <p:spPr>
          <a:xfrm>
            <a:off x="914400" y="4800600"/>
            <a:ext cx="4279763" cy="166435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7"/>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Binomial Distribution </a:t>
            </a:r>
            <a:endParaRPr/>
          </a:p>
        </p:txBody>
      </p:sp>
      <p:sp>
        <p:nvSpPr>
          <p:cNvPr id="550" name="Google Shape;550;p6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t>For example, suppose we shuffle a standard deck of cards, and we turn over the top card. We put the card back in the deck and reshuffle. We repeat this process five times. Let X equal the number of Jacks we observe. Is this a binomial distribution?</a:t>
            </a:r>
            <a:endParaRPr/>
          </a:p>
          <a:p>
            <a:pPr indent="-274320" lvl="0" marL="274320" rtl="0" algn="just">
              <a:spcBef>
                <a:spcPts val="400"/>
              </a:spcBef>
              <a:spcAft>
                <a:spcPts val="0"/>
              </a:spcAft>
              <a:buSzPts val="1900"/>
              <a:buChar char="⚫"/>
            </a:pPr>
            <a:r>
              <a:rPr b="1" i="0" lang="en-US" sz="2000"/>
              <a:t>B</a:t>
            </a:r>
            <a:r>
              <a:rPr b="0" i="0" lang="en-US" sz="2000"/>
              <a:t> – binary – yes, either it’s a Jack or it isn’t</a:t>
            </a:r>
            <a:endParaRPr/>
          </a:p>
          <a:p>
            <a:pPr indent="-274320" lvl="0" marL="274320" rtl="0" algn="just">
              <a:spcBef>
                <a:spcPts val="400"/>
              </a:spcBef>
              <a:spcAft>
                <a:spcPts val="0"/>
              </a:spcAft>
              <a:buSzPts val="1900"/>
              <a:buChar char="⚫"/>
            </a:pPr>
            <a:r>
              <a:rPr b="1" i="0" lang="en-US" sz="2000"/>
              <a:t>I</a:t>
            </a:r>
            <a:r>
              <a:rPr b="0" i="0" lang="en-US" sz="2000"/>
              <a:t> – independent – yes, because we replace the card each time, the trials are independent.</a:t>
            </a:r>
            <a:endParaRPr/>
          </a:p>
          <a:p>
            <a:pPr indent="-274320" lvl="0" marL="274320" rtl="0" algn="just">
              <a:spcBef>
                <a:spcPts val="400"/>
              </a:spcBef>
              <a:spcAft>
                <a:spcPts val="0"/>
              </a:spcAft>
              <a:buSzPts val="1900"/>
              <a:buChar char="⚫"/>
            </a:pPr>
            <a:r>
              <a:rPr b="1" i="0" lang="en-US" sz="2000"/>
              <a:t>N</a:t>
            </a:r>
            <a:r>
              <a:rPr b="0" i="0" lang="en-US" sz="2000"/>
              <a:t> – number of trials fixed in advance – yes, we are told to repeat the process five times.</a:t>
            </a:r>
            <a:endParaRPr/>
          </a:p>
          <a:p>
            <a:pPr indent="-274320" lvl="0" marL="274320" rtl="0" algn="just">
              <a:spcBef>
                <a:spcPts val="400"/>
              </a:spcBef>
              <a:spcAft>
                <a:spcPts val="0"/>
              </a:spcAft>
              <a:buSzPts val="1900"/>
              <a:buChar char="⚫"/>
            </a:pPr>
            <a:r>
              <a:rPr b="1" i="0" lang="en-US" sz="2000"/>
              <a:t>S</a:t>
            </a:r>
            <a:r>
              <a:rPr b="0" i="0" lang="en-US" sz="2000"/>
              <a:t> – successes (probability of success) are the same – yes, the likelihood of getting a Jack is 4 out of 52 each time you turn over a card.</a:t>
            </a:r>
            <a:endParaRPr/>
          </a:p>
          <a:p>
            <a:pPr indent="-274320" lvl="0" marL="274320" rtl="0" algn="just">
              <a:spcBef>
                <a:spcPts val="400"/>
              </a:spcBef>
              <a:spcAft>
                <a:spcPts val="0"/>
              </a:spcAft>
              <a:buSzPts val="1900"/>
              <a:buChar char="⚫"/>
            </a:pPr>
            <a:r>
              <a:rPr b="0" i="0" lang="en-US" sz="2000"/>
              <a:t>Therefore, this is an example of a binomial distribution.</a:t>
            </a:r>
            <a:endParaRPr/>
          </a:p>
          <a:p>
            <a:pPr indent="-153670" lvl="0" marL="274320" rtl="0" algn="just">
              <a:spcBef>
                <a:spcPts val="400"/>
              </a:spcBef>
              <a:spcAft>
                <a:spcPts val="0"/>
              </a:spcAft>
              <a:buSzPts val="1900"/>
              <a:buNone/>
            </a:pPr>
            <a:r>
              <a:t/>
            </a:r>
            <a:endParaRPr sz="20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8"/>
          <p:cNvSpPr txBox="1"/>
          <p:nvPr>
            <p:ph idx="1" type="body"/>
          </p:nvPr>
        </p:nvSpPr>
        <p:spPr>
          <a:xfrm>
            <a:off x="76200" y="762000"/>
            <a:ext cx="8503920" cy="45720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b="0" i="0" lang="en-US" sz="2000">
                <a:solidFill>
                  <a:srgbClr val="444444"/>
                </a:solidFill>
              </a:rPr>
              <a:t>Suppose that Charlie makes a free throw has probability of 0.82 on any one try. Assuming that this probability doesn’t change, find the chance that Charlie makes 4 out of the next seven free throws.</a:t>
            </a:r>
            <a:endParaRPr/>
          </a:p>
          <a:p>
            <a:pPr indent="-129540" lvl="0" marL="274320" rtl="0" algn="l">
              <a:spcBef>
                <a:spcPts val="480"/>
              </a:spcBef>
              <a:spcAft>
                <a:spcPts val="0"/>
              </a:spcAft>
              <a:buSzPts val="2280"/>
              <a:buNone/>
            </a:pPr>
            <a:r>
              <a:t/>
            </a:r>
            <a:endParaRPr sz="2400"/>
          </a:p>
        </p:txBody>
      </p:sp>
      <p:pic>
        <p:nvPicPr>
          <p:cNvPr id="556" name="Google Shape;556;p68"/>
          <p:cNvPicPr preferRelativeResize="0"/>
          <p:nvPr/>
        </p:nvPicPr>
        <p:blipFill rotWithShape="1">
          <a:blip r:embed="rId3">
            <a:alphaModFix/>
          </a:blip>
          <a:srcRect b="0" l="0" r="0" t="0"/>
          <a:stretch/>
        </p:blipFill>
        <p:spPr>
          <a:xfrm>
            <a:off x="1143000" y="2286000"/>
            <a:ext cx="7239000" cy="4071938"/>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69"/>
          <p:cNvSpPr txBox="1"/>
          <p:nvPr>
            <p:ph idx="1" type="body"/>
          </p:nvPr>
        </p:nvSpPr>
        <p:spPr>
          <a:xfrm>
            <a:off x="381000" y="609601"/>
            <a:ext cx="8229600" cy="1371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b="0" i="0" lang="en-US" sz="2400">
                <a:solidFill>
                  <a:srgbClr val="444444"/>
                </a:solidFill>
              </a:rPr>
              <a:t> let’s determine the number of free throws Charlie should expect to make and the standard deviation.</a:t>
            </a:r>
            <a:endParaRPr/>
          </a:p>
          <a:p>
            <a:pPr indent="-129540" lvl="0" marL="274320" rtl="0" algn="l">
              <a:spcBef>
                <a:spcPts val="480"/>
              </a:spcBef>
              <a:spcAft>
                <a:spcPts val="0"/>
              </a:spcAft>
              <a:buSzPts val="2280"/>
              <a:buNone/>
            </a:pPr>
            <a:r>
              <a:t/>
            </a:r>
            <a:endParaRPr sz="2400"/>
          </a:p>
          <a:p>
            <a:pPr indent="-129540" lvl="0" marL="274320" rtl="0" algn="l">
              <a:spcBef>
                <a:spcPts val="480"/>
              </a:spcBef>
              <a:spcAft>
                <a:spcPts val="0"/>
              </a:spcAft>
              <a:buSzPts val="2280"/>
              <a:buNone/>
            </a:pPr>
            <a:r>
              <a:t/>
            </a:r>
            <a:endParaRPr sz="2400"/>
          </a:p>
        </p:txBody>
      </p:sp>
      <p:pic>
        <p:nvPicPr>
          <p:cNvPr id="562" name="Google Shape;562;p69"/>
          <p:cNvPicPr preferRelativeResize="0"/>
          <p:nvPr/>
        </p:nvPicPr>
        <p:blipFill rotWithShape="1">
          <a:blip r:embed="rId3">
            <a:alphaModFix/>
          </a:blip>
          <a:srcRect b="0" l="0" r="0" t="0"/>
          <a:stretch/>
        </p:blipFill>
        <p:spPr>
          <a:xfrm>
            <a:off x="609600" y="1981200"/>
            <a:ext cx="8001000" cy="4500563"/>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7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descr="See the source image" id="568" name="Google Shape;568;p70"/>
          <p:cNvPicPr preferRelativeResize="0"/>
          <p:nvPr>
            <p:ph idx="1" type="body"/>
          </p:nvPr>
        </p:nvPicPr>
        <p:blipFill rotWithShape="1">
          <a:blip r:embed="rId3">
            <a:alphaModFix/>
          </a:blip>
          <a:srcRect b="0" l="0" r="0" t="0"/>
          <a:stretch/>
        </p:blipFill>
        <p:spPr>
          <a:xfrm>
            <a:off x="1143000" y="1847088"/>
            <a:ext cx="6592623" cy="494446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1"/>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descr="See the source image" id="574" name="Google Shape;574;p71"/>
          <p:cNvPicPr preferRelativeResize="0"/>
          <p:nvPr>
            <p:ph idx="1" type="body"/>
          </p:nvPr>
        </p:nvPicPr>
        <p:blipFill rotWithShape="1">
          <a:blip r:embed="rId3">
            <a:alphaModFix/>
          </a:blip>
          <a:srcRect b="0" l="0" r="0" t="0"/>
          <a:stretch/>
        </p:blipFill>
        <p:spPr>
          <a:xfrm>
            <a:off x="685800" y="1875663"/>
            <a:ext cx="7342099" cy="4129931"/>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2"/>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400"/>
              <a:buFont typeface="Calibri"/>
              <a:buNone/>
            </a:pPr>
            <a:r>
              <a:rPr lang="en-US" sz="5400"/>
              <a:t>Poisson Distribution</a:t>
            </a:r>
            <a:endParaRPr/>
          </a:p>
        </p:txBody>
      </p:sp>
      <p:sp>
        <p:nvSpPr>
          <p:cNvPr id="580" name="Google Shape;580;p72"/>
          <p:cNvSpPr txBox="1"/>
          <p:nvPr>
            <p:ph idx="1" type="body"/>
          </p:nvPr>
        </p:nvSpPr>
        <p:spPr>
          <a:xfrm>
            <a:off x="457200" y="1935480"/>
            <a:ext cx="8229600" cy="438900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Char char="⚫"/>
            </a:pPr>
            <a:r>
              <a:rPr b="1" i="0" lang="en-US">
                <a:solidFill>
                  <a:srgbClr val="222222"/>
                </a:solidFill>
              </a:rPr>
              <a:t>It describes the events that occur in a fixed interval of time or space.</a:t>
            </a:r>
            <a:endParaRPr/>
          </a:p>
          <a:p>
            <a:pPr indent="-274320" lvl="0" marL="274320" rtl="0" algn="just">
              <a:spcBef>
                <a:spcPts val="481"/>
              </a:spcBef>
              <a:spcAft>
                <a:spcPts val="0"/>
              </a:spcAft>
              <a:buSzPct val="95000"/>
              <a:buChar char="⚫"/>
            </a:pPr>
            <a:r>
              <a:rPr b="0" i="0" lang="en-US">
                <a:solidFill>
                  <a:srgbClr val="222222"/>
                </a:solidFill>
              </a:rPr>
              <a:t> Examples:</a:t>
            </a:r>
            <a:endParaRPr/>
          </a:p>
          <a:p>
            <a:pPr indent="-274320" lvl="0" marL="274320" rtl="0" algn="just">
              <a:spcBef>
                <a:spcPts val="481"/>
              </a:spcBef>
              <a:spcAft>
                <a:spcPts val="0"/>
              </a:spcAft>
              <a:buSzPct val="95000"/>
              <a:buChar char="⚫"/>
            </a:pPr>
            <a:r>
              <a:rPr b="0" i="0" lang="en-US">
                <a:solidFill>
                  <a:srgbClr val="222222"/>
                </a:solidFill>
              </a:rPr>
              <a:t>Consider the case of the number of calls received by a customer care center per hour. We can estimate the average number of calls per hour but we cannot determine the exact number and the exact time at which there is a call. </a:t>
            </a:r>
            <a:r>
              <a:rPr b="0" i="0" lang="en-US">
                <a:solidFill>
                  <a:srgbClr val="222222"/>
                </a:solidFill>
              </a:rPr>
              <a:t>Each occurrence of an event is independent of the other occurrenc</a:t>
            </a:r>
            <a:r>
              <a:rPr b="0" i="0" lang="en-US">
                <a:solidFill>
                  <a:srgbClr val="222222"/>
                </a:solidFill>
              </a:rPr>
              <a:t>es.</a:t>
            </a:r>
            <a:endParaRPr/>
          </a:p>
          <a:p>
            <a:pPr indent="-274320" lvl="0" marL="274320" rtl="0" algn="just">
              <a:spcBef>
                <a:spcPts val="481"/>
              </a:spcBef>
              <a:spcAft>
                <a:spcPts val="0"/>
              </a:spcAft>
              <a:buSzPct val="95000"/>
              <a:buChar char="⚫"/>
            </a:pPr>
            <a:r>
              <a:rPr b="0" i="0" lang="en-US">
                <a:solidFill>
                  <a:srgbClr val="222222"/>
                </a:solidFill>
              </a:rPr>
              <a:t>The PMF is given as,</a:t>
            </a:r>
            <a:endParaRPr/>
          </a:p>
          <a:p>
            <a:pPr indent="-274320" lvl="0" marL="274320" rtl="0" algn="just">
              <a:spcBef>
                <a:spcPts val="481"/>
              </a:spcBef>
              <a:spcAft>
                <a:spcPts val="0"/>
              </a:spcAft>
              <a:buSzPct val="95000"/>
              <a:buChar char="⚫"/>
            </a:pPr>
            <a:br>
              <a:rPr b="0" i="0" lang="en-US">
                <a:solidFill>
                  <a:srgbClr val="222222"/>
                </a:solidFill>
              </a:rPr>
            </a:br>
            <a:endParaRPr/>
          </a:p>
        </p:txBody>
      </p:sp>
      <p:pic>
        <p:nvPicPr>
          <p:cNvPr id="581" name="Google Shape;581;p72"/>
          <p:cNvPicPr preferRelativeResize="0"/>
          <p:nvPr/>
        </p:nvPicPr>
        <p:blipFill rotWithShape="1">
          <a:blip r:embed="rId3">
            <a:alphaModFix/>
          </a:blip>
          <a:srcRect b="0" l="0" r="0" t="0"/>
          <a:stretch/>
        </p:blipFill>
        <p:spPr>
          <a:xfrm>
            <a:off x="3733800" y="4953000"/>
            <a:ext cx="4143375" cy="14954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Poisson Distribution</a:t>
            </a:r>
            <a:endParaRPr/>
          </a:p>
        </p:txBody>
      </p:sp>
      <p:sp>
        <p:nvSpPr>
          <p:cNvPr id="587" name="Google Shape;587;p7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280"/>
              <a:buChar char="⚫"/>
            </a:pPr>
            <a:r>
              <a:rPr b="0" i="0" lang="en-US" sz="2400">
                <a:solidFill>
                  <a:srgbClr val="222222"/>
                </a:solidFill>
              </a:rPr>
              <a:t>where λ is the average number of times the event has occurred in a certain period of time, </a:t>
            </a:r>
            <a:endParaRPr/>
          </a:p>
          <a:p>
            <a:pPr indent="-274320" lvl="0" marL="274320" rtl="0" algn="just">
              <a:spcBef>
                <a:spcPts val="480"/>
              </a:spcBef>
              <a:spcAft>
                <a:spcPts val="0"/>
              </a:spcAft>
              <a:buSzPts val="2280"/>
              <a:buChar char="⚫"/>
            </a:pPr>
            <a:r>
              <a:rPr b="0" i="0" lang="en-US" sz="2400">
                <a:solidFill>
                  <a:srgbClr val="222222"/>
                </a:solidFill>
              </a:rPr>
              <a:t>x is the poisson random variable (with desired outcome)</a:t>
            </a:r>
            <a:endParaRPr/>
          </a:p>
          <a:p>
            <a:pPr indent="-274320" lvl="0" marL="274320" rtl="0" algn="just">
              <a:spcBef>
                <a:spcPts val="480"/>
              </a:spcBef>
              <a:spcAft>
                <a:spcPts val="0"/>
              </a:spcAft>
              <a:buSzPts val="2280"/>
              <a:buChar char="⚫"/>
            </a:pPr>
            <a:r>
              <a:rPr b="0" i="0" lang="en-US" sz="2400">
                <a:solidFill>
                  <a:srgbClr val="222222"/>
                </a:solidFill>
              </a:rPr>
              <a:t>and e is the</a:t>
            </a:r>
            <a:r>
              <a:rPr b="0" i="0" lang="en-US" sz="2400">
                <a:solidFill>
                  <a:srgbClr val="333333"/>
                </a:solidFill>
              </a:rPr>
              <a:t> base of logarithm ,</a:t>
            </a:r>
            <a:r>
              <a:rPr b="0" i="0" lang="en-US" sz="2400">
                <a:solidFill>
                  <a:srgbClr val="222222"/>
                </a:solidFill>
              </a:rPr>
              <a:t> Euler’s number, and</a:t>
            </a:r>
            <a:r>
              <a:rPr b="0" i="0" lang="en-US" sz="2400">
                <a:solidFill>
                  <a:srgbClr val="333333"/>
                </a:solidFill>
              </a:rPr>
              <a:t> e = 2.71828 (approx).</a:t>
            </a:r>
            <a:endParaRPr sz="24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4"/>
          <p:cNvSpPr txBox="1"/>
          <p:nvPr>
            <p:ph type="title"/>
          </p:nvPr>
        </p:nvSpPr>
        <p:spPr>
          <a:xfrm>
            <a:off x="457200" y="704088"/>
            <a:ext cx="8229600" cy="1143000"/>
          </a:xfrm>
          <a:prstGeom prst="rect">
            <a:avLst/>
          </a:prstGeom>
          <a:noFill/>
          <a:ln>
            <a:noFill/>
          </a:ln>
        </p:spPr>
        <p:txBody>
          <a:bodyPr anchorCtr="0" anchor="t" bIns="0" lIns="0" spcFirstLastPara="1" rIns="0" wrap="square" tIns="45700">
            <a:noAutofit/>
          </a:bodyPr>
          <a:lstStyle/>
          <a:p>
            <a:pPr indent="0" lvl="0" marL="0" rtl="0" algn="l">
              <a:spcBef>
                <a:spcPts val="0"/>
              </a:spcBef>
              <a:spcAft>
                <a:spcPts val="0"/>
              </a:spcAft>
              <a:buClr>
                <a:schemeClr val="dk2"/>
              </a:buClr>
              <a:buSzPts val="4000"/>
              <a:buFont typeface="Arial"/>
              <a:buNone/>
            </a:pPr>
            <a:r>
              <a:rPr i="0" lang="en-US" sz="4000">
                <a:latin typeface="Arial"/>
                <a:ea typeface="Arial"/>
                <a:cs typeface="Arial"/>
                <a:sym typeface="Arial"/>
              </a:rPr>
              <a:t>Properties of Poisson Distribution</a:t>
            </a:r>
            <a:endParaRPr sz="4000"/>
          </a:p>
        </p:txBody>
      </p:sp>
      <p:sp>
        <p:nvSpPr>
          <p:cNvPr id="593" name="Google Shape;593;p7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Char char="⚫"/>
            </a:pPr>
            <a:r>
              <a:rPr lang="en-US">
                <a:solidFill>
                  <a:srgbClr val="333333"/>
                </a:solidFill>
              </a:rPr>
              <a:t>The occurrence of the event are independent in an interval.</a:t>
            </a:r>
            <a:endParaRPr/>
          </a:p>
          <a:p>
            <a:pPr indent="-274320" lvl="0" marL="274320" rtl="0" algn="just">
              <a:spcBef>
                <a:spcPts val="481"/>
              </a:spcBef>
              <a:spcAft>
                <a:spcPts val="0"/>
              </a:spcAft>
              <a:buSzPct val="95000"/>
              <a:buChar char="⚫"/>
            </a:pPr>
            <a:r>
              <a:rPr lang="en-US">
                <a:solidFill>
                  <a:srgbClr val="333333"/>
                </a:solidFill>
              </a:rPr>
              <a:t>An infinite number of occurrences of the of the event are possible in the interval.</a:t>
            </a:r>
            <a:endParaRPr/>
          </a:p>
          <a:p>
            <a:pPr indent="-274320" lvl="0" marL="274320" rtl="0" algn="just">
              <a:spcBef>
                <a:spcPts val="481"/>
              </a:spcBef>
              <a:spcAft>
                <a:spcPts val="0"/>
              </a:spcAft>
              <a:buSzPct val="95000"/>
              <a:buChar char="⚫"/>
            </a:pPr>
            <a:r>
              <a:rPr lang="en-US">
                <a:solidFill>
                  <a:srgbClr val="333333"/>
                </a:solidFill>
              </a:rPr>
              <a:t>The probability of a single event in the interval  is proportional to the length of the event.</a:t>
            </a:r>
            <a:endParaRPr/>
          </a:p>
          <a:p>
            <a:pPr indent="-274320" lvl="0" marL="274320" rtl="0" algn="just">
              <a:spcBef>
                <a:spcPts val="481"/>
              </a:spcBef>
              <a:spcAft>
                <a:spcPts val="0"/>
              </a:spcAft>
              <a:buSzPct val="95000"/>
              <a:buChar char="⚫"/>
            </a:pPr>
            <a:r>
              <a:rPr lang="en-US">
                <a:solidFill>
                  <a:srgbClr val="333333"/>
                </a:solidFill>
              </a:rPr>
              <a:t>In an infinitely small portion of the interval, the probability of more than one occurrence of the event is negligible.</a:t>
            </a:r>
            <a:endParaRPr/>
          </a:p>
          <a:p>
            <a:pPr indent="-274320" lvl="0" marL="274320" rtl="0" algn="just">
              <a:spcBef>
                <a:spcPts val="481"/>
              </a:spcBef>
              <a:spcAft>
                <a:spcPts val="0"/>
              </a:spcAft>
              <a:buSzPct val="95000"/>
              <a:buChar char="⚫"/>
            </a:pPr>
            <a:r>
              <a:rPr lang="en-US">
                <a:solidFill>
                  <a:srgbClr val="333333"/>
                </a:solidFill>
              </a:rPr>
              <a:t>The Poisson distribution is limited when the number of trials n is indefinitely large.</a:t>
            </a:r>
            <a:endParaRPr/>
          </a:p>
          <a:p>
            <a:pPr indent="-274320" lvl="0" marL="274320" rtl="0" algn="just">
              <a:spcBef>
                <a:spcPts val="481"/>
              </a:spcBef>
              <a:spcAft>
                <a:spcPts val="0"/>
              </a:spcAft>
              <a:buSzPct val="95000"/>
              <a:buChar char="⚫"/>
            </a:pPr>
            <a:r>
              <a:rPr lang="en-US">
                <a:solidFill>
                  <a:srgbClr val="333333"/>
                </a:solidFill>
              </a:rPr>
              <a:t>If the mean is large, then the Poisson distribution is approximately a normal distribution.</a:t>
            </a:r>
            <a:endParaRPr/>
          </a:p>
          <a:p>
            <a:pPr indent="-129238" lvl="0" marL="274320" rtl="0" algn="l">
              <a:spcBef>
                <a:spcPts val="481"/>
              </a:spcBef>
              <a:spcAft>
                <a:spcPts val="0"/>
              </a:spcAft>
              <a:buSzPct val="950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5"/>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Poisson Distribution</a:t>
            </a:r>
            <a:endParaRPr/>
          </a:p>
        </p:txBody>
      </p:sp>
      <p:sp>
        <p:nvSpPr>
          <p:cNvPr id="599" name="Google Shape;599;p7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280"/>
              <a:buChar char="⚫"/>
            </a:pPr>
            <a:r>
              <a:rPr lang="en-US" sz="2400">
                <a:solidFill>
                  <a:srgbClr val="333333"/>
                </a:solidFill>
              </a:rPr>
              <a:t>In Poisson distribution, the mean is represented as  μ = E(X) = λ.</a:t>
            </a:r>
            <a:endParaRPr/>
          </a:p>
          <a:p>
            <a:pPr indent="-274320" lvl="0" marL="274320" rtl="0" algn="just">
              <a:lnSpc>
                <a:spcPct val="90000"/>
              </a:lnSpc>
              <a:spcBef>
                <a:spcPts val="1480"/>
              </a:spcBef>
              <a:spcAft>
                <a:spcPts val="0"/>
              </a:spcAft>
              <a:buSzPts val="2280"/>
              <a:buChar char="⚫"/>
            </a:pPr>
            <a:r>
              <a:rPr lang="en-US" sz="2400">
                <a:solidFill>
                  <a:srgbClr val="333333"/>
                </a:solidFill>
              </a:rPr>
              <a:t>The mean and the variance of Poisson Distribution are equal. It means that E(X) = V(X)</a:t>
            </a:r>
            <a:endParaRPr/>
          </a:p>
          <a:p>
            <a:pPr indent="-274320" lvl="0" marL="274320" rtl="0" algn="just">
              <a:lnSpc>
                <a:spcPct val="90000"/>
              </a:lnSpc>
              <a:spcBef>
                <a:spcPts val="1480"/>
              </a:spcBef>
              <a:spcAft>
                <a:spcPts val="0"/>
              </a:spcAft>
              <a:buSzPts val="2280"/>
              <a:buChar char="⚫"/>
            </a:pPr>
            <a:r>
              <a:rPr lang="en-US" sz="2400">
                <a:solidFill>
                  <a:srgbClr val="333333"/>
                </a:solidFill>
              </a:rPr>
              <a:t>Where,</a:t>
            </a:r>
            <a:endParaRPr/>
          </a:p>
          <a:p>
            <a:pPr indent="-274320" lvl="0" marL="274320" rtl="0" algn="just">
              <a:lnSpc>
                <a:spcPct val="90000"/>
              </a:lnSpc>
              <a:spcBef>
                <a:spcPts val="1480"/>
              </a:spcBef>
              <a:spcAft>
                <a:spcPts val="0"/>
              </a:spcAft>
              <a:buSzPts val="2280"/>
              <a:buChar char="⚫"/>
            </a:pPr>
            <a:r>
              <a:rPr lang="en-US" sz="2400">
                <a:solidFill>
                  <a:srgbClr val="333333"/>
                </a:solidFill>
              </a:rPr>
              <a:t>V(X) is the variance.</a:t>
            </a:r>
            <a:endParaRPr/>
          </a:p>
          <a:p>
            <a:pPr indent="-274320" lvl="0" marL="274320" rtl="0" algn="just">
              <a:lnSpc>
                <a:spcPct val="90000"/>
              </a:lnSpc>
              <a:spcBef>
                <a:spcPts val="1480"/>
              </a:spcBef>
              <a:spcAft>
                <a:spcPts val="0"/>
              </a:spcAft>
              <a:buSzPts val="2280"/>
              <a:buChar char="⚫"/>
            </a:pPr>
            <a:r>
              <a:rPr lang="en-US" sz="2400">
                <a:solidFill>
                  <a:srgbClr val="333333"/>
                </a:solidFill>
              </a:rPr>
              <a:t>The standard deviation is always equal to the square root of the mean μ.</a:t>
            </a:r>
            <a:endParaRPr/>
          </a:p>
          <a:p>
            <a:pPr indent="-117475" lvl="0" marL="274320" rtl="0" algn="just">
              <a:spcBef>
                <a:spcPts val="1000"/>
              </a:spcBef>
              <a:spcAft>
                <a:spcPts val="0"/>
              </a:spcAft>
              <a:buSzPts val="2470"/>
              <a:buNone/>
            </a:pPr>
            <a:r>
              <a:t/>
            </a:r>
            <a:endParaRPr b="0" i="0">
              <a:solidFill>
                <a:srgbClr val="000000"/>
              </a:solidFill>
            </a:endParaRPr>
          </a:p>
          <a:p>
            <a:pPr indent="-117475" lvl="0" marL="274320" rtl="0" algn="l">
              <a:spcBef>
                <a:spcPts val="1520"/>
              </a:spcBef>
              <a:spcAft>
                <a:spcPts val="0"/>
              </a:spcAft>
              <a:buSzPts val="247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6"/>
          <p:cNvSpPr txBox="1"/>
          <p:nvPr>
            <p:ph type="title"/>
          </p:nvPr>
        </p:nvSpPr>
        <p:spPr>
          <a:xfrm>
            <a:off x="301752" y="183524"/>
            <a:ext cx="8534400" cy="149287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i="0" lang="en-US" sz="4400"/>
              <a:t>Applications of Poisson Distribution</a:t>
            </a:r>
            <a:endParaRPr sz="4400"/>
          </a:p>
        </p:txBody>
      </p:sp>
      <p:sp>
        <p:nvSpPr>
          <p:cNvPr id="605" name="Google Shape;605;p76"/>
          <p:cNvSpPr txBox="1"/>
          <p:nvPr>
            <p:ph idx="1" type="body"/>
          </p:nvPr>
        </p:nvSpPr>
        <p:spPr>
          <a:xfrm>
            <a:off x="454152" y="205740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Font typeface="Arial"/>
              <a:buChar char="•"/>
            </a:pPr>
            <a:r>
              <a:rPr b="0" i="0" lang="en-US">
                <a:solidFill>
                  <a:srgbClr val="333333"/>
                </a:solidFill>
              </a:rPr>
              <a:t>To count the number of defects of a finished product</a:t>
            </a:r>
            <a:endParaRPr/>
          </a:p>
          <a:p>
            <a:pPr indent="-274320" lvl="0" marL="274320" rtl="0" algn="just">
              <a:spcBef>
                <a:spcPts val="520"/>
              </a:spcBef>
              <a:spcAft>
                <a:spcPts val="0"/>
              </a:spcAft>
              <a:buSzPts val="2470"/>
              <a:buFont typeface="Arial"/>
              <a:buChar char="•"/>
            </a:pPr>
            <a:r>
              <a:rPr b="0" i="0" lang="en-US">
                <a:solidFill>
                  <a:srgbClr val="333333"/>
                </a:solidFill>
              </a:rPr>
              <a:t>To count the number of deaths in a country by any disease or natural calamity</a:t>
            </a:r>
            <a:endParaRPr/>
          </a:p>
          <a:p>
            <a:pPr indent="-274320" lvl="0" marL="274320" rtl="0" algn="just">
              <a:spcBef>
                <a:spcPts val="520"/>
              </a:spcBef>
              <a:spcAft>
                <a:spcPts val="0"/>
              </a:spcAft>
              <a:buSzPts val="2470"/>
              <a:buFont typeface="Arial"/>
              <a:buChar char="•"/>
            </a:pPr>
            <a:r>
              <a:rPr b="0" i="0" lang="en-US">
                <a:solidFill>
                  <a:srgbClr val="333333"/>
                </a:solidFill>
              </a:rPr>
              <a:t>To count the number of infected plants in the field</a:t>
            </a:r>
            <a:endParaRPr/>
          </a:p>
          <a:p>
            <a:pPr indent="-274320" lvl="0" marL="274320" rtl="0" algn="just">
              <a:spcBef>
                <a:spcPts val="520"/>
              </a:spcBef>
              <a:spcAft>
                <a:spcPts val="0"/>
              </a:spcAft>
              <a:buSzPts val="2470"/>
              <a:buFont typeface="Arial"/>
              <a:buChar char="•"/>
            </a:pPr>
            <a:r>
              <a:rPr b="0" i="0" lang="en-US">
                <a:solidFill>
                  <a:srgbClr val="333333"/>
                </a:solidFill>
              </a:rPr>
              <a:t>To count the number of bacteria in the organisms or the radioactive decay in atoms</a:t>
            </a:r>
            <a:endParaRPr/>
          </a:p>
          <a:p>
            <a:pPr indent="-274320" lvl="0" marL="274320" rtl="0" algn="just">
              <a:spcBef>
                <a:spcPts val="520"/>
              </a:spcBef>
              <a:spcAft>
                <a:spcPts val="0"/>
              </a:spcAft>
              <a:buSzPts val="2470"/>
              <a:buFont typeface="Arial"/>
              <a:buChar char="•"/>
            </a:pPr>
            <a:r>
              <a:rPr b="0" i="0" lang="en-US">
                <a:solidFill>
                  <a:srgbClr val="333333"/>
                </a:solidFill>
              </a:rPr>
              <a:t>To calculate the waiting time between the events.</a:t>
            </a:r>
            <a:endParaRPr/>
          </a:p>
          <a:p>
            <a:pPr indent="-117475" lvl="0" marL="274320" rtl="0" algn="just">
              <a:spcBef>
                <a:spcPts val="520"/>
              </a:spcBef>
              <a:spcAft>
                <a:spcPts val="0"/>
              </a:spcAft>
              <a:buSzPts val="247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7"/>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Poisson Distribution-Example</a:t>
            </a:r>
            <a:endParaRPr/>
          </a:p>
        </p:txBody>
      </p:sp>
      <p:sp>
        <p:nvSpPr>
          <p:cNvPr id="611" name="Google Shape;611;p7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just">
              <a:spcBef>
                <a:spcPts val="0"/>
              </a:spcBef>
              <a:spcAft>
                <a:spcPts val="0"/>
              </a:spcAft>
              <a:buSzPct val="95000"/>
              <a:buChar char="⚫"/>
            </a:pPr>
            <a:r>
              <a:rPr b="0" i="0" lang="en-US">
                <a:solidFill>
                  <a:srgbClr val="333333"/>
                </a:solidFill>
              </a:rPr>
              <a:t>In a cafe, the customer arrives at a mean rate of 2 per min. Find the probability of arrival of 5 customers in 1 minute using the Poisson distribution formula.</a:t>
            </a:r>
            <a:endParaRPr/>
          </a:p>
          <a:p>
            <a:pPr indent="-274320" lvl="0" marL="274320" rtl="0" algn="just">
              <a:spcBef>
                <a:spcPts val="481"/>
              </a:spcBef>
              <a:spcAft>
                <a:spcPts val="0"/>
              </a:spcAft>
              <a:buSzPct val="95000"/>
              <a:buChar char="⚫"/>
            </a:pPr>
            <a:r>
              <a:rPr b="1" i="0" lang="en-US">
                <a:solidFill>
                  <a:srgbClr val="333333"/>
                </a:solidFill>
              </a:rPr>
              <a:t>Solution:</a:t>
            </a:r>
            <a:endParaRPr b="0" i="0">
              <a:solidFill>
                <a:srgbClr val="333333"/>
              </a:solidFill>
            </a:endParaRPr>
          </a:p>
          <a:p>
            <a:pPr indent="-274320" lvl="0" marL="274320" rtl="0" algn="just">
              <a:spcBef>
                <a:spcPts val="481"/>
              </a:spcBef>
              <a:spcAft>
                <a:spcPts val="0"/>
              </a:spcAft>
              <a:buSzPct val="95000"/>
              <a:buChar char="⚫"/>
            </a:pPr>
            <a:r>
              <a:rPr b="0" i="0" lang="en-US">
                <a:solidFill>
                  <a:srgbClr val="333333"/>
                </a:solidFill>
              </a:rPr>
              <a:t>Given: λ = 2, and x = 5.</a:t>
            </a:r>
            <a:endParaRPr/>
          </a:p>
          <a:p>
            <a:pPr indent="-274320" lvl="0" marL="274320" rtl="0" algn="just">
              <a:spcBef>
                <a:spcPts val="481"/>
              </a:spcBef>
              <a:spcAft>
                <a:spcPts val="0"/>
              </a:spcAft>
              <a:buSzPct val="95000"/>
              <a:buChar char="⚫"/>
            </a:pPr>
            <a:r>
              <a:rPr b="0" i="0" lang="en-US">
                <a:solidFill>
                  <a:srgbClr val="333333"/>
                </a:solidFill>
              </a:rPr>
              <a:t>Using the Poisson distribution formula:</a:t>
            </a:r>
            <a:endParaRPr/>
          </a:p>
          <a:p>
            <a:pPr indent="-274320" lvl="0" marL="274320" rtl="0" algn="just">
              <a:spcBef>
                <a:spcPts val="481"/>
              </a:spcBef>
              <a:spcAft>
                <a:spcPts val="0"/>
              </a:spcAft>
              <a:buSzPct val="95000"/>
              <a:buChar char="⚫"/>
            </a:pPr>
            <a:r>
              <a:rPr b="0" i="0" lang="en-US">
                <a:solidFill>
                  <a:srgbClr val="333333"/>
                </a:solidFill>
              </a:rPr>
              <a:t>P(X = x) = (e</a:t>
            </a:r>
            <a:r>
              <a:rPr b="0" baseline="30000" i="0" lang="en-US">
                <a:solidFill>
                  <a:srgbClr val="333333"/>
                </a:solidFill>
              </a:rPr>
              <a:t>-λ</a:t>
            </a:r>
            <a:r>
              <a:rPr b="0" i="0" lang="en-US">
                <a:solidFill>
                  <a:srgbClr val="333333"/>
                </a:solidFill>
              </a:rPr>
              <a:t> λ</a:t>
            </a:r>
            <a:r>
              <a:rPr b="0" baseline="30000" i="0" lang="en-US">
                <a:solidFill>
                  <a:srgbClr val="333333"/>
                </a:solidFill>
              </a:rPr>
              <a:t>x</a:t>
            </a:r>
            <a:r>
              <a:rPr b="0" i="0" lang="en-US">
                <a:solidFill>
                  <a:srgbClr val="333333"/>
                </a:solidFill>
              </a:rPr>
              <a:t> )/x!</a:t>
            </a:r>
            <a:endParaRPr/>
          </a:p>
          <a:p>
            <a:pPr indent="-274320" lvl="0" marL="274320" rtl="0" algn="just">
              <a:spcBef>
                <a:spcPts val="481"/>
              </a:spcBef>
              <a:spcAft>
                <a:spcPts val="0"/>
              </a:spcAft>
              <a:buSzPct val="95000"/>
              <a:buChar char="⚫"/>
            </a:pPr>
            <a:r>
              <a:rPr b="0" i="0" lang="en-US">
                <a:solidFill>
                  <a:srgbClr val="333333"/>
                </a:solidFill>
              </a:rPr>
              <a:t>P(X = 5) = (e</a:t>
            </a:r>
            <a:r>
              <a:rPr b="0" baseline="30000" i="0" lang="en-US">
                <a:solidFill>
                  <a:srgbClr val="333333"/>
                </a:solidFill>
              </a:rPr>
              <a:t>-2</a:t>
            </a:r>
            <a:r>
              <a:rPr b="0" i="0" lang="en-US">
                <a:solidFill>
                  <a:srgbClr val="333333"/>
                </a:solidFill>
              </a:rPr>
              <a:t> 2</a:t>
            </a:r>
            <a:r>
              <a:rPr b="0" baseline="30000" i="0" lang="en-US">
                <a:solidFill>
                  <a:srgbClr val="333333"/>
                </a:solidFill>
              </a:rPr>
              <a:t>5</a:t>
            </a:r>
            <a:r>
              <a:rPr b="0" i="0" lang="en-US">
                <a:solidFill>
                  <a:srgbClr val="333333"/>
                </a:solidFill>
              </a:rPr>
              <a:t> )/5!</a:t>
            </a:r>
            <a:endParaRPr/>
          </a:p>
          <a:p>
            <a:pPr indent="-274320" lvl="0" marL="274320" rtl="0" algn="just">
              <a:spcBef>
                <a:spcPts val="481"/>
              </a:spcBef>
              <a:spcAft>
                <a:spcPts val="0"/>
              </a:spcAft>
              <a:buSzPct val="95000"/>
              <a:buChar char="⚫"/>
            </a:pPr>
            <a:r>
              <a:rPr b="0" i="0" lang="en-US">
                <a:solidFill>
                  <a:srgbClr val="333333"/>
                </a:solidFill>
              </a:rPr>
              <a:t>P(X = 5) = 0.036</a:t>
            </a:r>
            <a:endParaRPr/>
          </a:p>
          <a:p>
            <a:pPr indent="-274320" lvl="0" marL="274320" rtl="0" algn="just">
              <a:spcBef>
                <a:spcPts val="481"/>
              </a:spcBef>
              <a:spcAft>
                <a:spcPts val="0"/>
              </a:spcAft>
              <a:buSzPct val="95000"/>
              <a:buChar char="⚫"/>
            </a:pPr>
            <a:r>
              <a:rPr b="1" i="0" lang="en-US">
                <a:solidFill>
                  <a:srgbClr val="333333"/>
                </a:solidFill>
              </a:rPr>
              <a:t>Answer: The probability of arrival of 5 customers per minute is 3.6%.</a:t>
            </a:r>
            <a:endParaRPr b="0" i="0">
              <a:solidFill>
                <a:srgbClr val="333333"/>
              </a:solidFill>
            </a:endParaRPr>
          </a:p>
          <a:p>
            <a:pPr indent="-129238" lvl="0" marL="274320" rtl="0" algn="just">
              <a:spcBef>
                <a:spcPts val="481"/>
              </a:spcBef>
              <a:spcAft>
                <a:spcPts val="0"/>
              </a:spcAft>
              <a:buSzPct val="95000"/>
              <a:buNone/>
            </a:pPr>
            <a:r>
              <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8"/>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Poisson Distribution-Example</a:t>
            </a:r>
            <a:endParaRPr/>
          </a:p>
        </p:txBody>
      </p:sp>
      <p:sp>
        <p:nvSpPr>
          <p:cNvPr id="617" name="Google Shape;617;p7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470"/>
              <a:buChar char="⚫"/>
            </a:pPr>
            <a:r>
              <a:rPr b="0" i="0" lang="en-US">
                <a:solidFill>
                  <a:srgbClr val="333333"/>
                </a:solidFill>
              </a:rPr>
              <a:t>Find the mass probability of function at x = 6, if the value of the mean is 3.4.</a:t>
            </a:r>
            <a:endParaRPr/>
          </a:p>
          <a:p>
            <a:pPr indent="-117475" lvl="0" marL="274320" rtl="0" algn="just">
              <a:spcBef>
                <a:spcPts val="520"/>
              </a:spcBef>
              <a:spcAft>
                <a:spcPts val="0"/>
              </a:spcAft>
              <a:buSzPts val="2470"/>
              <a:buNone/>
            </a:pPr>
            <a:r>
              <a:t/>
            </a:r>
            <a:endParaRPr b="0" i="0">
              <a:solidFill>
                <a:srgbClr val="333333"/>
              </a:solidFill>
            </a:endParaRPr>
          </a:p>
          <a:p>
            <a:pPr indent="-274320" lvl="0" marL="274320" rtl="0" algn="just">
              <a:spcBef>
                <a:spcPts val="520"/>
              </a:spcBef>
              <a:spcAft>
                <a:spcPts val="0"/>
              </a:spcAft>
              <a:buSzPts val="2470"/>
              <a:buChar char="⚫"/>
            </a:pPr>
            <a:r>
              <a:rPr b="1" i="0" lang="en-US">
                <a:solidFill>
                  <a:srgbClr val="333333"/>
                </a:solidFill>
              </a:rPr>
              <a:t>Solution</a:t>
            </a:r>
            <a:r>
              <a:rPr b="0" i="0" lang="en-US">
                <a:solidFill>
                  <a:srgbClr val="333333"/>
                </a:solidFill>
              </a:rPr>
              <a:t>:</a:t>
            </a:r>
            <a:endParaRPr/>
          </a:p>
          <a:p>
            <a:pPr indent="-274320" lvl="0" marL="274320" rtl="0" algn="just">
              <a:spcBef>
                <a:spcPts val="520"/>
              </a:spcBef>
              <a:spcAft>
                <a:spcPts val="0"/>
              </a:spcAft>
              <a:buSzPts val="2470"/>
              <a:buChar char="⚫"/>
            </a:pPr>
            <a:r>
              <a:rPr b="0" i="0" lang="en-US">
                <a:solidFill>
                  <a:srgbClr val="333333"/>
                </a:solidFill>
              </a:rPr>
              <a:t>Given: λ = 3.4, and x = 6.</a:t>
            </a:r>
            <a:endParaRPr/>
          </a:p>
          <a:p>
            <a:pPr indent="-274320" lvl="0" marL="274320" rtl="0" algn="just">
              <a:spcBef>
                <a:spcPts val="520"/>
              </a:spcBef>
              <a:spcAft>
                <a:spcPts val="0"/>
              </a:spcAft>
              <a:buSzPts val="2470"/>
              <a:buChar char="⚫"/>
            </a:pPr>
            <a:r>
              <a:rPr b="0" i="0" lang="en-US">
                <a:solidFill>
                  <a:srgbClr val="333333"/>
                </a:solidFill>
              </a:rPr>
              <a:t>Using the Poisson distribution formula:</a:t>
            </a:r>
            <a:endParaRPr/>
          </a:p>
          <a:p>
            <a:pPr indent="-274320" lvl="0" marL="274320" rtl="0" algn="just">
              <a:spcBef>
                <a:spcPts val="520"/>
              </a:spcBef>
              <a:spcAft>
                <a:spcPts val="0"/>
              </a:spcAft>
              <a:buSzPts val="2470"/>
              <a:buChar char="⚫"/>
            </a:pPr>
            <a:r>
              <a:rPr b="0" i="0" lang="en-US">
                <a:solidFill>
                  <a:srgbClr val="333333"/>
                </a:solidFill>
              </a:rPr>
              <a:t>P(X = x) = (e</a:t>
            </a:r>
            <a:r>
              <a:rPr b="0" baseline="30000" i="0" lang="en-US">
                <a:solidFill>
                  <a:srgbClr val="333333"/>
                </a:solidFill>
              </a:rPr>
              <a:t>-λ</a:t>
            </a:r>
            <a:r>
              <a:rPr b="0" i="0" lang="en-US">
                <a:solidFill>
                  <a:srgbClr val="333333"/>
                </a:solidFill>
              </a:rPr>
              <a:t> λ</a:t>
            </a:r>
            <a:r>
              <a:rPr b="0" baseline="30000" i="0" lang="en-US">
                <a:solidFill>
                  <a:srgbClr val="333333"/>
                </a:solidFill>
              </a:rPr>
              <a:t>x</a:t>
            </a:r>
            <a:r>
              <a:rPr b="0" i="0" lang="en-US">
                <a:solidFill>
                  <a:srgbClr val="333333"/>
                </a:solidFill>
              </a:rPr>
              <a:t> )/x!</a:t>
            </a:r>
            <a:endParaRPr/>
          </a:p>
          <a:p>
            <a:pPr indent="-274320" lvl="0" marL="274320" rtl="0" algn="just">
              <a:spcBef>
                <a:spcPts val="520"/>
              </a:spcBef>
              <a:spcAft>
                <a:spcPts val="0"/>
              </a:spcAft>
              <a:buSzPts val="2470"/>
              <a:buChar char="⚫"/>
            </a:pPr>
            <a:r>
              <a:rPr b="0" i="0" lang="en-US">
                <a:solidFill>
                  <a:srgbClr val="333333"/>
                </a:solidFill>
              </a:rPr>
              <a:t>P(X = 6) = (e</a:t>
            </a:r>
            <a:r>
              <a:rPr b="0" baseline="30000" i="0" lang="en-US">
                <a:solidFill>
                  <a:srgbClr val="333333"/>
                </a:solidFill>
              </a:rPr>
              <a:t>-3.4</a:t>
            </a:r>
            <a:r>
              <a:rPr b="0" i="0" lang="en-US">
                <a:solidFill>
                  <a:srgbClr val="333333"/>
                </a:solidFill>
              </a:rPr>
              <a:t> 3.4</a:t>
            </a:r>
            <a:r>
              <a:rPr b="0" baseline="30000" i="0" lang="en-US">
                <a:solidFill>
                  <a:srgbClr val="333333"/>
                </a:solidFill>
              </a:rPr>
              <a:t>6</a:t>
            </a:r>
            <a:r>
              <a:rPr b="0" i="0" lang="en-US">
                <a:solidFill>
                  <a:srgbClr val="333333"/>
                </a:solidFill>
              </a:rPr>
              <a:t> )/6!</a:t>
            </a:r>
            <a:endParaRPr/>
          </a:p>
          <a:p>
            <a:pPr indent="-274320" lvl="0" marL="274320" rtl="0" algn="just">
              <a:spcBef>
                <a:spcPts val="520"/>
              </a:spcBef>
              <a:spcAft>
                <a:spcPts val="0"/>
              </a:spcAft>
              <a:buSzPts val="2470"/>
              <a:buChar char="⚫"/>
            </a:pPr>
            <a:r>
              <a:rPr b="0" i="0" lang="en-US">
                <a:solidFill>
                  <a:srgbClr val="333333"/>
                </a:solidFill>
              </a:rPr>
              <a:t>P(X = 6) = 0.072</a:t>
            </a:r>
            <a:endParaRPr/>
          </a:p>
          <a:p>
            <a:pPr indent="-274320" lvl="0" marL="274320" rtl="0" algn="just">
              <a:spcBef>
                <a:spcPts val="520"/>
              </a:spcBef>
              <a:spcAft>
                <a:spcPts val="0"/>
              </a:spcAft>
              <a:buSzPts val="2470"/>
              <a:buChar char="⚫"/>
            </a:pPr>
            <a:r>
              <a:rPr b="1" i="0" lang="en-US">
                <a:solidFill>
                  <a:srgbClr val="333333"/>
                </a:solidFill>
              </a:rPr>
              <a:t>Answer: The probability of function is 7.2%.</a:t>
            </a:r>
            <a:endParaRPr b="0" i="0">
              <a:solidFill>
                <a:srgbClr val="333333"/>
              </a:solidFill>
            </a:endParaRPr>
          </a:p>
          <a:p>
            <a:pPr indent="-117475" lvl="0" marL="274320" rtl="0" algn="just">
              <a:spcBef>
                <a:spcPts val="520"/>
              </a:spcBef>
              <a:spcAft>
                <a:spcPts val="0"/>
              </a:spcAft>
              <a:buSzPts val="2470"/>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79"/>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Poisson Distribution-Example</a:t>
            </a:r>
            <a:endParaRPr/>
          </a:p>
        </p:txBody>
      </p:sp>
      <p:sp>
        <p:nvSpPr>
          <p:cNvPr id="623" name="Google Shape;623;p79"/>
          <p:cNvSpPr txBox="1"/>
          <p:nvPr>
            <p:ph idx="1" type="body"/>
          </p:nvPr>
        </p:nvSpPr>
        <p:spPr>
          <a:xfrm>
            <a:off x="476250" y="1351026"/>
            <a:ext cx="8229600" cy="4864037"/>
          </a:xfrm>
          <a:prstGeom prst="rect">
            <a:avLst/>
          </a:prstGeom>
          <a:noFill/>
          <a:ln>
            <a:noFill/>
          </a:ln>
        </p:spPr>
        <p:txBody>
          <a:bodyPr anchorCtr="0" anchor="t" bIns="45700" lIns="91425" spcFirstLastPara="1" rIns="91425" wrap="square" tIns="45700">
            <a:noAutofit/>
          </a:bodyPr>
          <a:lstStyle/>
          <a:p>
            <a:pPr indent="-274320" lvl="0" marL="274320" rtl="0" algn="l">
              <a:spcBef>
                <a:spcPts val="0"/>
              </a:spcBef>
              <a:spcAft>
                <a:spcPts val="0"/>
              </a:spcAft>
              <a:buSzPts val="1710"/>
              <a:buChar char="⚫"/>
            </a:pPr>
            <a:r>
              <a:rPr b="1" i="0" lang="en-US" sz="1800">
                <a:solidFill>
                  <a:srgbClr val="333333"/>
                </a:solidFill>
              </a:rPr>
              <a:t>If 3% of electronic units manufactured by a company are defective. Find the probability that in a sample of 200 units, less than 2 bulbs are defective.</a:t>
            </a:r>
            <a:endParaRPr/>
          </a:p>
          <a:p>
            <a:pPr indent="-165735" lvl="0" marL="274320" rtl="0" algn="l">
              <a:spcBef>
                <a:spcPts val="360"/>
              </a:spcBef>
              <a:spcAft>
                <a:spcPts val="0"/>
              </a:spcAft>
              <a:buSzPts val="1710"/>
              <a:buNone/>
            </a:pPr>
            <a:r>
              <a:t/>
            </a:r>
            <a:endParaRPr b="0" i="0" sz="1800">
              <a:solidFill>
                <a:srgbClr val="333333"/>
              </a:solidFill>
            </a:endParaRPr>
          </a:p>
          <a:p>
            <a:pPr indent="-274320" lvl="0" marL="274320" rtl="0" algn="l">
              <a:spcBef>
                <a:spcPts val="360"/>
              </a:spcBef>
              <a:spcAft>
                <a:spcPts val="0"/>
              </a:spcAft>
              <a:buSzPts val="1710"/>
              <a:buChar char="⚫"/>
            </a:pPr>
            <a:r>
              <a:rPr b="1" i="0" lang="en-US" sz="1800">
                <a:solidFill>
                  <a:srgbClr val="333333"/>
                </a:solidFill>
              </a:rPr>
              <a:t>Solution:</a:t>
            </a:r>
            <a:endParaRPr b="0" i="0" sz="1800">
              <a:solidFill>
                <a:srgbClr val="333333"/>
              </a:solidFill>
            </a:endParaRPr>
          </a:p>
          <a:p>
            <a:pPr indent="-274320" lvl="0" marL="274320" rtl="0" algn="l">
              <a:spcBef>
                <a:spcPts val="360"/>
              </a:spcBef>
              <a:spcAft>
                <a:spcPts val="0"/>
              </a:spcAft>
              <a:buSzPts val="1710"/>
              <a:buChar char="⚫"/>
            </a:pPr>
            <a:r>
              <a:rPr b="0" i="0" lang="en-US" sz="1800">
                <a:solidFill>
                  <a:srgbClr val="333333"/>
                </a:solidFill>
              </a:rPr>
              <a:t>The probability of defective units p = 3/100 = 0.03</a:t>
            </a:r>
            <a:endParaRPr/>
          </a:p>
          <a:p>
            <a:pPr indent="-274320" lvl="0" marL="274320" rtl="0" algn="l">
              <a:spcBef>
                <a:spcPts val="360"/>
              </a:spcBef>
              <a:spcAft>
                <a:spcPts val="0"/>
              </a:spcAft>
              <a:buSzPts val="1710"/>
              <a:buChar char="⚫"/>
            </a:pPr>
            <a:r>
              <a:rPr b="0" i="0" lang="en-US" sz="1800">
                <a:solidFill>
                  <a:srgbClr val="333333"/>
                </a:solidFill>
              </a:rPr>
              <a:t>Give n = 200.</a:t>
            </a:r>
            <a:endParaRPr/>
          </a:p>
          <a:p>
            <a:pPr indent="-274320" lvl="0" marL="274320" rtl="0" algn="l">
              <a:spcBef>
                <a:spcPts val="360"/>
              </a:spcBef>
              <a:spcAft>
                <a:spcPts val="0"/>
              </a:spcAft>
              <a:buSzPts val="1710"/>
              <a:buChar char="⚫"/>
            </a:pPr>
            <a:r>
              <a:rPr b="0" i="0" lang="en-US" sz="1800">
                <a:solidFill>
                  <a:srgbClr val="333333"/>
                </a:solidFill>
              </a:rPr>
              <a:t>We observe that p is small and n is large here. Thus it is a Poisson distribution.</a:t>
            </a:r>
            <a:endParaRPr/>
          </a:p>
          <a:p>
            <a:pPr indent="-274320" lvl="0" marL="274320" rtl="0" algn="l">
              <a:spcBef>
                <a:spcPts val="360"/>
              </a:spcBef>
              <a:spcAft>
                <a:spcPts val="0"/>
              </a:spcAft>
              <a:buSzPts val="1710"/>
              <a:buChar char="⚫"/>
            </a:pPr>
            <a:r>
              <a:rPr b="0" i="0" lang="en-US" sz="1800">
                <a:solidFill>
                  <a:srgbClr val="333333"/>
                </a:solidFill>
              </a:rPr>
              <a:t>Mean λ= np = 200 × 0.03 = 6</a:t>
            </a:r>
            <a:endParaRPr/>
          </a:p>
          <a:p>
            <a:pPr indent="-274320" lvl="0" marL="274320" rtl="0" algn="l">
              <a:spcBef>
                <a:spcPts val="360"/>
              </a:spcBef>
              <a:spcAft>
                <a:spcPts val="0"/>
              </a:spcAft>
              <a:buSzPts val="1710"/>
              <a:buChar char="⚫"/>
            </a:pPr>
            <a:r>
              <a:rPr b="0" i="0" lang="en-US" sz="1800">
                <a:solidFill>
                  <a:srgbClr val="333333"/>
                </a:solidFill>
              </a:rPr>
              <a:t>P(X= x) is given by the Poisson Distribution Formula as (e</a:t>
            </a:r>
            <a:r>
              <a:rPr b="0" baseline="30000" i="0" lang="en-US" sz="1800">
                <a:solidFill>
                  <a:srgbClr val="333333"/>
                </a:solidFill>
              </a:rPr>
              <a:t>-λ</a:t>
            </a:r>
            <a:r>
              <a:rPr b="0" i="0" lang="en-US" sz="1800">
                <a:solidFill>
                  <a:srgbClr val="333333"/>
                </a:solidFill>
              </a:rPr>
              <a:t> λ</a:t>
            </a:r>
            <a:r>
              <a:rPr b="0" baseline="30000" i="0" lang="en-US" sz="1800">
                <a:solidFill>
                  <a:srgbClr val="333333"/>
                </a:solidFill>
              </a:rPr>
              <a:t>x</a:t>
            </a:r>
            <a:r>
              <a:rPr b="0" i="0" lang="en-US" sz="1800">
                <a:solidFill>
                  <a:srgbClr val="333333"/>
                </a:solidFill>
              </a:rPr>
              <a:t> )/x!</a:t>
            </a:r>
            <a:endParaRPr/>
          </a:p>
          <a:p>
            <a:pPr indent="-274320" lvl="0" marL="274320" rtl="0" algn="l">
              <a:spcBef>
                <a:spcPts val="360"/>
              </a:spcBef>
              <a:spcAft>
                <a:spcPts val="0"/>
              </a:spcAft>
              <a:buSzPts val="1710"/>
              <a:buChar char="⚫"/>
            </a:pPr>
            <a:r>
              <a:rPr b="0" i="0" lang="en-US" sz="1800">
                <a:solidFill>
                  <a:srgbClr val="333333"/>
                </a:solidFill>
              </a:rPr>
              <a:t>P(X &lt; 2) = P(X = 0) + P(X= 1)</a:t>
            </a:r>
            <a:endParaRPr/>
          </a:p>
          <a:p>
            <a:pPr indent="-274320" lvl="0" marL="274320" rtl="0" algn="l">
              <a:spcBef>
                <a:spcPts val="360"/>
              </a:spcBef>
              <a:spcAft>
                <a:spcPts val="0"/>
              </a:spcAft>
              <a:buSzPts val="1710"/>
              <a:buChar char="⚫"/>
            </a:pPr>
            <a:r>
              <a:rPr b="0" i="0" lang="en-US" sz="1800">
                <a:solidFill>
                  <a:srgbClr val="333333"/>
                </a:solidFill>
              </a:rPr>
              <a:t>=(e</a:t>
            </a:r>
            <a:r>
              <a:rPr b="0" baseline="30000" i="0" lang="en-US" sz="1800">
                <a:solidFill>
                  <a:srgbClr val="333333"/>
                </a:solidFill>
              </a:rPr>
              <a:t>-6</a:t>
            </a:r>
            <a:r>
              <a:rPr b="0" i="0" lang="en-US" sz="1800">
                <a:solidFill>
                  <a:srgbClr val="333333"/>
                </a:solidFill>
              </a:rPr>
              <a:t> 6</a:t>
            </a:r>
            <a:r>
              <a:rPr b="0" baseline="30000" i="0" lang="en-US" sz="1800">
                <a:solidFill>
                  <a:srgbClr val="333333"/>
                </a:solidFill>
              </a:rPr>
              <a:t>0</a:t>
            </a:r>
            <a:r>
              <a:rPr b="0" i="0" lang="en-US" sz="1800">
                <a:solidFill>
                  <a:srgbClr val="333333"/>
                </a:solidFill>
              </a:rPr>
              <a:t> )/0! + (e</a:t>
            </a:r>
            <a:r>
              <a:rPr b="0" baseline="30000" i="0" lang="en-US" sz="1800">
                <a:solidFill>
                  <a:srgbClr val="333333"/>
                </a:solidFill>
              </a:rPr>
              <a:t>-6</a:t>
            </a:r>
            <a:r>
              <a:rPr b="0" i="0" lang="en-US" sz="1800">
                <a:solidFill>
                  <a:srgbClr val="333333"/>
                </a:solidFill>
              </a:rPr>
              <a:t>6</a:t>
            </a:r>
            <a:r>
              <a:rPr b="0" baseline="30000" i="0" lang="en-US" sz="1800">
                <a:solidFill>
                  <a:srgbClr val="333333"/>
                </a:solidFill>
              </a:rPr>
              <a:t>1</a:t>
            </a:r>
            <a:r>
              <a:rPr b="0" i="0" lang="en-US" sz="1800">
                <a:solidFill>
                  <a:srgbClr val="333333"/>
                </a:solidFill>
              </a:rPr>
              <a:t> )/1!</a:t>
            </a:r>
            <a:endParaRPr/>
          </a:p>
          <a:p>
            <a:pPr indent="-274320" lvl="0" marL="274320" rtl="0" algn="l">
              <a:spcBef>
                <a:spcPts val="360"/>
              </a:spcBef>
              <a:spcAft>
                <a:spcPts val="0"/>
              </a:spcAft>
              <a:buSzPts val="1710"/>
              <a:buChar char="⚫"/>
            </a:pPr>
            <a:r>
              <a:rPr b="0" i="0" lang="en-US" sz="1800">
                <a:solidFill>
                  <a:srgbClr val="333333"/>
                </a:solidFill>
              </a:rPr>
              <a:t>= e</a:t>
            </a:r>
            <a:r>
              <a:rPr b="0" baseline="30000" i="0" lang="en-US" sz="1800">
                <a:solidFill>
                  <a:srgbClr val="333333"/>
                </a:solidFill>
              </a:rPr>
              <a:t>-6</a:t>
            </a:r>
            <a:r>
              <a:rPr b="0" i="0" lang="en-US" sz="1800">
                <a:solidFill>
                  <a:srgbClr val="333333"/>
                </a:solidFill>
              </a:rPr>
              <a:t> + e</a:t>
            </a:r>
            <a:r>
              <a:rPr b="0" baseline="30000" i="0" lang="en-US" sz="1800">
                <a:solidFill>
                  <a:srgbClr val="333333"/>
                </a:solidFill>
              </a:rPr>
              <a:t>-6 </a:t>
            </a:r>
            <a:r>
              <a:rPr b="0" i="0" lang="en-US" sz="1800">
                <a:solidFill>
                  <a:srgbClr val="333333"/>
                </a:solidFill>
              </a:rPr>
              <a:t>× 6</a:t>
            </a:r>
            <a:endParaRPr/>
          </a:p>
          <a:p>
            <a:pPr indent="-274320" lvl="0" marL="274320" rtl="0" algn="l">
              <a:spcBef>
                <a:spcPts val="360"/>
              </a:spcBef>
              <a:spcAft>
                <a:spcPts val="0"/>
              </a:spcAft>
              <a:buSzPts val="1710"/>
              <a:buChar char="⚫"/>
            </a:pPr>
            <a:r>
              <a:rPr b="0" i="0" lang="en-US" sz="1800">
                <a:solidFill>
                  <a:srgbClr val="333333"/>
                </a:solidFill>
              </a:rPr>
              <a:t>= 0.00247 + 0.0148</a:t>
            </a:r>
            <a:endParaRPr/>
          </a:p>
          <a:p>
            <a:pPr indent="-274320" lvl="0" marL="274320" rtl="0" algn="l">
              <a:spcBef>
                <a:spcPts val="360"/>
              </a:spcBef>
              <a:spcAft>
                <a:spcPts val="0"/>
              </a:spcAft>
              <a:buSzPts val="1710"/>
              <a:buChar char="⚫"/>
            </a:pPr>
            <a:r>
              <a:rPr b="0" i="0" lang="en-US" sz="1800">
                <a:solidFill>
                  <a:srgbClr val="333333"/>
                </a:solidFill>
              </a:rPr>
              <a:t>P(X &lt; 2) = 0.01727</a:t>
            </a:r>
            <a:endParaRPr/>
          </a:p>
          <a:p>
            <a:pPr indent="-274320" lvl="0" marL="274320" rtl="0" algn="l">
              <a:spcBef>
                <a:spcPts val="360"/>
              </a:spcBef>
              <a:spcAft>
                <a:spcPts val="0"/>
              </a:spcAft>
              <a:buSzPts val="1710"/>
              <a:buChar char="⚫"/>
            </a:pPr>
            <a:r>
              <a:rPr b="0" i="0" lang="en-US" sz="1800">
                <a:solidFill>
                  <a:srgbClr val="333333"/>
                </a:solidFill>
              </a:rPr>
              <a:t> </a:t>
            </a:r>
            <a:r>
              <a:rPr b="1" i="0" lang="en-US" sz="1800">
                <a:solidFill>
                  <a:srgbClr val="333333"/>
                </a:solidFill>
              </a:rPr>
              <a:t>Answer: The probability that less than 2 bulbs are defective is 0.01727</a:t>
            </a:r>
            <a:endParaRPr b="0" i="0" sz="1800">
              <a:solidFill>
                <a:srgbClr val="333333"/>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80"/>
          <p:cNvSpPr txBox="1"/>
          <p:nvPr>
            <p:ph type="title"/>
          </p:nvPr>
        </p:nvSpPr>
        <p:spPr>
          <a:xfrm>
            <a:off x="457199" y="97155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Continuous probability distributions</a:t>
            </a:r>
            <a:endParaRPr/>
          </a:p>
        </p:txBody>
      </p:sp>
      <p:sp>
        <p:nvSpPr>
          <p:cNvPr id="629" name="Google Shape;629;p80"/>
          <p:cNvSpPr txBox="1"/>
          <p:nvPr>
            <p:ph idx="1" type="body"/>
          </p:nvPr>
        </p:nvSpPr>
        <p:spPr>
          <a:xfrm>
            <a:off x="685330" y="2133600"/>
            <a:ext cx="7773339" cy="4038600"/>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900"/>
              <a:buChar char="⚫"/>
            </a:pPr>
            <a:r>
              <a:rPr b="0" i="0" lang="en-US" sz="2000">
                <a:solidFill>
                  <a:srgbClr val="222222"/>
                </a:solidFill>
              </a:rPr>
              <a:t>These distributions model the probabilities of random variables that can have any possible outcome, also real. </a:t>
            </a:r>
            <a:endParaRPr/>
          </a:p>
          <a:p>
            <a:pPr indent="-274320" lvl="0" marL="274320" rtl="0" algn="just">
              <a:spcBef>
                <a:spcPts val="400"/>
              </a:spcBef>
              <a:spcAft>
                <a:spcPts val="0"/>
              </a:spcAft>
              <a:buSzPts val="1900"/>
              <a:buChar char="⚫"/>
            </a:pPr>
            <a:r>
              <a:rPr b="0" i="0" lang="en-US" sz="2000">
                <a:solidFill>
                  <a:srgbClr val="222222"/>
                </a:solidFill>
              </a:rPr>
              <a:t>Two continuous probability distribution function are associated with such continuous random variables:</a:t>
            </a:r>
            <a:endParaRPr/>
          </a:p>
          <a:p>
            <a:pPr indent="-274320" lvl="0" marL="274320" rtl="0" algn="just">
              <a:spcBef>
                <a:spcPts val="400"/>
              </a:spcBef>
              <a:spcAft>
                <a:spcPts val="0"/>
              </a:spcAft>
              <a:buSzPts val="1900"/>
              <a:buChar char="⚫"/>
            </a:pPr>
            <a:r>
              <a:rPr lang="en-US" sz="2000">
                <a:solidFill>
                  <a:srgbClr val="333333"/>
                </a:solidFill>
              </a:rPr>
              <a:t>P</a:t>
            </a:r>
            <a:r>
              <a:rPr b="0" i="0" lang="en-US" sz="2000">
                <a:solidFill>
                  <a:srgbClr val="333333"/>
                </a:solidFill>
              </a:rPr>
              <a:t>robability Density Function (PDF)</a:t>
            </a:r>
            <a:endParaRPr/>
          </a:p>
          <a:p>
            <a:pPr indent="-274320" lvl="0" marL="274320" rtl="0" algn="just">
              <a:spcBef>
                <a:spcPts val="400"/>
              </a:spcBef>
              <a:spcAft>
                <a:spcPts val="0"/>
              </a:spcAft>
              <a:buSzPts val="1900"/>
              <a:buChar char="⚫"/>
            </a:pPr>
            <a:r>
              <a:rPr b="0" i="0" lang="en-US" sz="2000">
                <a:solidFill>
                  <a:srgbClr val="333333"/>
                </a:solidFill>
              </a:rPr>
              <a:t>Cumulative Density/</a:t>
            </a:r>
            <a:r>
              <a:rPr lang="en-US" sz="2000">
                <a:solidFill>
                  <a:srgbClr val="333333"/>
                </a:solidFill>
              </a:rPr>
              <a:t>D</a:t>
            </a:r>
            <a:r>
              <a:rPr b="0" i="0" lang="en-US" sz="2000">
                <a:solidFill>
                  <a:srgbClr val="333333"/>
                </a:solidFill>
              </a:rPr>
              <a:t>istribution Function(CDF)</a:t>
            </a:r>
            <a:endParaRPr b="0" i="0" sz="2000">
              <a:solidFill>
                <a:srgbClr val="222222"/>
              </a:solidFill>
            </a:endParaRPr>
          </a:p>
          <a:p>
            <a:pPr indent="-274320" lvl="0" marL="274320" rtl="0" algn="just">
              <a:spcBef>
                <a:spcPts val="400"/>
              </a:spcBef>
              <a:spcAft>
                <a:spcPts val="0"/>
              </a:spcAft>
              <a:buSzPts val="1900"/>
              <a:buChar char="⚫"/>
            </a:pPr>
            <a:r>
              <a:rPr b="0" i="0" lang="en-US" sz="2000">
                <a:solidFill>
                  <a:srgbClr val="222222"/>
                </a:solidFill>
              </a:rPr>
              <a:t>For example, the possible values for the random variable X that represents weights of citizens in a town which can have any value like 34.5, 47.7, etc.,</a:t>
            </a:r>
            <a:endParaRPr/>
          </a:p>
          <a:p>
            <a:pPr indent="-274320" lvl="0" marL="274320" rtl="0" algn="just">
              <a:spcBef>
                <a:spcPts val="400"/>
              </a:spcBef>
              <a:spcAft>
                <a:spcPts val="0"/>
              </a:spcAft>
              <a:buSzPts val="1900"/>
              <a:buChar char="⚫"/>
            </a:pPr>
            <a:r>
              <a:rPr b="1" i="0" lang="en-US" sz="2000">
                <a:solidFill>
                  <a:srgbClr val="222222"/>
                </a:solidFill>
              </a:rPr>
              <a:t>Examples: </a:t>
            </a:r>
            <a:r>
              <a:rPr b="0" i="0" lang="en-US" sz="2000">
                <a:solidFill>
                  <a:srgbClr val="222222"/>
                </a:solidFill>
              </a:rPr>
              <a:t>Normal, Student’s T, Chi-square, Exponential, etc.,</a:t>
            </a:r>
            <a:endParaRPr sz="20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1"/>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rgbClr val="222222"/>
              </a:buClr>
              <a:buSzPts val="5000"/>
              <a:buFont typeface="Lato"/>
              <a:buNone/>
            </a:pPr>
            <a:r>
              <a:rPr b="0" i="0" lang="en-US">
                <a:solidFill>
                  <a:srgbClr val="222222"/>
                </a:solidFill>
                <a:latin typeface="Lato"/>
                <a:ea typeface="Lato"/>
                <a:cs typeface="Lato"/>
                <a:sym typeface="Lato"/>
              </a:rPr>
              <a:t> </a:t>
            </a:r>
            <a:r>
              <a:rPr lang="en-US" sz="3600"/>
              <a:t>Probability Density function </a:t>
            </a:r>
            <a:endParaRPr/>
          </a:p>
        </p:txBody>
      </p:sp>
      <p:sp>
        <p:nvSpPr>
          <p:cNvPr id="635" name="Google Shape;635;p81"/>
          <p:cNvSpPr txBox="1"/>
          <p:nvPr>
            <p:ph idx="1" type="body"/>
          </p:nvPr>
        </p:nvSpPr>
        <p:spPr>
          <a:xfrm>
            <a:off x="457200" y="1935480"/>
            <a:ext cx="8229600" cy="20269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b="0" i="0" lang="en-US">
                <a:solidFill>
                  <a:srgbClr val="222222"/>
                </a:solidFill>
              </a:rPr>
              <a:t>Probability Density function (PDF) estimate the probability that  it lies within a particular range of values for any given outcome(continuous)  for continuous distributions.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2"/>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3600"/>
              <a:buFont typeface="Calibri"/>
              <a:buNone/>
            </a:pPr>
            <a:r>
              <a:rPr lang="en-US" sz="3600"/>
              <a:t>Cumulative Distribution Function</a:t>
            </a:r>
            <a:endParaRPr/>
          </a:p>
        </p:txBody>
      </p:sp>
      <p:sp>
        <p:nvSpPr>
          <p:cNvPr id="641" name="Google Shape;641;p82"/>
          <p:cNvSpPr txBox="1"/>
          <p:nvPr>
            <p:ph idx="1" type="body"/>
          </p:nvPr>
        </p:nvSpPr>
        <p:spPr>
          <a:xfrm>
            <a:off x="457200" y="1935480"/>
            <a:ext cx="8229600" cy="16459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0" i="0" lang="en-US">
                <a:solidFill>
                  <a:srgbClr val="3B3E39"/>
                </a:solidFill>
              </a:rPr>
              <a:t>The Cumulative Distribution Function of X, evaluated at x is the probability that X will take a value less than or equal to x.</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83"/>
          <p:cNvSpPr txBox="1"/>
          <p:nvPr>
            <p:ph type="title"/>
          </p:nvPr>
        </p:nvSpPr>
        <p:spPr>
          <a:xfrm>
            <a:off x="533400" y="731710"/>
            <a:ext cx="7773338" cy="9144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Continuous probability distributions</a:t>
            </a:r>
            <a:endParaRPr sz="4000"/>
          </a:p>
        </p:txBody>
      </p:sp>
      <p:sp>
        <p:nvSpPr>
          <p:cNvPr id="647" name="Google Shape;647;p83"/>
          <p:cNvSpPr txBox="1"/>
          <p:nvPr>
            <p:ph idx="1" type="body"/>
          </p:nvPr>
        </p:nvSpPr>
        <p:spPr>
          <a:xfrm>
            <a:off x="192493" y="1428619"/>
            <a:ext cx="8265707" cy="4321183"/>
          </a:xfrm>
          <a:prstGeom prst="rect">
            <a:avLst/>
          </a:prstGeom>
          <a:noFill/>
          <a:ln>
            <a:noFill/>
          </a:ln>
        </p:spPr>
        <p:txBody>
          <a:bodyPr anchorCtr="0" anchor="ctr" bIns="45700" lIns="91425" spcFirstLastPara="1" rIns="91425" wrap="square" tIns="45700">
            <a:spAutoFit/>
          </a:bodyPr>
          <a:lstStyle/>
          <a:p>
            <a:pPr indent="-274320" lvl="0" marL="274320" marR="0" rtl="0" algn="just">
              <a:lnSpc>
                <a:spcPct val="90000"/>
              </a:lnSpc>
              <a:spcBef>
                <a:spcPts val="0"/>
              </a:spcBef>
              <a:spcAft>
                <a:spcPts val="0"/>
              </a:spcAft>
              <a:buClr>
                <a:schemeClr val="accent3"/>
              </a:buClr>
              <a:buSzPts val="2280"/>
              <a:buFont typeface="Noto Sans Symbols"/>
              <a:buChar char="⚫"/>
            </a:pPr>
            <a:r>
              <a:rPr b="0" i="0" lang="en-US" sz="2400" u="none" cap="none" strike="noStrike">
                <a:solidFill>
                  <a:srgbClr val="222222"/>
                </a:solidFill>
                <a:latin typeface="Constantia"/>
                <a:ea typeface="Constantia"/>
                <a:cs typeface="Constantia"/>
                <a:sym typeface="Constantia"/>
              </a:rPr>
              <a:t>When working with continuous random variables, such as X, we only calculate the probability that X lie within a certain interval; </a:t>
            </a:r>
            <a:endParaRPr/>
          </a:p>
          <a:p>
            <a:pPr indent="-274320" lvl="0" marL="274320" marR="0" rtl="0" algn="just">
              <a:lnSpc>
                <a:spcPct val="90000"/>
              </a:lnSpc>
              <a:spcBef>
                <a:spcPts val="480"/>
              </a:spcBef>
              <a:spcAft>
                <a:spcPts val="0"/>
              </a:spcAft>
              <a:buClr>
                <a:schemeClr val="accent3"/>
              </a:buClr>
              <a:buSzPts val="2280"/>
              <a:buFont typeface="Noto Sans Symbols"/>
              <a:buChar char="⚫"/>
            </a:pPr>
            <a:r>
              <a:rPr b="0" i="0" lang="en-US" sz="2400" u="none" cap="none" strike="noStrike">
                <a:solidFill>
                  <a:srgbClr val="222222"/>
                </a:solidFill>
                <a:latin typeface="Constantia"/>
                <a:ea typeface="Constantia"/>
                <a:cs typeface="Constantia"/>
                <a:sym typeface="Constantia"/>
              </a:rPr>
              <a:t>like P(X≤k) or P(a≤X≤b).</a:t>
            </a:r>
            <a:endParaRPr/>
          </a:p>
          <a:p>
            <a:pPr indent="-274320" lvl="0" marL="274320" marR="0" rtl="0" algn="just">
              <a:lnSpc>
                <a:spcPct val="90000"/>
              </a:lnSpc>
              <a:spcBef>
                <a:spcPts val="480"/>
              </a:spcBef>
              <a:spcAft>
                <a:spcPts val="0"/>
              </a:spcAft>
              <a:buClr>
                <a:schemeClr val="accent3"/>
              </a:buClr>
              <a:buSzPts val="2280"/>
              <a:buFont typeface="Noto Sans Symbols"/>
              <a:buChar char="⚫"/>
            </a:pPr>
            <a:r>
              <a:rPr b="0" i="0" lang="en-US" sz="2400" u="none" cap="none" strike="noStrike">
                <a:solidFill>
                  <a:srgbClr val="222222"/>
                </a:solidFill>
                <a:latin typeface="Constantia"/>
                <a:ea typeface="Constantia"/>
                <a:cs typeface="Constantia"/>
                <a:sym typeface="Constantia"/>
              </a:rPr>
              <a:t>We don't calculate the probability of X being equal to a specific value k. </a:t>
            </a:r>
            <a:endParaRPr/>
          </a:p>
          <a:p>
            <a:pPr indent="-274320" lvl="0" marL="274320" marR="0" rtl="0" algn="just">
              <a:lnSpc>
                <a:spcPct val="90000"/>
              </a:lnSpc>
              <a:spcBef>
                <a:spcPts val="480"/>
              </a:spcBef>
              <a:spcAft>
                <a:spcPts val="0"/>
              </a:spcAft>
              <a:buClr>
                <a:schemeClr val="accent3"/>
              </a:buClr>
              <a:buSzPts val="2280"/>
              <a:buFont typeface="Noto Sans Symbols"/>
              <a:buChar char="⚫"/>
            </a:pPr>
            <a:r>
              <a:rPr b="0" i="0" lang="en-US" sz="2400" u="none" cap="none" strike="noStrike">
                <a:solidFill>
                  <a:srgbClr val="222222"/>
                </a:solidFill>
                <a:latin typeface="Constantia"/>
                <a:ea typeface="Constantia"/>
                <a:cs typeface="Constantia"/>
                <a:sym typeface="Constantia"/>
              </a:rPr>
              <a:t>In fact the result, P(X=k)=0  , will always be true:</a:t>
            </a:r>
            <a:endParaRPr/>
          </a:p>
          <a:p>
            <a:pPr indent="-274320" lvl="0" marL="274320" marR="0" rtl="0" algn="just">
              <a:lnSpc>
                <a:spcPct val="90000"/>
              </a:lnSpc>
              <a:spcBef>
                <a:spcPts val="480"/>
              </a:spcBef>
              <a:spcAft>
                <a:spcPts val="0"/>
              </a:spcAft>
              <a:buClr>
                <a:schemeClr val="accent3"/>
              </a:buClr>
              <a:buSzPts val="2280"/>
              <a:buFont typeface="Noto Sans Symbols"/>
              <a:buChar char="⚫"/>
            </a:pPr>
            <a:r>
              <a:rPr b="0" i="0" lang="en-US" sz="2400" u="none" cap="none" strike="noStrike">
                <a:solidFill>
                  <a:srgbClr val="222222"/>
                </a:solidFill>
                <a:latin typeface="Constantia"/>
                <a:ea typeface="Constantia"/>
                <a:cs typeface="Constantia"/>
                <a:sym typeface="Constantia"/>
              </a:rPr>
              <a:t>This can be explained by the fact that the total number of possible values of a continuous random variable  X  is infinite, so the likelihood of any one single outcome tends towards 0.</a:t>
            </a:r>
            <a:endParaRPr/>
          </a:p>
          <a:p>
            <a:pPr indent="0" lvl="0" marL="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84"/>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Continuous probability distributions</a:t>
            </a:r>
            <a:endParaRPr sz="4400"/>
          </a:p>
        </p:txBody>
      </p:sp>
      <p:sp>
        <p:nvSpPr>
          <p:cNvPr id="653" name="Google Shape;653;p84"/>
          <p:cNvSpPr txBox="1"/>
          <p:nvPr>
            <p:ph idx="1" type="body"/>
          </p:nvPr>
        </p:nvSpPr>
        <p:spPr>
          <a:xfrm>
            <a:off x="457200" y="1935480"/>
            <a:ext cx="8229600" cy="4389120"/>
          </a:xfrm>
          <a:prstGeom prst="rect">
            <a:avLst/>
          </a:prstGeom>
          <a:blipFill rotWithShape="1">
            <a:blip r:embed="rId3">
              <a:alphaModFix/>
            </a:blip>
            <a:stretch>
              <a:fillRect b="0" l="-888" r="-1331" t="-2916"/>
            </a:stretch>
          </a:blip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85"/>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Normal Distribution</a:t>
            </a:r>
            <a:endParaRPr/>
          </a:p>
        </p:txBody>
      </p:sp>
      <p:sp>
        <p:nvSpPr>
          <p:cNvPr id="659" name="Google Shape;659;p8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2470"/>
              <a:buChar char="⚫"/>
            </a:pPr>
            <a:r>
              <a:rPr b="0" i="0" lang="en-US">
                <a:solidFill>
                  <a:srgbClr val="222222"/>
                </a:solidFill>
              </a:rPr>
              <a:t>It has two parameters namely mean and standard deviation.</a:t>
            </a:r>
            <a:endParaRPr/>
          </a:p>
          <a:p>
            <a:pPr indent="-274320" lvl="0" marL="274320" rtl="0" algn="just">
              <a:spcBef>
                <a:spcPts val="520"/>
              </a:spcBef>
              <a:spcAft>
                <a:spcPts val="0"/>
              </a:spcAft>
              <a:buSzPts val="2470"/>
              <a:buChar char="⚫"/>
            </a:pPr>
            <a:r>
              <a:rPr b="0" i="0" lang="en-US">
                <a:solidFill>
                  <a:srgbClr val="222222"/>
                </a:solidFill>
              </a:rPr>
              <a:t>The mean has the highest probability and all other values are distributed equally on either side of the mean in a symmetric fashion. </a:t>
            </a:r>
            <a:endParaRPr/>
          </a:p>
          <a:p>
            <a:pPr indent="-274320" lvl="0" marL="274320" rtl="0" algn="just">
              <a:spcBef>
                <a:spcPts val="520"/>
              </a:spcBef>
              <a:spcAft>
                <a:spcPts val="0"/>
              </a:spcAft>
              <a:buSzPts val="2470"/>
              <a:buChar char="⚫"/>
            </a:pPr>
            <a:r>
              <a:rPr b="0" i="0" lang="en-US">
                <a:solidFill>
                  <a:srgbClr val="222222"/>
                </a:solidFill>
              </a:rPr>
              <a:t>The standard normal distribution is a special case where the mean is 0 and the standard deviation of 1.</a:t>
            </a:r>
            <a:endParaRPr/>
          </a:p>
          <a:p>
            <a:pPr indent="-274320" lvl="0" marL="274320" rtl="0" algn="just">
              <a:spcBef>
                <a:spcPts val="520"/>
              </a:spcBef>
              <a:spcAft>
                <a:spcPts val="0"/>
              </a:spcAft>
              <a:buSzPts val="2470"/>
              <a:buChar char="⚫"/>
            </a:pPr>
            <a:r>
              <a:rPr b="0" i="0" lang="en-US">
                <a:solidFill>
                  <a:srgbClr val="222222"/>
                </a:solidFill>
              </a:rPr>
              <a:t>68% of the values are 1 standard deviation away, 95% percent of them are 2 standard deviations away, 99.7% are 3 standard deviations away from mean. </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86"/>
          <p:cNvSpPr txBox="1"/>
          <p:nvPr>
            <p:ph type="title"/>
          </p:nvPr>
        </p:nvSpPr>
        <p:spPr>
          <a:xfrm>
            <a:off x="490537" y="4572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Normal Distribution</a:t>
            </a:r>
            <a:endParaRPr/>
          </a:p>
        </p:txBody>
      </p:sp>
      <p:sp>
        <p:nvSpPr>
          <p:cNvPr id="665" name="Google Shape;665;p86"/>
          <p:cNvSpPr txBox="1"/>
          <p:nvPr>
            <p:ph idx="1" type="body"/>
          </p:nvPr>
        </p:nvSpPr>
        <p:spPr>
          <a:xfrm>
            <a:off x="457199" y="1752600"/>
            <a:ext cx="8229600" cy="487680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just">
              <a:spcBef>
                <a:spcPts val="0"/>
              </a:spcBef>
              <a:spcAft>
                <a:spcPts val="0"/>
              </a:spcAft>
              <a:buSzPct val="95000"/>
              <a:buChar char="⚫"/>
            </a:pPr>
            <a:r>
              <a:rPr lang="en-US"/>
              <a:t>The standard normal distribution is one of the forms of the normal distribution. It occurs when a normal random variable has a mean equal to zero and a standard deviation equal to one. In other words, a normal distribution with a mean 0 and standard deviation of 1 is called the standard normal distribution. Also, the standard normal distribution is centred at zero, and the standard deviation gives the degree to which a given measurement deviates from the mean.</a:t>
            </a:r>
            <a:endParaRPr/>
          </a:p>
          <a:p>
            <a:pPr indent="-141001" lvl="0" marL="274320" rtl="0" algn="just">
              <a:spcBef>
                <a:spcPts val="442"/>
              </a:spcBef>
              <a:spcAft>
                <a:spcPts val="0"/>
              </a:spcAft>
              <a:buSzPct val="95000"/>
              <a:buNone/>
            </a:pPr>
            <a:r>
              <a:t/>
            </a:r>
            <a:endParaRPr/>
          </a:p>
          <a:p>
            <a:pPr indent="-274320" lvl="0" marL="274320" rtl="0" algn="just">
              <a:spcBef>
                <a:spcPts val="442"/>
              </a:spcBef>
              <a:spcAft>
                <a:spcPts val="0"/>
              </a:spcAft>
              <a:buSzPct val="95000"/>
              <a:buChar char="⚫"/>
            </a:pPr>
            <a:r>
              <a:rPr lang="en-US"/>
              <a:t>A Z score represents how many standard deviations an observation is away from the mean. The mean of the standard normal distribution is 0. Z scores above the mean are positive and Z scores below the mean are negative.</a:t>
            </a:r>
            <a:endParaRPr/>
          </a:p>
          <a:p>
            <a:pPr indent="-141001" lvl="0" marL="274320" rtl="0" algn="just">
              <a:spcBef>
                <a:spcPts val="442"/>
              </a:spcBef>
              <a:spcAft>
                <a:spcPts val="0"/>
              </a:spcAft>
              <a:buSzPct val="95000"/>
              <a:buNone/>
            </a:pPr>
            <a:r>
              <a:t/>
            </a:r>
            <a:endParaRPr/>
          </a:p>
          <a:p>
            <a:pPr indent="-274320" lvl="0" marL="274320" rtl="0" algn="just">
              <a:spcBef>
                <a:spcPts val="442"/>
              </a:spcBef>
              <a:spcAft>
                <a:spcPts val="0"/>
              </a:spcAft>
              <a:buSzPct val="95000"/>
              <a:buChar char="⚫"/>
            </a:pPr>
            <a:r>
              <a:rPr lang="en-US"/>
              <a:t>Once you have computed a Z-score, you can look up the probability in a table for the standard normal distribution</a:t>
            </a:r>
            <a:endParaRPr/>
          </a:p>
          <a:p>
            <a:pPr indent="-141001" lvl="0" marL="274320" rtl="0" algn="l">
              <a:spcBef>
                <a:spcPts val="442"/>
              </a:spcBef>
              <a:spcAft>
                <a:spcPts val="0"/>
              </a:spcAft>
              <a:buSzPct val="95000"/>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87"/>
          <p:cNvSpPr txBox="1"/>
          <p:nvPr>
            <p:ph type="title"/>
          </p:nvPr>
        </p:nvSpPr>
        <p:spPr>
          <a:xfrm>
            <a:off x="457200" y="704088"/>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Standard Normal Distribution</a:t>
            </a:r>
            <a:endParaRPr/>
          </a:p>
        </p:txBody>
      </p:sp>
      <p:sp>
        <p:nvSpPr>
          <p:cNvPr id="671" name="Google Shape;671;p8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900"/>
              <a:buChar char="⚫"/>
            </a:pPr>
            <a:r>
              <a:rPr lang="en-US" sz="2000"/>
              <a:t>The random variable of a standard normal distribution is known as the standard score or a z-score. It is possible to transform every normal random variable X into a z score using the following formula:</a:t>
            </a:r>
            <a:endParaRPr/>
          </a:p>
          <a:p>
            <a:pPr indent="-274320" lvl="0" marL="274320" rtl="0" algn="just">
              <a:spcBef>
                <a:spcPts val="400"/>
              </a:spcBef>
              <a:spcAft>
                <a:spcPts val="0"/>
              </a:spcAft>
              <a:buSzPts val="1900"/>
              <a:buChar char="⚫"/>
            </a:pPr>
            <a:r>
              <a:rPr b="1" lang="en-US" sz="2000"/>
              <a:t>z = (X – μ) / σ</a:t>
            </a:r>
            <a:endParaRPr/>
          </a:p>
          <a:p>
            <a:pPr indent="-274320" lvl="0" marL="274320" rtl="0" algn="just">
              <a:spcBef>
                <a:spcPts val="400"/>
              </a:spcBef>
              <a:spcAft>
                <a:spcPts val="0"/>
              </a:spcAft>
              <a:buSzPts val="1900"/>
              <a:buChar char="⚫"/>
            </a:pPr>
            <a:r>
              <a:rPr lang="en-US" sz="2000"/>
              <a:t>where X is a normal random variable, μ is the mean of X, and σ is the standard deviation of X. You can also find the normal distribution formula here. In probability theory, the normal or Gaussian distribution is a very common continuous probability distribution.</a:t>
            </a:r>
            <a:endParaRPr/>
          </a:p>
          <a:p>
            <a:pPr indent="-274320" lvl="0" marL="274320" rtl="0" algn="just">
              <a:spcBef>
                <a:spcPts val="400"/>
              </a:spcBef>
              <a:spcAft>
                <a:spcPts val="0"/>
              </a:spcAft>
              <a:buSzPts val="1900"/>
              <a:buChar char="⚫"/>
            </a:pPr>
            <a:r>
              <a:rPr lang="en-US" sz="2000"/>
              <a:t>Standardizing a normal distribution When you standardize a normal distribution, the mean becomes 0 and the standard deviation becomes</a:t>
            </a:r>
            <a:endParaRPr/>
          </a:p>
          <a:p>
            <a:pPr indent="-274320" lvl="0" marL="274320" rtl="0" algn="just">
              <a:spcBef>
                <a:spcPts val="400"/>
              </a:spcBef>
              <a:spcAft>
                <a:spcPts val="0"/>
              </a:spcAft>
              <a:buSzPts val="1900"/>
              <a:buChar char="⚫"/>
            </a:pPr>
            <a:r>
              <a:rPr b="1" lang="en-US" sz="2000"/>
              <a:t>This allows you to easily calculate the probability of certain values occurring in your distribution, or to compare data sets with different means and standard deviations.</a:t>
            </a:r>
            <a:endParaRPr/>
          </a:p>
          <a:p>
            <a:pPr indent="-153670" lvl="0" marL="274320" rtl="0" algn="just">
              <a:spcBef>
                <a:spcPts val="400"/>
              </a:spcBef>
              <a:spcAft>
                <a:spcPts val="0"/>
              </a:spcAft>
              <a:buSzPts val="1900"/>
              <a:buNone/>
            </a:pPr>
            <a:r>
              <a:t/>
            </a:r>
            <a:endParaRPr sz="2000"/>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8"/>
          <p:cNvSpPr txBox="1"/>
          <p:nvPr>
            <p:ph type="title"/>
          </p:nvPr>
        </p:nvSpPr>
        <p:spPr>
          <a:xfrm>
            <a:off x="530352" y="298966"/>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Normal Distribution</a:t>
            </a:r>
            <a:endParaRPr/>
          </a:p>
        </p:txBody>
      </p:sp>
      <p:sp>
        <p:nvSpPr>
          <p:cNvPr id="677" name="Google Shape;677;p8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0" i="0" lang="en-US">
                <a:solidFill>
                  <a:srgbClr val="222222"/>
                </a:solidFill>
                <a:latin typeface="Lato"/>
                <a:ea typeface="Lato"/>
                <a:cs typeface="Lato"/>
                <a:sym typeface="Lato"/>
              </a:rPr>
              <a:t>The PDF is given by,</a:t>
            </a:r>
            <a:endParaRPr/>
          </a:p>
        </p:txBody>
      </p:sp>
      <p:pic>
        <p:nvPicPr>
          <p:cNvPr id="678" name="Google Shape;678;p88"/>
          <p:cNvPicPr preferRelativeResize="0"/>
          <p:nvPr/>
        </p:nvPicPr>
        <p:blipFill rotWithShape="1">
          <a:blip r:embed="rId3">
            <a:alphaModFix/>
          </a:blip>
          <a:srcRect b="0" l="0" r="0" t="0"/>
          <a:stretch/>
        </p:blipFill>
        <p:spPr>
          <a:xfrm>
            <a:off x="3962400" y="1527048"/>
            <a:ext cx="4267200" cy="1214573"/>
          </a:xfrm>
          <a:prstGeom prst="rect">
            <a:avLst/>
          </a:prstGeom>
          <a:noFill/>
          <a:ln>
            <a:noFill/>
          </a:ln>
        </p:spPr>
      </p:pic>
      <p:sp>
        <p:nvSpPr>
          <p:cNvPr id="679" name="Google Shape;679;p88"/>
          <p:cNvSpPr txBox="1"/>
          <p:nvPr/>
        </p:nvSpPr>
        <p:spPr>
          <a:xfrm>
            <a:off x="454152" y="2911785"/>
            <a:ext cx="83820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222222"/>
                </a:solidFill>
                <a:latin typeface="Lato"/>
                <a:ea typeface="Lato"/>
                <a:cs typeface="Lato"/>
                <a:sym typeface="Lato"/>
              </a:rPr>
              <a:t>where μ is the mean of the random variable X and σ is the standard deviation.</a:t>
            </a:r>
            <a:endParaRPr sz="1800">
              <a:solidFill>
                <a:schemeClr val="dk1"/>
              </a:solidFill>
              <a:latin typeface="Constantia"/>
              <a:ea typeface="Constantia"/>
              <a:cs typeface="Constantia"/>
              <a:sym typeface="Constantia"/>
            </a:endParaRPr>
          </a:p>
        </p:txBody>
      </p:sp>
      <p:pic>
        <p:nvPicPr>
          <p:cNvPr id="680" name="Google Shape;680;p88"/>
          <p:cNvPicPr preferRelativeResize="0"/>
          <p:nvPr/>
        </p:nvPicPr>
        <p:blipFill rotWithShape="1">
          <a:blip r:embed="rId4">
            <a:alphaModFix/>
          </a:blip>
          <a:srcRect b="0" l="0" r="0" t="0"/>
          <a:stretch/>
        </p:blipFill>
        <p:spPr>
          <a:xfrm>
            <a:off x="1219200" y="3323504"/>
            <a:ext cx="6705600" cy="339524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id="685" name="Google Shape;685;p89"/>
          <p:cNvPicPr preferRelativeResize="0"/>
          <p:nvPr>
            <p:ph idx="1" type="body"/>
          </p:nvPr>
        </p:nvPicPr>
        <p:blipFill rotWithShape="1">
          <a:blip r:embed="rId3">
            <a:alphaModFix/>
          </a:blip>
          <a:srcRect b="0" l="0" r="0" t="0"/>
          <a:stretch/>
        </p:blipFill>
        <p:spPr>
          <a:xfrm>
            <a:off x="990600" y="451460"/>
            <a:ext cx="5442707" cy="2772612"/>
          </a:xfrm>
          <a:prstGeom prst="rect">
            <a:avLst/>
          </a:prstGeom>
          <a:noFill/>
          <a:ln>
            <a:noFill/>
          </a:ln>
        </p:spPr>
      </p:pic>
      <p:pic>
        <p:nvPicPr>
          <p:cNvPr id="686" name="Google Shape;686;p89"/>
          <p:cNvPicPr preferRelativeResize="0"/>
          <p:nvPr/>
        </p:nvPicPr>
        <p:blipFill rotWithShape="1">
          <a:blip r:embed="rId4">
            <a:alphaModFix/>
          </a:blip>
          <a:srcRect b="0" l="0" r="0" t="0"/>
          <a:stretch/>
        </p:blipFill>
        <p:spPr>
          <a:xfrm>
            <a:off x="919346" y="3429000"/>
            <a:ext cx="5666361" cy="32004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9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id="692" name="Google Shape;692;p90"/>
          <p:cNvPicPr preferRelativeResize="0"/>
          <p:nvPr>
            <p:ph idx="1" type="body"/>
          </p:nvPr>
        </p:nvPicPr>
        <p:blipFill rotWithShape="1">
          <a:blip r:embed="rId3">
            <a:alphaModFix/>
          </a:blip>
          <a:srcRect b="0" l="0" r="0" t="0"/>
          <a:stretch/>
        </p:blipFill>
        <p:spPr>
          <a:xfrm>
            <a:off x="457200" y="2094100"/>
            <a:ext cx="8229600" cy="4071562"/>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id="698" name="Google Shape;698;p91"/>
          <p:cNvPicPr preferRelativeResize="0"/>
          <p:nvPr>
            <p:ph idx="1" type="body"/>
          </p:nvPr>
        </p:nvPicPr>
        <p:blipFill rotWithShape="1">
          <a:blip r:embed="rId3">
            <a:alphaModFix/>
          </a:blip>
          <a:srcRect b="0" l="0" r="0" t="0"/>
          <a:stretch/>
        </p:blipFill>
        <p:spPr>
          <a:xfrm>
            <a:off x="457200" y="2086671"/>
            <a:ext cx="8229600" cy="408642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9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id="704" name="Google Shape;704;p92"/>
          <p:cNvPicPr preferRelativeResize="0"/>
          <p:nvPr>
            <p:ph idx="1" type="body"/>
          </p:nvPr>
        </p:nvPicPr>
        <p:blipFill rotWithShape="1">
          <a:blip r:embed="rId3">
            <a:alphaModFix/>
          </a:blip>
          <a:srcRect b="0" l="0" r="0" t="0"/>
          <a:stretch/>
        </p:blipFill>
        <p:spPr>
          <a:xfrm>
            <a:off x="457200" y="2135371"/>
            <a:ext cx="8229600" cy="398902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Z table</a:t>
            </a:r>
            <a:endParaRPr/>
          </a:p>
        </p:txBody>
      </p:sp>
      <p:pic>
        <p:nvPicPr>
          <p:cNvPr id="710" name="Google Shape;710;p93"/>
          <p:cNvPicPr preferRelativeResize="0"/>
          <p:nvPr>
            <p:ph idx="1" type="body"/>
          </p:nvPr>
        </p:nvPicPr>
        <p:blipFill rotWithShape="1">
          <a:blip r:embed="rId3">
            <a:alphaModFix/>
          </a:blip>
          <a:srcRect b="0" l="0" r="0" t="0"/>
          <a:stretch/>
        </p:blipFill>
        <p:spPr>
          <a:xfrm>
            <a:off x="838200" y="1935163"/>
            <a:ext cx="6553199" cy="489945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9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Z table</a:t>
            </a:r>
            <a:endParaRPr/>
          </a:p>
        </p:txBody>
      </p:sp>
      <p:pic>
        <p:nvPicPr>
          <p:cNvPr id="716" name="Google Shape;716;p94"/>
          <p:cNvPicPr preferRelativeResize="0"/>
          <p:nvPr>
            <p:ph idx="1" type="body"/>
          </p:nvPr>
        </p:nvPicPr>
        <p:blipFill rotWithShape="1">
          <a:blip r:embed="rId3">
            <a:alphaModFix/>
          </a:blip>
          <a:srcRect b="0" l="0" r="0" t="0"/>
          <a:stretch/>
        </p:blipFill>
        <p:spPr>
          <a:xfrm>
            <a:off x="1426207" y="1847088"/>
            <a:ext cx="6291586" cy="479604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id="722" name="Google Shape;722;p95"/>
          <p:cNvPicPr preferRelativeResize="0"/>
          <p:nvPr>
            <p:ph idx="1" type="body"/>
          </p:nvPr>
        </p:nvPicPr>
        <p:blipFill rotWithShape="1">
          <a:blip r:embed="rId3">
            <a:alphaModFix/>
          </a:blip>
          <a:srcRect b="0" l="0" r="0" t="0"/>
          <a:stretch/>
        </p:blipFill>
        <p:spPr>
          <a:xfrm>
            <a:off x="457200" y="1945162"/>
            <a:ext cx="8229600" cy="4369438"/>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9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a:t>
            </a:r>
            <a:endParaRPr/>
          </a:p>
        </p:txBody>
      </p:sp>
      <p:pic>
        <p:nvPicPr>
          <p:cNvPr id="728" name="Google Shape;728;p96"/>
          <p:cNvPicPr preferRelativeResize="0"/>
          <p:nvPr>
            <p:ph idx="1" type="body"/>
          </p:nvPr>
        </p:nvPicPr>
        <p:blipFill rotWithShape="1">
          <a:blip r:embed="rId3">
            <a:alphaModFix/>
          </a:blip>
          <a:srcRect b="0" l="0" r="0" t="0"/>
          <a:stretch/>
        </p:blipFill>
        <p:spPr>
          <a:xfrm>
            <a:off x="457200" y="2138849"/>
            <a:ext cx="8229600" cy="398206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Example2</a:t>
            </a:r>
            <a:endParaRPr/>
          </a:p>
        </p:txBody>
      </p:sp>
      <p:pic>
        <p:nvPicPr>
          <p:cNvPr id="734" name="Google Shape;734;p97"/>
          <p:cNvPicPr preferRelativeResize="0"/>
          <p:nvPr>
            <p:ph idx="1" type="body"/>
          </p:nvPr>
        </p:nvPicPr>
        <p:blipFill rotWithShape="1">
          <a:blip r:embed="rId3">
            <a:alphaModFix/>
          </a:blip>
          <a:srcRect b="0" l="0" r="0" t="0"/>
          <a:stretch/>
        </p:blipFill>
        <p:spPr>
          <a:xfrm>
            <a:off x="457200" y="1998030"/>
            <a:ext cx="8229600" cy="4263703"/>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Example2</a:t>
            </a:r>
            <a:endParaRPr/>
          </a:p>
        </p:txBody>
      </p:sp>
      <p:pic>
        <p:nvPicPr>
          <p:cNvPr id="740" name="Google Shape;740;p98"/>
          <p:cNvPicPr preferRelativeResize="0"/>
          <p:nvPr>
            <p:ph idx="1" type="body"/>
          </p:nvPr>
        </p:nvPicPr>
        <p:blipFill rotWithShape="1">
          <a:blip r:embed="rId3">
            <a:alphaModFix/>
          </a:blip>
          <a:srcRect b="0" l="0" r="0" t="0"/>
          <a:stretch/>
        </p:blipFill>
        <p:spPr>
          <a:xfrm>
            <a:off x="497128" y="1935163"/>
            <a:ext cx="8149744" cy="4389437"/>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9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Example2</a:t>
            </a:r>
            <a:endParaRPr/>
          </a:p>
        </p:txBody>
      </p:sp>
      <p:pic>
        <p:nvPicPr>
          <p:cNvPr id="746" name="Google Shape;746;p99"/>
          <p:cNvPicPr preferRelativeResize="0"/>
          <p:nvPr>
            <p:ph idx="1" type="body"/>
          </p:nvPr>
        </p:nvPicPr>
        <p:blipFill rotWithShape="1">
          <a:blip r:embed="rId3">
            <a:alphaModFix/>
          </a:blip>
          <a:srcRect b="0" l="0" r="0" t="0"/>
          <a:stretch/>
        </p:blipFill>
        <p:spPr>
          <a:xfrm>
            <a:off x="457200" y="2054371"/>
            <a:ext cx="8229600" cy="4151021"/>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00"/>
          <p:cNvSpPr txBox="1"/>
          <p:nvPr>
            <p:ph type="title"/>
          </p:nvPr>
        </p:nvSpPr>
        <p:spPr>
          <a:xfrm>
            <a:off x="457200" y="60960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Exponential Distribution</a:t>
            </a:r>
            <a:endParaRPr sz="6000"/>
          </a:p>
        </p:txBody>
      </p:sp>
      <p:sp>
        <p:nvSpPr>
          <p:cNvPr id="752" name="Google Shape;752;p100"/>
          <p:cNvSpPr txBox="1"/>
          <p:nvPr>
            <p:ph idx="1" type="body"/>
          </p:nvPr>
        </p:nvSpPr>
        <p:spPr>
          <a:xfrm>
            <a:off x="457200" y="175260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2470"/>
              <a:buChar char="⚫"/>
            </a:pPr>
            <a:r>
              <a:rPr lang="en-US">
                <a:solidFill>
                  <a:srgbClr val="222222"/>
                </a:solidFill>
              </a:rPr>
              <a:t>To predict the amount of waiting time until the next event in a Poisson process (i.e., success, failure, arrival, etc.).</a:t>
            </a:r>
            <a:endParaRPr/>
          </a:p>
          <a:p>
            <a:pPr indent="-274320" lvl="0" marL="274320" rtl="0" algn="just">
              <a:spcBef>
                <a:spcPts val="520"/>
              </a:spcBef>
              <a:spcAft>
                <a:spcPts val="0"/>
              </a:spcAft>
              <a:buSzPts val="2470"/>
              <a:buChar char="⚫"/>
            </a:pPr>
            <a:r>
              <a:rPr lang="en-US">
                <a:solidFill>
                  <a:srgbClr val="222222"/>
                </a:solidFill>
              </a:rPr>
              <a:t>For example, we want to predict the following:</a:t>
            </a:r>
            <a:endParaRPr/>
          </a:p>
          <a:p>
            <a:pPr indent="-274320" lvl="0" marL="274320" rtl="0" algn="just">
              <a:spcBef>
                <a:spcPts val="520"/>
              </a:spcBef>
              <a:spcAft>
                <a:spcPts val="0"/>
              </a:spcAft>
              <a:buSzPts val="2470"/>
              <a:buFont typeface="Arial"/>
              <a:buChar char="•"/>
            </a:pPr>
            <a:r>
              <a:rPr lang="en-US">
                <a:solidFill>
                  <a:srgbClr val="222222"/>
                </a:solidFill>
              </a:rPr>
              <a:t>The amount of time until the customer finishes browsing and actually purchases something in your store (success).</a:t>
            </a:r>
            <a:endParaRPr/>
          </a:p>
          <a:p>
            <a:pPr indent="-274320" lvl="0" marL="274320" rtl="0" algn="just">
              <a:spcBef>
                <a:spcPts val="520"/>
              </a:spcBef>
              <a:spcAft>
                <a:spcPts val="0"/>
              </a:spcAft>
              <a:buSzPts val="2470"/>
              <a:buFont typeface="Arial"/>
              <a:buChar char="•"/>
            </a:pPr>
            <a:r>
              <a:rPr lang="en-US">
                <a:solidFill>
                  <a:srgbClr val="222222"/>
                </a:solidFill>
              </a:rPr>
              <a:t>The amount of time until the hardware on AWS EC2 fails (failure).</a:t>
            </a:r>
            <a:endParaRPr/>
          </a:p>
          <a:p>
            <a:pPr indent="-274320" lvl="0" marL="274320" rtl="0" algn="just">
              <a:spcBef>
                <a:spcPts val="520"/>
              </a:spcBef>
              <a:spcAft>
                <a:spcPts val="0"/>
              </a:spcAft>
              <a:buSzPts val="2470"/>
              <a:buFont typeface="Arial"/>
              <a:buChar char="•"/>
            </a:pPr>
            <a:r>
              <a:rPr lang="en-US">
                <a:solidFill>
                  <a:srgbClr val="222222"/>
                </a:solidFill>
              </a:rPr>
              <a:t>The amount of time you need to wait until the bus arrives (arrival).</a:t>
            </a:r>
            <a:endParaRPr/>
          </a:p>
          <a:p>
            <a:pPr indent="-117475" lvl="0" marL="274320" rtl="0" algn="just">
              <a:spcBef>
                <a:spcPts val="520"/>
              </a:spcBef>
              <a:spcAft>
                <a:spcPts val="0"/>
              </a:spcAft>
              <a:buSzPts val="2470"/>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101"/>
          <p:cNvSpPr txBox="1"/>
          <p:nvPr>
            <p:ph type="title"/>
          </p:nvPr>
        </p:nvSpPr>
        <p:spPr>
          <a:xfrm>
            <a:off x="685332" y="228600"/>
            <a:ext cx="7773338" cy="947737"/>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000"/>
              <a:buFont typeface="Calibri"/>
              <a:buNone/>
            </a:pPr>
            <a:r>
              <a:rPr lang="en-US" sz="4000"/>
              <a:t>Exponential Distribution</a:t>
            </a:r>
            <a:endParaRPr sz="6000"/>
          </a:p>
        </p:txBody>
      </p:sp>
      <p:sp>
        <p:nvSpPr>
          <p:cNvPr id="758" name="Google Shape;758;p101"/>
          <p:cNvSpPr txBox="1"/>
          <p:nvPr/>
        </p:nvSpPr>
        <p:spPr>
          <a:xfrm>
            <a:off x="304801" y="2303011"/>
            <a:ext cx="8534400"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a:solidFill>
                  <a:srgbClr val="222222"/>
                </a:solidFill>
                <a:latin typeface="Constantia"/>
                <a:ea typeface="Constantia"/>
                <a:cs typeface="Constantia"/>
                <a:sym typeface="Constantia"/>
              </a:rPr>
              <a:t>where λ is the rate parameter. λ = 1/(average time between events) = </a:t>
            </a:r>
            <a:r>
              <a:rPr lang="en-US" sz="2000">
                <a:solidFill>
                  <a:srgbClr val="000000"/>
                </a:solidFill>
                <a:latin typeface="Constantia"/>
                <a:ea typeface="Constantia"/>
                <a:cs typeface="Constantia"/>
                <a:sym typeface="Constantia"/>
              </a:rPr>
              <a:t>1</a:t>
            </a:r>
            <a:r>
              <a:rPr b="0" i="0" lang="en-US" sz="2000">
                <a:solidFill>
                  <a:srgbClr val="000000"/>
                </a:solidFill>
                <a:latin typeface="Constantia"/>
                <a:ea typeface="Constantia"/>
                <a:cs typeface="Constantia"/>
                <a:sym typeface="Constantia"/>
              </a:rPr>
              <a:t>/μ</a:t>
            </a:r>
            <a:r>
              <a:rPr b="0" i="0" lang="en-US" sz="2000">
                <a:solidFill>
                  <a:srgbClr val="222222"/>
                </a:solidFill>
                <a:latin typeface="Constantia"/>
                <a:ea typeface="Constantia"/>
                <a:cs typeface="Constantia"/>
                <a:sym typeface="Constantia"/>
              </a:rPr>
              <a:t> </a:t>
            </a:r>
            <a:endParaRPr/>
          </a:p>
          <a:p>
            <a:pPr indent="0" lvl="0" marL="0" marR="0" rtl="0" algn="l">
              <a:spcBef>
                <a:spcPts val="0"/>
              </a:spcBef>
              <a:spcAft>
                <a:spcPts val="0"/>
              </a:spcAft>
              <a:buNone/>
            </a:pPr>
            <a:r>
              <a:rPr lang="en-US" sz="2000">
                <a:solidFill>
                  <a:srgbClr val="222222"/>
                </a:solidFill>
                <a:latin typeface="Constantia"/>
                <a:ea typeface="Constantia"/>
                <a:cs typeface="Constantia"/>
                <a:sym typeface="Constantia"/>
              </a:rPr>
              <a:t>and</a:t>
            </a:r>
            <a:r>
              <a:rPr b="0" i="0" lang="en-US" sz="2000">
                <a:solidFill>
                  <a:srgbClr val="222222"/>
                </a:solidFill>
                <a:latin typeface="Constantia"/>
                <a:ea typeface="Constantia"/>
                <a:cs typeface="Constantia"/>
                <a:sym typeface="Constantia"/>
              </a:rPr>
              <a:t> </a:t>
            </a:r>
            <a:r>
              <a:rPr lang="en-US" sz="2000">
                <a:solidFill>
                  <a:schemeClr val="dk1"/>
                </a:solidFill>
                <a:latin typeface="Constantia"/>
                <a:ea typeface="Constantia"/>
                <a:cs typeface="Constantia"/>
                <a:sym typeface="Constantia"/>
              </a:rPr>
              <a:t>e=2.71828</a:t>
            </a:r>
            <a:endParaRPr/>
          </a:p>
          <a:p>
            <a:pPr indent="0" lvl="0" marL="0" marR="0" rtl="0" algn="l">
              <a:spcBef>
                <a:spcPts val="0"/>
              </a:spcBef>
              <a:spcAft>
                <a:spcPts val="0"/>
              </a:spcAft>
              <a:buNone/>
            </a:pPr>
            <a:r>
              <a:rPr b="0" i="0" lang="en-US" sz="2000">
                <a:solidFill>
                  <a:srgbClr val="333333"/>
                </a:solidFill>
                <a:latin typeface="Constantia"/>
                <a:ea typeface="Constantia"/>
                <a:cs typeface="Constantia"/>
                <a:sym typeface="Constantia"/>
              </a:rPr>
              <a:t>The mean of the exponential distribution is 1/λ.</a:t>
            </a:r>
            <a:endParaRPr/>
          </a:p>
          <a:p>
            <a:pPr indent="0" lvl="0" marL="0" marR="0" rtl="0" algn="l">
              <a:spcBef>
                <a:spcPts val="0"/>
              </a:spcBef>
              <a:spcAft>
                <a:spcPts val="0"/>
              </a:spcAft>
              <a:buNone/>
            </a:pPr>
            <a:r>
              <a:rPr b="0" i="0" lang="en-US" sz="2000">
                <a:solidFill>
                  <a:srgbClr val="333333"/>
                </a:solidFill>
                <a:latin typeface="Constantia"/>
                <a:ea typeface="Constantia"/>
                <a:cs typeface="Constantia"/>
                <a:sym typeface="Constantia"/>
              </a:rPr>
              <a:t>And the variance of the exponential distribution is 1/λ</a:t>
            </a:r>
            <a:r>
              <a:rPr b="0" baseline="30000" i="0" lang="en-US" sz="2000">
                <a:solidFill>
                  <a:srgbClr val="333333"/>
                </a:solidFill>
                <a:latin typeface="Constantia"/>
                <a:ea typeface="Constantia"/>
                <a:cs typeface="Constantia"/>
                <a:sym typeface="Constantia"/>
              </a:rPr>
              <a:t>2</a:t>
            </a:r>
            <a:r>
              <a:rPr b="0" i="0" lang="en-US" sz="2000">
                <a:solidFill>
                  <a:srgbClr val="333333"/>
                </a:solidFill>
                <a:latin typeface="Constantia"/>
                <a:ea typeface="Constantia"/>
                <a:cs typeface="Constantia"/>
                <a:sym typeface="Constantia"/>
              </a:rPr>
              <a:t>.</a:t>
            </a:r>
            <a:endParaRPr sz="2000">
              <a:solidFill>
                <a:schemeClr val="dk1"/>
              </a:solidFill>
              <a:latin typeface="Constantia"/>
              <a:ea typeface="Constantia"/>
              <a:cs typeface="Constantia"/>
              <a:sym typeface="Constantia"/>
            </a:endParaRPr>
          </a:p>
        </p:txBody>
      </p:sp>
      <p:pic>
        <p:nvPicPr>
          <p:cNvPr id="759" name="Google Shape;759;p101"/>
          <p:cNvPicPr preferRelativeResize="0"/>
          <p:nvPr/>
        </p:nvPicPr>
        <p:blipFill rotWithShape="1">
          <a:blip r:embed="rId3">
            <a:alphaModFix/>
          </a:blip>
          <a:srcRect b="0" l="0" r="0" t="0"/>
          <a:stretch/>
        </p:blipFill>
        <p:spPr>
          <a:xfrm>
            <a:off x="4332258" y="3848923"/>
            <a:ext cx="4503894" cy="2893693"/>
          </a:xfrm>
          <a:prstGeom prst="rect">
            <a:avLst/>
          </a:prstGeom>
          <a:noFill/>
          <a:ln>
            <a:noFill/>
          </a:ln>
        </p:spPr>
      </p:pic>
      <p:pic>
        <p:nvPicPr>
          <p:cNvPr descr="A screenshot of a computer&#10;&#10;Description automatically generated with medium confidence" id="760" name="Google Shape;760;p101"/>
          <p:cNvPicPr preferRelativeResize="0"/>
          <p:nvPr/>
        </p:nvPicPr>
        <p:blipFill rotWithShape="1">
          <a:blip r:embed="rId4">
            <a:alphaModFix/>
          </a:blip>
          <a:srcRect b="40303" l="15336" r="68714" t="52732"/>
          <a:stretch/>
        </p:blipFill>
        <p:spPr>
          <a:xfrm>
            <a:off x="4038600" y="1318538"/>
            <a:ext cx="3104882" cy="762000"/>
          </a:xfrm>
          <a:prstGeom prst="rect">
            <a:avLst/>
          </a:prstGeom>
          <a:noFill/>
          <a:ln>
            <a:noFill/>
          </a:ln>
        </p:spPr>
      </p:pic>
      <p:pic>
        <p:nvPicPr>
          <p:cNvPr id="761" name="Google Shape;761;p101"/>
          <p:cNvPicPr preferRelativeResize="0"/>
          <p:nvPr/>
        </p:nvPicPr>
        <p:blipFill rotWithShape="1">
          <a:blip r:embed="rId5">
            <a:alphaModFix/>
          </a:blip>
          <a:srcRect b="0" l="0" r="0" t="0"/>
          <a:stretch/>
        </p:blipFill>
        <p:spPr>
          <a:xfrm>
            <a:off x="685332" y="1185862"/>
            <a:ext cx="2667000" cy="101973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02"/>
          <p:cNvSpPr txBox="1"/>
          <p:nvPr>
            <p:ph type="title"/>
          </p:nvPr>
        </p:nvSpPr>
        <p:spPr>
          <a:xfrm>
            <a:off x="609600" y="381000"/>
            <a:ext cx="7773338" cy="9906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Exponential</a:t>
            </a:r>
            <a:r>
              <a:rPr lang="en-US" sz="3600"/>
              <a:t> </a:t>
            </a:r>
            <a:r>
              <a:rPr lang="en-US" sz="4400"/>
              <a:t>Distribution</a:t>
            </a:r>
            <a:endParaRPr/>
          </a:p>
        </p:txBody>
      </p:sp>
      <p:sp>
        <p:nvSpPr>
          <p:cNvPr id="767" name="Google Shape;767;p102"/>
          <p:cNvSpPr txBox="1"/>
          <p:nvPr>
            <p:ph idx="1" type="body"/>
          </p:nvPr>
        </p:nvSpPr>
        <p:spPr>
          <a:xfrm>
            <a:off x="301752" y="1527048"/>
            <a:ext cx="8689848" cy="4572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b="0" i="0" lang="en-US" sz="2400">
                <a:solidFill>
                  <a:srgbClr val="000000"/>
                </a:solidFill>
              </a:rPr>
              <a:t>For example, suppose the mean number of minutes between eruptions for a certain geyser is 40 minutes. If a geyser just erupts, what is the probability that we’ll have to wait less than 50 minutes for the next eruption?</a:t>
            </a:r>
            <a:endParaRPr/>
          </a:p>
          <a:p>
            <a:pPr indent="-129540" lvl="0" marL="274320" rtl="0" algn="l">
              <a:spcBef>
                <a:spcPts val="480"/>
              </a:spcBef>
              <a:spcAft>
                <a:spcPts val="0"/>
              </a:spcAft>
              <a:buSzPts val="2280"/>
              <a:buNone/>
            </a:pPr>
            <a:r>
              <a:t/>
            </a:r>
            <a:endParaRPr b="0" i="0" sz="2400">
              <a:solidFill>
                <a:srgbClr val="3D3D3D"/>
              </a:solidFill>
            </a:endParaRPr>
          </a:p>
          <a:p>
            <a:pPr indent="-274320" lvl="0" marL="274320" rtl="0" algn="l">
              <a:spcBef>
                <a:spcPts val="480"/>
              </a:spcBef>
              <a:spcAft>
                <a:spcPts val="0"/>
              </a:spcAft>
              <a:buSzPts val="2280"/>
              <a:buChar char="⚫"/>
            </a:pPr>
            <a:r>
              <a:rPr b="0" i="0" lang="en-US" sz="2400">
                <a:solidFill>
                  <a:srgbClr val="000000"/>
                </a:solidFill>
              </a:rPr>
              <a:t>To solve this, we need to calculate rate parameter:</a:t>
            </a:r>
            <a:endParaRPr b="0" i="0" sz="2400">
              <a:solidFill>
                <a:srgbClr val="3D3D3D"/>
              </a:solidFill>
            </a:endParaRPr>
          </a:p>
          <a:p>
            <a:pPr indent="-274320" lvl="0" marL="274320" rtl="0" algn="l">
              <a:spcBef>
                <a:spcPts val="480"/>
              </a:spcBef>
              <a:spcAft>
                <a:spcPts val="0"/>
              </a:spcAft>
              <a:buSzPts val="2280"/>
              <a:buChar char="⚫"/>
            </a:pPr>
            <a:r>
              <a:rPr b="0" i="0" lang="en-US" sz="2400">
                <a:solidFill>
                  <a:srgbClr val="000000"/>
                </a:solidFill>
              </a:rPr>
              <a:t>λ = 1/μ</a:t>
            </a:r>
            <a:r>
              <a:rPr lang="en-US" sz="2400">
                <a:solidFill>
                  <a:srgbClr val="3D3D3D"/>
                </a:solidFill>
              </a:rPr>
              <a:t> =&gt; </a:t>
            </a:r>
            <a:r>
              <a:rPr b="0" i="0" lang="en-US" sz="2400">
                <a:solidFill>
                  <a:srgbClr val="000000"/>
                </a:solidFill>
              </a:rPr>
              <a:t>λ = 1/40</a:t>
            </a:r>
            <a:r>
              <a:rPr lang="en-US" sz="2400">
                <a:solidFill>
                  <a:srgbClr val="3D3D3D"/>
                </a:solidFill>
              </a:rPr>
              <a:t> =&gt; </a:t>
            </a:r>
            <a:r>
              <a:rPr b="0" i="0" lang="en-US" sz="2400">
                <a:solidFill>
                  <a:srgbClr val="000000"/>
                </a:solidFill>
              </a:rPr>
              <a:t>λ = .025</a:t>
            </a:r>
            <a:endParaRPr/>
          </a:p>
          <a:p>
            <a:pPr indent="-274320" lvl="0" marL="274320" rtl="0" algn="l">
              <a:spcBef>
                <a:spcPts val="480"/>
              </a:spcBef>
              <a:spcAft>
                <a:spcPts val="0"/>
              </a:spcAft>
              <a:buSzPts val="2280"/>
              <a:buChar char="⚫"/>
            </a:pPr>
            <a:r>
              <a:rPr b="0" i="0" lang="en-US" sz="2400">
                <a:solidFill>
                  <a:srgbClr val="000000"/>
                </a:solidFill>
              </a:rPr>
              <a:t>plug in λ = .025 and x = 50 to the formula for the CDF:</a:t>
            </a:r>
            <a:endParaRPr b="0" i="0" sz="2400">
              <a:solidFill>
                <a:srgbClr val="3D3D3D"/>
              </a:solidFill>
            </a:endParaRPr>
          </a:p>
          <a:p>
            <a:pPr indent="-274320" lvl="0" marL="274320" rtl="0" algn="l">
              <a:spcBef>
                <a:spcPts val="480"/>
              </a:spcBef>
              <a:spcAft>
                <a:spcPts val="0"/>
              </a:spcAft>
              <a:buSzPts val="2280"/>
              <a:buChar char="⚫"/>
            </a:pPr>
            <a:r>
              <a:rPr b="0" i="0" lang="en-US" sz="2400">
                <a:solidFill>
                  <a:srgbClr val="000000"/>
                </a:solidFill>
              </a:rPr>
              <a:t>P(X ≤ x) = 1 – e</a:t>
            </a:r>
            <a:r>
              <a:rPr b="0" baseline="30000" i="0" lang="en-US" sz="2400">
                <a:solidFill>
                  <a:srgbClr val="000000"/>
                </a:solidFill>
              </a:rPr>
              <a:t>-λx =&gt; </a:t>
            </a:r>
            <a:r>
              <a:rPr b="0" i="0" lang="en-US" sz="2400">
                <a:solidFill>
                  <a:srgbClr val="000000"/>
                </a:solidFill>
              </a:rPr>
              <a:t>P(X ≤ 50) = 1 – e</a:t>
            </a:r>
            <a:r>
              <a:rPr b="0" baseline="30000" i="0" lang="en-US" sz="2400">
                <a:solidFill>
                  <a:srgbClr val="000000"/>
                </a:solidFill>
              </a:rPr>
              <a:t>-.025(50)</a:t>
            </a:r>
            <a:endParaRPr b="0" i="0" sz="2400">
              <a:solidFill>
                <a:srgbClr val="3D3D3D"/>
              </a:solidFill>
            </a:endParaRPr>
          </a:p>
          <a:p>
            <a:pPr indent="-274320" lvl="0" marL="274320" rtl="0" algn="l">
              <a:spcBef>
                <a:spcPts val="480"/>
              </a:spcBef>
              <a:spcAft>
                <a:spcPts val="0"/>
              </a:spcAft>
              <a:buSzPts val="2280"/>
              <a:buChar char="⚫"/>
            </a:pPr>
            <a:r>
              <a:rPr b="0" i="0" lang="en-US" sz="2400">
                <a:solidFill>
                  <a:srgbClr val="000000"/>
                </a:solidFill>
              </a:rPr>
              <a:t>P(X ≤ 50) = 0.7135</a:t>
            </a:r>
            <a:endParaRPr/>
          </a:p>
          <a:p>
            <a:pPr indent="-129540" lvl="0" marL="274320" rtl="0" algn="l">
              <a:spcBef>
                <a:spcPts val="480"/>
              </a:spcBef>
              <a:spcAft>
                <a:spcPts val="0"/>
              </a:spcAft>
              <a:buSzPts val="2280"/>
              <a:buFont typeface="Arial"/>
              <a:buNone/>
            </a:pPr>
            <a:r>
              <a:t/>
            </a:r>
            <a:endParaRPr b="0" i="0" sz="2400">
              <a:solidFill>
                <a:srgbClr val="3D3D3D"/>
              </a:solidFill>
            </a:endParaRPr>
          </a:p>
          <a:p>
            <a:pPr indent="-129540" lvl="0" marL="274320" rtl="0" algn="l">
              <a:spcBef>
                <a:spcPts val="480"/>
              </a:spcBef>
              <a:spcAft>
                <a:spcPts val="0"/>
              </a:spcAft>
              <a:buSzPts val="2280"/>
              <a:buNone/>
            </a:pPr>
            <a:r>
              <a:t/>
            </a:r>
            <a:endParaRPr sz="2400"/>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3"/>
          <p:cNvSpPr txBox="1"/>
          <p:nvPr>
            <p:ph type="title"/>
          </p:nvPr>
        </p:nvSpPr>
        <p:spPr>
          <a:xfrm>
            <a:off x="428625" y="373380"/>
            <a:ext cx="8229600" cy="1143000"/>
          </a:xfrm>
          <a:prstGeom prst="rect">
            <a:avLst/>
          </a:prstGeom>
          <a:noFill/>
          <a:ln>
            <a:noFill/>
          </a:ln>
        </p:spPr>
        <p:txBody>
          <a:bodyPr anchorCtr="0" anchor="t"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Exponential Distribution</a:t>
            </a:r>
            <a:endParaRPr sz="6000"/>
          </a:p>
        </p:txBody>
      </p:sp>
      <p:sp>
        <p:nvSpPr>
          <p:cNvPr id="773" name="Google Shape;773;p103"/>
          <p:cNvSpPr txBox="1"/>
          <p:nvPr>
            <p:ph idx="1" type="body"/>
          </p:nvPr>
        </p:nvSpPr>
        <p:spPr>
          <a:xfrm>
            <a:off x="428625" y="1554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90"/>
              <a:buChar char="⚫"/>
            </a:pPr>
            <a:r>
              <a:rPr b="0" i="0" lang="en-US" sz="2200">
                <a:solidFill>
                  <a:srgbClr val="333333"/>
                </a:solidFill>
              </a:rPr>
              <a:t>Assume that you usually get 2 phone calls per hour. calculate the probability, that a phone call will come within the next hour.</a:t>
            </a:r>
            <a:endParaRPr/>
          </a:p>
          <a:p>
            <a:pPr indent="-274320" lvl="0" marL="274320" rtl="0" algn="l">
              <a:spcBef>
                <a:spcPts val="440"/>
              </a:spcBef>
              <a:spcAft>
                <a:spcPts val="0"/>
              </a:spcAft>
              <a:buSzPts val="2090"/>
              <a:buChar char="⚫"/>
            </a:pPr>
            <a:r>
              <a:rPr b="1" i="0" lang="en-US" sz="2200">
                <a:solidFill>
                  <a:srgbClr val="333333"/>
                </a:solidFill>
              </a:rPr>
              <a:t>Solution:</a:t>
            </a:r>
            <a:endParaRPr b="0" i="0" sz="2200">
              <a:solidFill>
                <a:srgbClr val="333333"/>
              </a:solidFill>
            </a:endParaRPr>
          </a:p>
          <a:p>
            <a:pPr indent="-274320" lvl="0" marL="274320" rtl="0" algn="l">
              <a:spcBef>
                <a:spcPts val="440"/>
              </a:spcBef>
              <a:spcAft>
                <a:spcPts val="0"/>
              </a:spcAft>
              <a:buSzPts val="2090"/>
              <a:buChar char="⚫"/>
            </a:pPr>
            <a:r>
              <a:rPr b="0" i="0" lang="en-US" sz="2200">
                <a:solidFill>
                  <a:srgbClr val="333333"/>
                </a:solidFill>
              </a:rPr>
              <a:t>It is given that, 2 phone calls per hour. </a:t>
            </a:r>
            <a:endParaRPr/>
          </a:p>
          <a:p>
            <a:pPr indent="-274320" lvl="0" marL="274320" rtl="0" algn="l">
              <a:spcBef>
                <a:spcPts val="440"/>
              </a:spcBef>
              <a:spcAft>
                <a:spcPts val="0"/>
              </a:spcAft>
              <a:buSzPts val="2090"/>
              <a:buChar char="⚫"/>
            </a:pPr>
            <a:r>
              <a:rPr b="0" i="0" lang="en-US" sz="2200">
                <a:solidFill>
                  <a:srgbClr val="333333"/>
                </a:solidFill>
              </a:rPr>
              <a:t>So, it would expect that one phone call at every half-an-hour. </a:t>
            </a:r>
            <a:endParaRPr/>
          </a:p>
          <a:p>
            <a:pPr indent="-274320" lvl="0" marL="274320" rtl="0" algn="l">
              <a:spcBef>
                <a:spcPts val="440"/>
              </a:spcBef>
              <a:spcAft>
                <a:spcPts val="0"/>
              </a:spcAft>
              <a:buSzPts val="2090"/>
              <a:buChar char="⚫"/>
            </a:pPr>
            <a:r>
              <a:rPr b="0" i="0" lang="en-US" sz="2200">
                <a:solidFill>
                  <a:srgbClr val="333333"/>
                </a:solidFill>
              </a:rPr>
              <a:t>So, we can take λ = 0.5</a:t>
            </a:r>
            <a:endParaRPr/>
          </a:p>
          <a:p>
            <a:pPr indent="-274320" lvl="0" marL="274320" rtl="0" algn="l">
              <a:spcBef>
                <a:spcPts val="440"/>
              </a:spcBef>
              <a:spcAft>
                <a:spcPts val="0"/>
              </a:spcAft>
              <a:buSzPts val="2090"/>
              <a:buChar char="⚫"/>
            </a:pPr>
            <a:r>
              <a:rPr b="0" i="0" lang="en-US" sz="2200">
                <a:solidFill>
                  <a:srgbClr val="333333"/>
                </a:solidFill>
              </a:rPr>
              <a:t>So, the computation is as follows:</a:t>
            </a:r>
            <a:endParaRPr/>
          </a:p>
          <a:p>
            <a:pPr indent="-274320" lvl="0" marL="274320" rtl="0" algn="l">
              <a:spcBef>
                <a:spcPts val="440"/>
              </a:spcBef>
              <a:spcAft>
                <a:spcPts val="0"/>
              </a:spcAft>
              <a:buSzPts val="2090"/>
              <a:buChar char="⚫"/>
            </a:pPr>
            <a:r>
              <a:rPr b="0" i="0" lang="en-US" sz="2200">
                <a:solidFill>
                  <a:srgbClr val="333333"/>
                </a:solidFill>
              </a:rPr>
              <a:t>                                           =   0.393469</a:t>
            </a:r>
            <a:endParaRPr b="0" i="0" sz="2200">
              <a:solidFill>
                <a:srgbClr val="333333"/>
              </a:solidFill>
            </a:endParaRPr>
          </a:p>
          <a:p>
            <a:pPr indent="-274320" lvl="0" marL="274320" rtl="0" algn="l">
              <a:spcBef>
                <a:spcPts val="440"/>
              </a:spcBef>
              <a:spcAft>
                <a:spcPts val="0"/>
              </a:spcAft>
              <a:buSzPts val="2090"/>
              <a:buChar char="⚫"/>
            </a:pPr>
            <a:r>
              <a:rPr b="0" i="0" lang="en-US" sz="2200">
                <a:solidFill>
                  <a:srgbClr val="333333"/>
                </a:solidFill>
              </a:rPr>
              <a:t>Therefore, the probability of arriving the phone calls within the next hour is  0.393469</a:t>
            </a:r>
            <a:endParaRPr/>
          </a:p>
          <a:p>
            <a:pPr indent="-117475" lvl="0" marL="274320" rtl="0" algn="l">
              <a:spcBef>
                <a:spcPts val="520"/>
              </a:spcBef>
              <a:spcAft>
                <a:spcPts val="0"/>
              </a:spcAft>
              <a:buSzPts val="2470"/>
              <a:buNone/>
            </a:pPr>
            <a:r>
              <a:t/>
            </a:r>
            <a:endParaRPr/>
          </a:p>
        </p:txBody>
      </p:sp>
      <p:pic>
        <p:nvPicPr>
          <p:cNvPr descr="Graphical user interface, application&#10;&#10;Description automatically generated" id="774" name="Google Shape;774;p103"/>
          <p:cNvPicPr preferRelativeResize="0"/>
          <p:nvPr/>
        </p:nvPicPr>
        <p:blipFill rotWithShape="1">
          <a:blip r:embed="rId3">
            <a:alphaModFix/>
          </a:blip>
          <a:srcRect b="37869" l="14923" r="68714" t="58783"/>
          <a:stretch/>
        </p:blipFill>
        <p:spPr>
          <a:xfrm>
            <a:off x="581175" y="4668050"/>
            <a:ext cx="3310700" cy="380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2016-07-12T18:21:21Z</dcterms:created>
  <dc:creator>gcet</dc:creator>
</cp:coreProperties>
</file>